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16x9"/>
  <p:notesSz cx="6858000" cy="9144000"/>
  <p:defaultTextStyle>
    <a:defPPr>
      <a:defRPr lang="en"/>
    </a:defPPr>
    <a:lvl1pPr marL="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wuzhen_waterways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" smtClean="0"/>
              <a:t>1/27/13</a:t>
            </a:fld>
            <a:endParaRPr lang="e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" smtClean="0"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wuzhen_waterways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e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" smtClean="0"/>
              <a:t>1/27/13</a:t>
            </a:fld>
            <a:endParaRPr lang="e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e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e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" smtClean="0"/>
              <a:t>‹#›</a:t>
            </a:fld>
            <a:endParaRPr lang="e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e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e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e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e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"/>
      </a:defPPr>
      <a:lvl1pPr marL="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415c46ae9577a44.jp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2f2f806c5383e2ec.jpg"/>
  <Relationship Id="rId3" Type="http://schemas.openxmlformats.org/officeDocument/2006/relationships/image" Target="../media/image_df3bf098d3be46a6.jpg"/>
  <Relationship Id="rId4" Type="http://schemas.openxmlformats.org/officeDocument/2006/relationships/image" Target="../media/image_aab4a56c9eb99b05.jpg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c188974a0676f9e.jpg"/>
  <Relationship Id="rId3" Type="http://schemas.openxmlformats.org/officeDocument/2006/relationships/image" Target="../media/image_aab4a56c9eb99b05.jpg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22f53ef31a7fa91.jpg"/>
  <Relationship Id="rId3" Type="http://schemas.openxmlformats.org/officeDocument/2006/relationships/image" Target="../media/image_ea82d876492a0c97.jpg"/>
  <Relationship Id="rId4" Type="http://schemas.openxmlformats.org/officeDocument/2006/relationships/image" Target="../media/image_179b983c1241f990.jpg"/>
  <Relationship Id="rId5" Type="http://schemas.openxmlformats.org/officeDocument/2006/relationships/image" Target="../media/image_c42edc58c1d25072.jpg"/>
  <Relationship Id="rId6" Type="http://schemas.openxmlformats.org/officeDocument/2006/relationships/image" Target="../media/image_6d97a759357ccfcf.jpg"/>
  <Relationship Id="rId7" Type="http://schemas.openxmlformats.org/officeDocument/2006/relationships/image" Target="../media/image_59c2b2158d58e363.jpg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/>
          <p:cNvPicPr>
            <a:picLocks noChangeAspect="1"/>
          </p:cNvPicPr>
          <p:nvPr/>
        </p:nvPicPr>
        <p:blipFill>
          <a:blip r:embed="rId2"/>
          <a:srcRect l="12963" t="0" r="12963" b="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85000"/>
                </a:srgbClr>
              </a:gs>
            </a:gsLst>
            <a:lin ang="5400000" scaled="1"/>
          </a:gradFill>
          <a:ln>
            <a:noFill/>
          </a:ln>
        </p:spPr>
      </p:sp>
      <p:grpSp>
        <p:nvGrpSpPr>
          <p:cNvPr id="11" name="hero"/>
          <p:cNvGrpSpPr/>
          <p:nvPr/>
        </p:nvGrpSpPr>
        <p:grpSpPr>
          <a:xfrm>
            <a:off x="666750" y="914400"/>
            <a:ext cx="7753350" cy="2835720"/>
            <a:chOff x="666750" y="914400"/>
            <a:chExt cx="7753350" cy="2835720"/>
          </a:xfrm>
        </p:grpSpPr>
        <p:sp>
          <p:nvSpPr>
            <p:cNvPr id="4" name="Rectangle 4"/>
            <p:cNvSpPr/>
            <p:nvPr/>
          </p:nvSpPr>
          <p:spPr>
            <a:xfrm>
              <a:off x="685800" y="914400"/>
              <a:ext cx="571500" cy="28575"/>
            </a:xfrm>
            <a:prstGeom prst="rect">
              <a:avLst/>
            </a:prstGeom>
            <a:solidFill>
              <a:srgbClr val="D9822B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81038" y="1257300"/>
              <a:ext cx="3724603" cy="183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b="1" spc="338" dirty="0">
                  <a:solidFill>
                    <a:srgbClr val="D9822B"/>
                  </a:solidFill>
                  <a:latin typeface="+mn-lt"/>
                  <a:ea typeface="+mn-ea"/>
                  <a:cs typeface="+mn-cs"/>
                </a:rPr>
                <a:t>A JIANGNAN WATER TOWN · 水乡乌镇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1231900"/>
              <a:ext cx="6202151" cy="1704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850" b="1" spc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WUZHEN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15518" y="2559050"/>
              <a:ext cx="22124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spc="825" dirty="0">
                  <a:solidFill>
                    <a:srgbClr val="FFFFFF">
                      <a:alphaMod val="90000"/>
                    </a:srgbClr>
                  </a:solidFill>
                  <a:latin typeface="+mn-lt"/>
                  <a:ea typeface="+mn-ea"/>
                  <a:cs typeface="+mn-cs"/>
                </a:rPr>
                <a:t>水 道 与 桥 梁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2990850"/>
              <a:ext cx="7734300" cy="14288"/>
            </a:xfrm>
            <a:prstGeom prst="rect">
              <a:avLst/>
            </a:prstGeom>
            <a:gradFill>
              <a:gsLst>
                <a:gs pos="0">
                  <a:srgbClr val="D9822B">
                    <a:alpha val="15000"/>
                  </a:srgbClr>
                </a:gs>
                <a:gs pos="60000">
                  <a:srgbClr val="D9822B">
                    <a:alpha val="90000"/>
                  </a:srgbClr>
                </a:gs>
                <a:gs pos="100000">
                  <a:srgbClr val="D9822B">
                    <a:alpha val="15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5132" y="3136900"/>
              <a:ext cx="28891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spc="60" dirty="0">
                  <a:solidFill>
                    <a:srgbClr val="FFFFFF">
                      <a:alphaMod val="95000"/>
                    </a:srgbClr>
                  </a:solidFill>
                  <a:latin typeface="+mn-lt"/>
                  <a:ea typeface="+mn-ea"/>
                  <a:cs typeface="+mn-cs"/>
                </a:rPr>
                <a:t>Waterways &amp; Bridges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80276" y="3536950"/>
              <a:ext cx="5649806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90" spc="90" dirty="0">
                  <a:solidFill>
                    <a:srgbClr val="FFFFFF">
                      <a:alphaMod val="70000"/>
                    </a:srgbClr>
                  </a:solidFill>
                  <a:latin typeface="+mn-lt"/>
                  <a:ea typeface="+mn-ea"/>
                  <a:cs typeface="+mn-cs"/>
                </a:rPr>
                <a:t>An English PBL project on why water is the main line of the ancient town.</a:t>
              </a:r>
            </a:p>
          </p:txBody>
        </p:sp>
      </p:grpSp>
      <p:grpSp>
        <p:nvGrpSpPr>
          <p:cNvPr id="17" name="question-card"/>
          <p:cNvGrpSpPr/>
          <p:nvPr/>
        </p:nvGrpSpPr>
        <p:grpSpPr>
          <a:xfrm>
            <a:off x="685800" y="4362450"/>
            <a:ext cx="7658100" cy="1676400"/>
            <a:chOff x="685800" y="4362450"/>
            <a:chExt cx="7658100" cy="1676400"/>
          </a:xfrm>
        </p:grpSpPr>
        <p:sp>
          <p:nvSpPr>
            <p:cNvPr id="12" name="Rectangle 12"/>
            <p:cNvSpPr/>
            <p:nvPr/>
          </p:nvSpPr>
          <p:spPr>
            <a:xfrm>
              <a:off x="685800" y="4362450"/>
              <a:ext cx="7658100" cy="1676400"/>
            </a:xfrm>
            <a:prstGeom prst="rect">
              <a:avLst/>
            </a:prstGeom>
            <a:solidFill>
              <a:srgbClr val="FFFFFF">
                <a:alpha val="5000"/>
              </a:srgbClr>
            </a:solidFill>
            <a:ln w="9525">
              <a:solidFill>
                <a:srgbClr val="FFFFFF">
                  <a:alpha val="32000"/>
                </a:srgbClr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85800" y="4362450"/>
              <a:ext cx="28575" cy="1676400"/>
            </a:xfrm>
            <a:prstGeom prst="rect">
              <a:avLst/>
            </a:prstGeom>
            <a:solidFill>
              <a:srgbClr val="D9822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8688" y="4527550"/>
              <a:ext cx="1287246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90" b="1" spc="262" dirty="0">
                  <a:solidFill>
                    <a:srgbClr val="D9822B"/>
                  </a:solidFill>
                  <a:latin typeface="+mn-lt"/>
                  <a:ea typeface="+mn-ea"/>
                  <a:cs typeface="+mn-cs"/>
                </a:rPr>
                <a:t>OUR QUESTION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23544" y="4711700"/>
              <a:ext cx="3116130" cy="743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e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Why is water the main line</a:t>
              </a:r>
              <a:br>
                <a:rPr lang="e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e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of the ancient town?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28497" y="5657850"/>
              <a:ext cx="15930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FFFFF">
                      <a:alphaMod val="60000"/>
                    </a:srgbClr>
                  </a:solidFill>
                  <a:latin typeface="+mn-lt"/>
                  <a:ea typeface="+mn-ea"/>
                  <a:cs typeface="+mn-cs"/>
                </a:rPr>
                <a:t>水，为什么是古镇的主线？</a:t>
              </a:r>
            </a:p>
          </p:txBody>
        </p:sp>
      </p:grpSp>
      <p:grpSp>
        <p:nvGrpSpPr>
          <p:cNvPr id="20" name="footer"/>
          <p:cNvGrpSpPr/>
          <p:nvPr/>
        </p:nvGrpSpPr>
        <p:grpSpPr>
          <a:xfrm>
            <a:off x="681038" y="6242050"/>
            <a:ext cx="4348547" cy="352425"/>
            <a:chOff x="681038" y="6242050"/>
            <a:chExt cx="4348547" cy="352425"/>
          </a:xfrm>
        </p:grpSpPr>
        <p:sp>
          <p:nvSpPr>
            <p:cNvPr id="18" name="TextBox 18"/>
            <p:cNvSpPr txBox="1"/>
            <p:nvPr/>
          </p:nvSpPr>
          <p:spPr>
            <a:xfrm>
              <a:off x="681038" y="6242050"/>
              <a:ext cx="426996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spc="225" dirty="0">
                  <a:solidFill>
                    <a:srgbClr val="FFFFFF">
                      <a:alphaMod val="55000"/>
                    </a:srgbClr>
                  </a:solidFill>
                  <a:latin typeface="+mn-lt"/>
                  <a:ea typeface="+mn-ea"/>
                  <a:cs typeface="+mn-cs"/>
                </a:rPr>
                <a:t>907 GROUP · 90706 · SIX MEMBERS · FOUR WEEKS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81038" y="6432550"/>
              <a:ext cx="434854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spc="225" dirty="0">
                  <a:solidFill>
                    <a:srgbClr val="FFFFFF">
                      <a:alphaMod val="40000"/>
                    </a:srgbClr>
                  </a:solidFill>
                  <a:latin typeface="+mn-lt"/>
                  <a:ea typeface="+mn-ea"/>
                  <a:cs typeface="+mn-cs"/>
                </a:rPr>
                <a:t>120.49° E · 30.75° N · WUZHEN · ZHEJIANG · CHINA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672084" y="514350"/>
            <a:ext cx="6100157" cy="712216"/>
            <a:chOff x="672084" y="514350"/>
            <a:chExt cx="6100157" cy="712216"/>
          </a:xfrm>
        </p:grpSpPr>
        <p:sp>
          <p:nvSpPr>
            <p:cNvPr id="2" name="TextBox 2"/>
            <p:cNvSpPr txBox="1"/>
            <p:nvPr/>
          </p:nvSpPr>
          <p:spPr>
            <a:xfrm>
              <a:off x="681038" y="514350"/>
              <a:ext cx="30183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spc="375" dirty="0">
                  <a:solidFill>
                    <a:srgbClr val="D9822B"/>
                  </a:solidFill>
                  <a:latin typeface="+mn-lt"/>
                  <a:ea typeface="+mn-ea"/>
                  <a:cs typeface="+mn-cs"/>
                </a:rPr>
                <a:t>02 / 06 · VISUAL RESEARCH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698500"/>
              <a:ext cx="610015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700" b="1" spc="1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Photographs &amp; the six chapters</a:t>
              </a:r>
            </a:p>
          </p:txBody>
        </p:sp>
      </p:grpSp>
      <p:grpSp>
        <p:nvGrpSpPr>
          <p:cNvPr id="26" name="photos"/>
          <p:cNvGrpSpPr/>
          <p:nvPr/>
        </p:nvGrpSpPr>
        <p:grpSpPr>
          <a:xfrm>
            <a:off x="685800" y="1600200"/>
            <a:ext cx="3797881" cy="4705350"/>
            <a:chOff x="685800" y="1600200"/>
            <a:chExt cx="3797881" cy="4705350"/>
          </a:xfrm>
        </p:grpSpPr>
        <p:sp>
          <p:nvSpPr>
            <p:cNvPr id="5" name="Rectangle 5"/>
            <p:cNvSpPr/>
            <p:nvPr/>
          </p:nvSpPr>
          <p:spPr>
            <a:xfrm>
              <a:off x="685800" y="1600200"/>
              <a:ext cx="1676400" cy="1504950"/>
            </a:xfrm>
            <a:prstGeom prst="rect">
              <a:avLst/>
            </a:prstGeom>
            <a:solidFill>
              <a:srgbClr val="1A1C20"/>
            </a:solidFill>
            <a:ln w="9525">
              <a:solidFill>
                <a:srgbClr val="FFFFFF">
                  <a:alpha val="10000"/>
                </a:srgbClr>
              </a:solidFill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rcRect l="8228" t="0" r="8228" b="0"/>
            <a:stretch>
              <a:fillRect/>
            </a:stretch>
          </p:blipFill>
          <p:spPr>
            <a:xfrm>
              <a:off x="685800" y="1600200"/>
              <a:ext cx="1676400" cy="1504950"/>
            </a:xfrm>
            <a:prstGeom prst="rect">
              <a:avLst/>
            </a:prstGeom>
          </p:spPr>
        </p:pic>
        <p:sp>
          <p:nvSpPr>
            <p:cNvPr id="7" name="TextBox 7"/>
            <p:cNvSpPr txBox="1"/>
            <p:nvPr/>
          </p:nvSpPr>
          <p:spPr>
            <a:xfrm>
              <a:off x="2547938" y="1739900"/>
              <a:ext cx="125537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b="1" spc="225" dirty="0">
                  <a:solidFill>
                    <a:srgbClr val="D9822B"/>
                  </a:solidFill>
                  <a:latin typeface="+mn-lt"/>
                  <a:ea typeface="+mn-ea"/>
                  <a:cs typeface="+mn-cs"/>
                </a:rPr>
                <a:t>01 · THE CANAL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546985" y="201295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水道贯穿乌镇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47938" y="2286000"/>
              <a:ext cx="16765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>
                      <a:alphaMod val="60000"/>
                    </a:srgbClr>
                  </a:solidFill>
                  <a:latin typeface="+mn-lt"/>
                  <a:ea typeface="+mn-ea"/>
                  <a:cs typeface="+mn-cs"/>
                </a:rPr>
                <a:t>We noticed that the white walls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547938" y="2457450"/>
              <a:ext cx="157890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>
                      <a:alphaMod val="60000"/>
                    </a:srgbClr>
                  </a:solidFill>
                  <a:latin typeface="+mn-lt"/>
                  <a:ea typeface="+mn-ea"/>
                  <a:cs typeface="+mn-cs"/>
                </a:rPr>
                <a:t>and dark tiles of the buildings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547938" y="2628900"/>
              <a:ext cx="186181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>
                      <a:alphaMod val="60000"/>
                    </a:srgbClr>
                  </a:solidFill>
                  <a:latin typeface="+mn-lt"/>
                  <a:ea typeface="+mn-ea"/>
                  <a:cs typeface="+mn-cs"/>
                </a:rPr>
                <a:t>along the canal create a reflection.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85800" y="3200400"/>
              <a:ext cx="1676400" cy="1504950"/>
            </a:xfrm>
            <a:prstGeom prst="rect">
              <a:avLst/>
            </a:prstGeom>
            <a:solidFill>
              <a:srgbClr val="1A1C20"/>
            </a:solidFill>
            <a:ln w="9525">
              <a:solidFill>
                <a:srgbClr val="FFFFFF">
                  <a:alpha val="10000"/>
                </a:srgbClr>
              </a:solidFill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3"/>
            <a:srcRect l="8228" t="0" r="8228" b="0"/>
            <a:stretch>
              <a:fillRect/>
            </a:stretch>
          </p:blipFill>
          <p:spPr>
            <a:xfrm>
              <a:off x="685800" y="3200400"/>
              <a:ext cx="1676400" cy="150495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2547938" y="3340100"/>
              <a:ext cx="137635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b="1" spc="225" dirty="0">
                  <a:solidFill>
                    <a:srgbClr val="D9822B"/>
                  </a:solidFill>
                  <a:latin typeface="+mn-lt"/>
                  <a:ea typeface="+mn-ea"/>
                  <a:cs typeface="+mn-cs"/>
                </a:rPr>
                <a:t>02 · STONE ARCH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546985" y="361315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古桥连接两岸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547938" y="3886200"/>
              <a:ext cx="164318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>
                      <a:alphaMod val="60000"/>
                    </a:srgbClr>
                  </a:solidFill>
                  <a:latin typeface="+mn-lt"/>
                  <a:ea typeface="+mn-ea"/>
                  <a:cs typeface="+mn-cs"/>
                </a:rPr>
                <a:t>We saw that the stone bridges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47938" y="4057650"/>
              <a:ext cx="19357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>
                      <a:alphaMod val="60000"/>
                    </a:srgbClr>
                  </a:solidFill>
                  <a:latin typeface="+mn-lt"/>
                  <a:ea typeface="+mn-ea"/>
                  <a:cs typeface="+mn-cs"/>
                </a:rPr>
                <a:t>connect both sides of the waterway,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547938" y="4229100"/>
              <a:ext cx="180765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>
                      <a:alphaMod val="60000"/>
                    </a:srgbClr>
                  </a:solidFill>
                  <a:latin typeface="+mn-lt"/>
                  <a:ea typeface="+mn-ea"/>
                  <a:cs typeface="+mn-cs"/>
                </a:rPr>
                <a:t>part of daily life in the water town.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85800" y="4800600"/>
              <a:ext cx="1676400" cy="1504950"/>
            </a:xfrm>
            <a:prstGeom prst="rect">
              <a:avLst/>
            </a:prstGeom>
            <a:solidFill>
              <a:srgbClr val="1A1C20"/>
            </a:solidFill>
            <a:ln w="9525">
              <a:solidFill>
                <a:srgbClr val="FFFFFF">
                  <a:alpha val="10000"/>
                </a:srgbClr>
              </a:solidFill>
            </a:ln>
          </p:spPr>
        </p:sp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4"/>
            <a:srcRect l="8228" t="0" r="8228" b="0"/>
            <a:stretch>
              <a:fillRect/>
            </a:stretch>
          </p:blipFill>
          <p:spPr>
            <a:xfrm>
              <a:off x="685800" y="4800600"/>
              <a:ext cx="1676400" cy="1504950"/>
            </a:xfrm>
            <a:prstGeom prst="rect">
              <a:avLst/>
            </a:prstGeom>
          </p:spPr>
        </p:pic>
        <p:sp>
          <p:nvSpPr>
            <p:cNvPr id="21" name="TextBox 21"/>
            <p:cNvSpPr txBox="1"/>
            <p:nvPr/>
          </p:nvSpPr>
          <p:spPr>
            <a:xfrm>
              <a:off x="2547938" y="4940300"/>
              <a:ext cx="155879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b="1" spc="225" dirty="0">
                  <a:solidFill>
                    <a:srgbClr val="D9822B"/>
                  </a:solidFill>
                  <a:latin typeface="+mn-lt"/>
                  <a:ea typeface="+mn-ea"/>
                  <a:cs typeface="+mn-cs"/>
                </a:rPr>
                <a:t>03 · ON THE WATER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546985" y="521335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乘船游水巷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547938" y="5486400"/>
              <a:ext cx="158258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>
                      <a:alphaMod val="60000"/>
                    </a:srgbClr>
                  </a:solidFill>
                  <a:latin typeface="+mn-lt"/>
                  <a:ea typeface="+mn-ea"/>
                  <a:cs typeface="+mn-cs"/>
                </a:rPr>
                <a:t>We noticed that taking a boat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547938" y="5657850"/>
              <a:ext cx="166645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>
                      <a:alphaMod val="60000"/>
                    </a:srgbClr>
                  </a:solidFill>
                  <a:latin typeface="+mn-lt"/>
                  <a:ea typeface="+mn-ea"/>
                  <a:cs typeface="+mn-cs"/>
                </a:rPr>
                <a:t>along the canal is the best way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547938" y="5829300"/>
              <a:ext cx="15922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>
                      <a:alphaMod val="60000"/>
                    </a:srgbClr>
                  </a:solidFill>
                  <a:latin typeface="+mn-lt"/>
                  <a:ea typeface="+mn-ea"/>
                  <a:cs typeface="+mn-cs"/>
                </a:rPr>
                <a:t>to experience the water town.</a:t>
              </a:r>
            </a:p>
          </p:txBody>
        </p:sp>
      </p:grpSp>
      <p:grpSp>
        <p:nvGrpSpPr>
          <p:cNvPr id="64" name="site-mock"/>
          <p:cNvGrpSpPr/>
          <p:nvPr/>
        </p:nvGrpSpPr>
        <p:grpSpPr>
          <a:xfrm>
            <a:off x="7543800" y="1524000"/>
            <a:ext cx="3962400" cy="4381500"/>
            <a:chOff x="7543800" y="1524000"/>
            <a:chExt cx="3962400" cy="4381500"/>
          </a:xfrm>
        </p:grpSpPr>
        <p:sp>
          <p:nvSpPr>
            <p:cNvPr id="27" name="Rectangle 27"/>
            <p:cNvSpPr/>
            <p:nvPr/>
          </p:nvSpPr>
          <p:spPr>
            <a:xfrm>
              <a:off x="7543800" y="1524000"/>
              <a:ext cx="3962400" cy="4381500"/>
            </a:xfrm>
            <a:prstGeom prst="rect">
              <a:avLst/>
            </a:prstGeom>
            <a:solidFill>
              <a:srgbClr val="141619"/>
            </a:solidFill>
            <a:ln w="9525">
              <a:solidFill>
                <a:srgbClr val="FFFFFF">
                  <a:alpha val="12000"/>
                </a:srgbClr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543800" y="1524000"/>
              <a:ext cx="3962400" cy="304800"/>
            </a:xfrm>
            <a:prstGeom prst="rect">
              <a:avLst/>
            </a:prstGeom>
            <a:solidFill>
              <a:srgbClr val="1E2126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7677150" y="1638300"/>
              <a:ext cx="76200" cy="76200"/>
            </a:xfrm>
            <a:prstGeom prst="ellipse">
              <a:avLst/>
            </a:prstGeom>
            <a:solidFill>
              <a:srgbClr val="FF5F57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7810500" y="1638300"/>
              <a:ext cx="76200" cy="76200"/>
            </a:xfrm>
            <a:prstGeom prst="ellipse">
              <a:avLst/>
            </a:prstGeom>
            <a:solidFill>
              <a:srgbClr val="FEBC2E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7943850" y="1638300"/>
              <a:ext cx="76200" cy="762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172450" y="1600200"/>
              <a:ext cx="2857500" cy="152400"/>
            </a:xfrm>
            <a:prstGeom prst="rect">
              <a:avLst/>
            </a:prstGeom>
            <a:solidFill>
              <a:srgbClr val="0B0C0F"/>
            </a:solidFill>
            <a:ln w="9525">
              <a:solidFill>
                <a:srgbClr val="FFFFFF">
                  <a:alpha val="8000"/>
                </a:srgbClr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243888" y="1628775"/>
              <a:ext cx="1073518" cy="1190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600" dirty="0">
                  <a:solidFill>
                    <a:srgbClr val="FFFFFF">
                      <a:alphaMod val="40000"/>
                    </a:srgbClr>
                  </a:solidFill>
                  <a:latin typeface="+mn-lt"/>
                  <a:ea typeface="+mn-ea"/>
                  <a:cs typeface="+mn-cs"/>
                </a:rPr>
                <a:t>wuzhen-waterways / chapters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710297" y="1930400"/>
              <a:ext cx="210878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SIX CHAPTERS OF THE STORY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715250" y="2152650"/>
              <a:ext cx="419100" cy="19050"/>
            </a:xfrm>
            <a:prstGeom prst="rect">
              <a:avLst/>
            </a:prstGeom>
            <a:solidFill>
              <a:srgbClr val="D9822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710488" y="2330450"/>
              <a:ext cx="130926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10" spc="112" dirty="0">
                  <a:solidFill>
                    <a:srgbClr val="D9822B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015288" y="2305050"/>
              <a:ext cx="47883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WATER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548688" y="2317750"/>
              <a:ext cx="1199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FFFFFF">
                      <a:alphaMod val="45000"/>
                    </a:srgbClr>
                  </a:solidFill>
                  <a:latin typeface="+mn-lt"/>
                  <a:ea typeface="+mn-ea"/>
                  <a:cs typeface="+mn-cs"/>
                </a:rPr>
                <a:t>水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710488" y="2616200"/>
              <a:ext cx="130926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10" spc="112" dirty="0">
                  <a:solidFill>
                    <a:srgbClr val="D9822B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015288" y="2590800"/>
              <a:ext cx="59279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BRIDGES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77288" y="2603500"/>
              <a:ext cx="1199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FFFFFF">
                      <a:alphaMod val="45000"/>
                    </a:srgbClr>
                  </a:solidFill>
                  <a:latin typeface="+mn-lt"/>
                  <a:ea typeface="+mn-ea"/>
                  <a:cs typeface="+mn-cs"/>
                </a:rPr>
                <a:t>桥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710488" y="2901950"/>
              <a:ext cx="130926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10" spc="112" dirty="0">
                  <a:solidFill>
                    <a:srgbClr val="D9822B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015288" y="2876550"/>
              <a:ext cx="45758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BOATS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643938" y="2889250"/>
              <a:ext cx="1199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FFFFFF">
                      <a:alphaMod val="45000"/>
                    </a:srgbClr>
                  </a:solidFill>
                  <a:latin typeface="+mn-lt"/>
                  <a:ea typeface="+mn-ea"/>
                  <a:cs typeface="+mn-cs"/>
                </a:rPr>
                <a:t>船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710488" y="3187700"/>
              <a:ext cx="130926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10" spc="112" dirty="0">
                  <a:solidFill>
                    <a:srgbClr val="D9822B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015288" y="3162300"/>
              <a:ext cx="28685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LIFE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491538" y="3175000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FFFFFF">
                      <a:alphaMod val="45000"/>
                    </a:srgbClr>
                  </a:solidFill>
                  <a:latin typeface="+mn-lt"/>
                  <a:ea typeface="+mn-ea"/>
                  <a:cs typeface="+mn-cs"/>
                </a:rPr>
                <a:t>生活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710488" y="3473450"/>
              <a:ext cx="130926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10" spc="112" dirty="0">
                  <a:solidFill>
                    <a:srgbClr val="D9822B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015288" y="3448050"/>
              <a:ext cx="4077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NIGHT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567738" y="3460750"/>
              <a:ext cx="1199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FFFFFF">
                      <a:alphaMod val="45000"/>
                    </a:srgbClr>
                  </a:solidFill>
                  <a:latin typeface="+mn-lt"/>
                  <a:ea typeface="+mn-ea"/>
                  <a:cs typeface="+mn-cs"/>
                </a:rPr>
                <a:t>夜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710488" y="3759200"/>
              <a:ext cx="130926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10" spc="112" dirty="0">
                  <a:solidFill>
                    <a:srgbClr val="D9822B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015288" y="3733800"/>
              <a:ext cx="5855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MEMORY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701088" y="3746500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FFFFFF">
                      <a:alphaMod val="45000"/>
                    </a:srgbClr>
                  </a:solidFill>
                  <a:latin typeface="+mn-lt"/>
                  <a:ea typeface="+mn-ea"/>
                  <a:cs typeface="+mn-cs"/>
                </a:rPr>
                <a:t>记忆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715250" y="4076700"/>
              <a:ext cx="3619500" cy="9525"/>
            </a:xfrm>
            <a:prstGeom prst="rect">
              <a:avLst/>
            </a:prstGeom>
            <a:solidFill>
              <a:srgbClr val="FFFFFF">
                <a:alpha val="8000"/>
              </a:srgbClr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710488" y="4216400"/>
              <a:ext cx="67335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b="1" dirty="0">
                  <a:solidFill>
                    <a:srgbClr val="D9822B"/>
                  </a:solidFill>
                  <a:latin typeface="+mn-lt"/>
                  <a:ea typeface="+mn-ea"/>
                  <a:cs typeface="+mn-cs"/>
                </a:rPr>
                <a:t>A QUESTION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710488" y="4400550"/>
              <a:ext cx="25456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i="1" dirty="0">
                  <a:solidFill>
                    <a:srgbClr val="FFFFFF">
                      <a:alphaMod val="85000"/>
                    </a:srgbClr>
                  </a:solidFill>
                  <a:latin typeface="+mn-lt"/>
                  <a:ea typeface="+mn-ea"/>
                  <a:cs typeface="+mn-cs"/>
                </a:rPr>
                <a:t>Why is water the main line of the ancient town?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710488" y="4622800"/>
              <a:ext cx="181037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FFFFFF">
                      <a:alphaMod val="55000"/>
                    </a:srgbClr>
                  </a:solidFill>
                  <a:latin typeface="+mn-lt"/>
                  <a:ea typeface="+mn-ea"/>
                  <a:cs typeface="+mn-cs"/>
                </a:rPr>
                <a:t>The site answers it with six chapters.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7715250" y="4953000"/>
              <a:ext cx="819150" cy="228600"/>
            </a:xfrm>
            <a:prstGeom prst="rect">
              <a:avLst/>
            </a:prstGeom>
            <a:solidFill>
              <a:srgbClr val="D9822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801153" y="5016500"/>
              <a:ext cx="64734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750" b="1" spc="1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EXPLORE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710488" y="5302250"/>
              <a:ext cx="1786068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10" spc="75" dirty="0">
                  <a:solidFill>
                    <a:srgbClr val="FFFFFF">
                      <a:alphaMod val="45000"/>
                    </a:srgbClr>
                  </a:solidFill>
                  <a:latin typeface="+mn-lt"/>
                  <a:ea typeface="+mn-ea"/>
                  <a:cs typeface="+mn-cs"/>
                </a:rPr>
                <a:t>KEYWORDS · FROM THE FIELD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710488" y="5473700"/>
              <a:ext cx="2235491" cy="134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FFFFFF">
                      <a:alphaMod val="70000"/>
                    </a:srgbClr>
                  </a:solidFill>
                  <a:latin typeface="+mn-lt"/>
                  <a:ea typeface="+mn-ea"/>
                  <a:cs typeface="+mn-cs"/>
                </a:rPr>
                <a:t>WATER 水 · BRIDGES 桥 · CANAL 水道 · LIFE 生活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710488" y="5597525"/>
              <a:ext cx="2600640" cy="134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FFFFFF">
                      <a:alphaMod val="70000"/>
                    </a:srgbClr>
                  </a:solidFill>
                  <a:latin typeface="+mn-lt"/>
                  <a:ea typeface="+mn-ea"/>
                  <a:cs typeface="+mn-cs"/>
                </a:rPr>
                <a:t>WATERWAY 水路 · BOATS 船 · NIGHT 夜 · CONNECT 连接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710488" y="5721350"/>
              <a:ext cx="2713831" cy="134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FFFFFF">
                      <a:alphaMod val="70000"/>
                    </a:srgbClr>
                  </a:solidFill>
                  <a:latin typeface="+mn-lt"/>
                  <a:ea typeface="+mn-ea"/>
                  <a:cs typeface="+mn-cs"/>
                </a:rPr>
                <a:t>MEMORY 记忆 · WATER TOWN 水乡古镇 · REFLECTION 倒影</a:t>
              </a:r>
            </a:p>
          </p:txBody>
        </p:sp>
      </p:grpSp>
      <p:grpSp>
        <p:nvGrpSpPr>
          <p:cNvPr id="67" name="credits"/>
          <p:cNvGrpSpPr/>
          <p:nvPr/>
        </p:nvGrpSpPr>
        <p:grpSpPr>
          <a:xfrm>
            <a:off x="681038" y="6483350"/>
            <a:ext cx="4135948" cy="286702"/>
            <a:chOff x="681038" y="6483350"/>
            <a:chExt cx="4135948" cy="286702"/>
          </a:xfrm>
        </p:grpSpPr>
        <p:sp>
          <p:nvSpPr>
            <p:cNvPr id="65" name="TextBox 65"/>
            <p:cNvSpPr txBox="1"/>
            <p:nvPr/>
          </p:nvSpPr>
          <p:spPr>
            <a:xfrm>
              <a:off x="681038" y="6483350"/>
              <a:ext cx="2660462" cy="134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680" dirty="0">
                  <a:solidFill>
                    <a:srgbClr val="FFFFFF">
                      <a:alphaMod val="35000"/>
                    </a:srgbClr>
                  </a:solidFill>
                  <a:latin typeface="+mn-lt"/>
                  <a:ea typeface="+mn-ea"/>
                  <a:cs typeface="+mn-cs"/>
                </a:rPr>
                <a:t>Photographs · Wikimedia Commons · CC0 / CC BY / CC BY-SA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81038" y="6635750"/>
              <a:ext cx="4135948" cy="134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FFFFFF">
                      <a:alphaMod val="35000"/>
                    </a:srgbClr>
                  </a:solidFill>
                  <a:latin typeface="+mn-lt"/>
                  <a:ea typeface="+mn-ea"/>
                  <a:cs typeface="+mn-cs"/>
                </a:rPr>
                <a:t>韩笃一 · Immanuel Giel · Jakub Hałun · Gerbil · Nico le terrible · Sastognuti · N509FZ · ChinaUli2010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72084" y="514350"/>
            <a:ext cx="5826301" cy="897509"/>
            <a:chOff x="672084" y="514350"/>
            <a:chExt cx="5826301" cy="897509"/>
          </a:xfrm>
        </p:grpSpPr>
        <p:sp>
          <p:nvSpPr>
            <p:cNvPr id="2" name="TextBox 2"/>
            <p:cNvSpPr txBox="1"/>
            <p:nvPr/>
          </p:nvSpPr>
          <p:spPr>
            <a:xfrm>
              <a:off x="681038" y="514350"/>
              <a:ext cx="297180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spc="375" dirty="0">
                  <a:solidFill>
                    <a:srgbClr val="D9822B"/>
                  </a:solidFill>
                  <a:latin typeface="+mn-lt"/>
                  <a:ea typeface="+mn-ea"/>
                  <a:cs typeface="+mn-cs"/>
                </a:rPr>
                <a:t>03 / 06 · WATERWAY ATLAS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736600"/>
              <a:ext cx="448475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700" b="1" spc="1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Find your way by water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1206500"/>
              <a:ext cx="5817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i="1" dirty="0">
                  <a:solidFill>
                    <a:srgbClr val="FFFFFF">
                      <a:alphaMod val="50000"/>
                    </a:srgbClr>
                  </a:solidFill>
                  <a:latin typeface="+mn-lt"/>
                  <a:ea typeface="+mn-ea"/>
                  <a:cs typeface="+mn-cs"/>
                </a:rPr>
                <a:t>Four moments on the Wuzhen canal, organized as a field interface rather than a linear scroll.</a:t>
              </a:r>
            </a:p>
          </p:txBody>
        </p:sp>
      </p:grpSp>
      <p:grpSp>
        <p:nvGrpSpPr>
          <p:cNvPr id="40" name="atlas"/>
          <p:cNvGrpSpPr/>
          <p:nvPr/>
        </p:nvGrpSpPr>
        <p:grpSpPr>
          <a:xfrm>
            <a:off x="685800" y="1676400"/>
            <a:ext cx="7962900" cy="4211638"/>
            <a:chOff x="685800" y="1676400"/>
            <a:chExt cx="7962900" cy="4211638"/>
          </a:xfrm>
        </p:grpSpPr>
        <p:sp>
          <p:nvSpPr>
            <p:cNvPr id="6" name="Rectangle 6"/>
            <p:cNvSpPr/>
            <p:nvPr/>
          </p:nvSpPr>
          <p:spPr>
            <a:xfrm>
              <a:off x="685800" y="1676400"/>
              <a:ext cx="7962900" cy="3905250"/>
            </a:xfrm>
            <a:prstGeom prst="rect">
              <a:avLst/>
            </a:prstGeom>
            <a:solidFill>
              <a:srgbClr val="111317"/>
            </a:solidFill>
            <a:ln w="9525">
              <a:solidFill>
                <a:srgbClr val="FFFFFF">
                  <a:alpha val="10000"/>
                </a:srgbClr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2247900"/>
              <a:ext cx="7810500" cy="9525"/>
            </a:xfrm>
            <a:prstGeom prst="rect">
              <a:avLst/>
            </a:prstGeom>
            <a:solidFill>
              <a:srgbClr val="FFFFFF">
                <a:alpha val="5000"/>
              </a:srgbClr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2933700"/>
              <a:ext cx="7810500" cy="9525"/>
            </a:xfrm>
            <a:prstGeom prst="rect">
              <a:avLst/>
            </a:prstGeom>
            <a:solidFill>
              <a:srgbClr val="FFFFFF">
                <a:alpha val="5000"/>
              </a:srgbClr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2000" y="3619500"/>
              <a:ext cx="7810500" cy="9525"/>
            </a:xfrm>
            <a:prstGeom prst="rect">
              <a:avLst/>
            </a:prstGeom>
            <a:solidFill>
              <a:srgbClr val="FFFFFF">
                <a:alpha val="5000"/>
              </a:srgbClr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62000" y="4305300"/>
              <a:ext cx="7810500" cy="9525"/>
            </a:xfrm>
            <a:prstGeom prst="rect">
              <a:avLst/>
            </a:prstGeom>
            <a:solidFill>
              <a:srgbClr val="FFFFFF">
                <a:alpha val="5000"/>
              </a:srgbClr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4991100"/>
              <a:ext cx="7810500" cy="9525"/>
            </a:xfrm>
            <a:prstGeom prst="rect">
              <a:avLst/>
            </a:prstGeom>
            <a:solidFill>
              <a:srgbClr val="FFFFFF">
                <a:alpha val="5000"/>
              </a:srgbClr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62000" y="5676900"/>
              <a:ext cx="7810500" cy="9525"/>
            </a:xfrm>
            <a:prstGeom prst="rect">
              <a:avLst/>
            </a:prstGeom>
            <a:solidFill>
              <a:srgbClr val="FFFFFF">
                <a:alpha val="5000"/>
              </a:srgbClr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524000" y="1752600"/>
              <a:ext cx="9525" cy="3619500"/>
            </a:xfrm>
            <a:prstGeom prst="rect">
              <a:avLst/>
            </a:prstGeom>
            <a:solidFill>
              <a:srgbClr val="FFFFFF">
                <a:alpha val="5000"/>
              </a:srgbClr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2476500" y="1752600"/>
              <a:ext cx="9525" cy="3619500"/>
            </a:xfrm>
            <a:prstGeom prst="rect">
              <a:avLst/>
            </a:prstGeom>
            <a:solidFill>
              <a:srgbClr val="FFFFFF">
                <a:alpha val="5000"/>
              </a:srgbClr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3429000" y="1752600"/>
              <a:ext cx="9525" cy="3619500"/>
            </a:xfrm>
            <a:prstGeom prst="rect">
              <a:avLst/>
            </a:prstGeom>
            <a:solidFill>
              <a:srgbClr val="FFFFFF">
                <a:alpha val="5000"/>
              </a:srgbClr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4381500" y="1752600"/>
              <a:ext cx="9525" cy="3619500"/>
            </a:xfrm>
            <a:prstGeom prst="rect">
              <a:avLst/>
            </a:prstGeom>
            <a:solidFill>
              <a:srgbClr val="FFFFFF">
                <a:alpha val="5000"/>
              </a:srgbClr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0" y="1752600"/>
              <a:ext cx="9525" cy="3619500"/>
            </a:xfrm>
            <a:prstGeom prst="rect">
              <a:avLst/>
            </a:prstGeom>
            <a:solidFill>
              <a:srgbClr val="FFFFFF">
                <a:alpha val="5000"/>
              </a:srgbClr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286500" y="1752600"/>
              <a:ext cx="9525" cy="3619500"/>
            </a:xfrm>
            <a:prstGeom prst="rect">
              <a:avLst/>
            </a:prstGeom>
            <a:solidFill>
              <a:srgbClr val="FFFFFF">
                <a:alpha val="5000"/>
              </a:srgbClr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239000" y="1752600"/>
              <a:ext cx="9525" cy="3619500"/>
            </a:xfrm>
            <a:prstGeom prst="rect">
              <a:avLst/>
            </a:prstGeom>
            <a:solidFill>
              <a:srgbClr val="FFFFFF">
                <a:alpha val="5000"/>
              </a:srgbClr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8191500" y="1752600"/>
              <a:ext cx="9525" cy="3619500"/>
            </a:xfrm>
            <a:prstGeom prst="rect">
              <a:avLst/>
            </a:prstGeom>
            <a:solidFill>
              <a:srgbClr val="FFFFFF">
                <a:alpha val="5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71538" y="1930400"/>
              <a:ext cx="1304240" cy="134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680" spc="150" dirty="0">
                  <a:solidFill>
                    <a:srgbClr val="FFFFFF">
                      <a:alphaMod val="40000"/>
                    </a:srgbClr>
                  </a:solidFill>
                  <a:latin typeface="+mn-lt"/>
                  <a:ea typeface="+mn-ea"/>
                  <a:cs typeface="+mn-cs"/>
                </a:rPr>
                <a:t>120.49° E · 30.75° 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897405" y="1930400"/>
              <a:ext cx="1527458" cy="134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680" spc="150" dirty="0">
                  <a:solidFill>
                    <a:srgbClr val="FFFFFF">
                      <a:alphaMod val="40000"/>
                    </a:srgbClr>
                  </a:solidFill>
                  <a:latin typeface="+mn-lt"/>
                  <a:ea typeface="+mn-ea"/>
                  <a:cs typeface="+mn-cs"/>
                </a:rPr>
                <a:t>SCALE · NOT TO SCALE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1524000" y="2247900"/>
              <a:ext cx="6667500" cy="2743200"/>
            </a:xfrm>
            <a:custGeom>
              <a:avLst/>
              <a:gdLst/>
              <a:ahLst/>
              <a:cxnLst/>
              <a:rect l="l" t="t" r="r" b="b"/>
              <a:pathLst>
                <a:path w="6667500" h="2743200">
                  <a:moveTo>
                    <a:pt x="0" y="2743200"/>
                  </a:moveTo>
                  <a:lnTo>
                    <a:pt x="0" y="2057400"/>
                  </a:lnTo>
                  <a:lnTo>
                    <a:pt x="2857500" y="2057400"/>
                  </a:lnTo>
                  <a:lnTo>
                    <a:pt x="2857500" y="685800"/>
                  </a:lnTo>
                  <a:lnTo>
                    <a:pt x="5715000" y="685800"/>
                  </a:lnTo>
                  <a:lnTo>
                    <a:pt x="5715000" y="0"/>
                  </a:lnTo>
                  <a:lnTo>
                    <a:pt x="6667500" y="0"/>
                  </a:lnTo>
                </a:path>
              </a:pathLst>
            </a:custGeom>
            <a:noFill/>
            <a:ln w="14288">
              <a:solidFill>
                <a:srgbClr val="3B7A9E">
                  <a:alpha val="40000"/>
                </a:srgbClr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1524000" y="2247900"/>
              <a:ext cx="6667500" cy="2743200"/>
            </a:xfrm>
            <a:custGeom>
              <a:avLst/>
              <a:gdLst/>
              <a:ahLst/>
              <a:cxnLst/>
              <a:rect l="l" t="t" r="r" b="b"/>
              <a:pathLst>
                <a:path w="6667500" h="2743200">
                  <a:moveTo>
                    <a:pt x="0" y="2743200"/>
                  </a:moveTo>
                  <a:lnTo>
                    <a:pt x="0" y="2057400"/>
                  </a:lnTo>
                  <a:lnTo>
                    <a:pt x="2857500" y="2057400"/>
                  </a:lnTo>
                  <a:lnTo>
                    <a:pt x="2857500" y="685800"/>
                  </a:lnTo>
                  <a:lnTo>
                    <a:pt x="5715000" y="685800"/>
                  </a:lnTo>
                  <a:lnTo>
                    <a:pt x="5715000" y="0"/>
                  </a:lnTo>
                  <a:lnTo>
                    <a:pt x="6667500" y="0"/>
                  </a:lnTo>
                </a:path>
              </a:pathLst>
            </a:custGeom>
            <a:noFill/>
            <a:ln w="38100">
              <a:solidFill>
                <a:srgbClr val="6FB7D6">
                  <a:alpha val="90000"/>
                </a:srgbClr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1390650" y="4857750"/>
              <a:ext cx="266700" cy="266700"/>
            </a:xfrm>
            <a:prstGeom prst="ellipse">
              <a:avLst/>
            </a:prstGeom>
            <a:noFill/>
            <a:ln w="9525">
              <a:solidFill>
                <a:srgbClr val="D9822B">
                  <a:alpha val="40000"/>
                </a:srgbClr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1457325" y="4924425"/>
              <a:ext cx="133350" cy="133350"/>
            </a:xfrm>
            <a:prstGeom prst="ellipse">
              <a:avLst/>
            </a:prstGeom>
            <a:solidFill>
              <a:srgbClr val="0B0C0F"/>
            </a:solidFill>
            <a:ln w="19050">
              <a:solidFill>
                <a:srgbClr val="D9822B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4248150" y="4171950"/>
              <a:ext cx="266700" cy="266700"/>
            </a:xfrm>
            <a:prstGeom prst="ellipse">
              <a:avLst/>
            </a:prstGeom>
            <a:noFill/>
            <a:ln w="9525">
              <a:solidFill>
                <a:srgbClr val="D9822B">
                  <a:alpha val="40000"/>
                </a:srgbClr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4314825" y="4238625"/>
              <a:ext cx="133350" cy="133350"/>
            </a:xfrm>
            <a:prstGeom prst="ellipse">
              <a:avLst/>
            </a:prstGeom>
            <a:solidFill>
              <a:srgbClr val="0B0C0F"/>
            </a:solidFill>
            <a:ln w="19050">
              <a:solidFill>
                <a:srgbClr val="D9822B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7105650" y="2800350"/>
              <a:ext cx="266700" cy="266700"/>
            </a:xfrm>
            <a:prstGeom prst="ellipse">
              <a:avLst/>
            </a:prstGeom>
            <a:noFill/>
            <a:ln w="9525">
              <a:solidFill>
                <a:srgbClr val="D9822B">
                  <a:alpha val="40000"/>
                </a:srgbClr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7172325" y="2867025"/>
              <a:ext cx="133350" cy="133350"/>
            </a:xfrm>
            <a:prstGeom prst="ellipse">
              <a:avLst/>
            </a:prstGeom>
            <a:solidFill>
              <a:srgbClr val="0B0C0F"/>
            </a:solidFill>
            <a:ln w="19050">
              <a:solidFill>
                <a:srgbClr val="D9822B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8058150" y="2114550"/>
              <a:ext cx="266700" cy="266700"/>
            </a:xfrm>
            <a:prstGeom prst="ellipse">
              <a:avLst/>
            </a:prstGeom>
            <a:noFill/>
            <a:ln w="9525">
              <a:solidFill>
                <a:srgbClr val="D9822B">
                  <a:alpha val="40000"/>
                </a:srgbClr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124825" y="2181225"/>
              <a:ext cx="133350" cy="133350"/>
            </a:xfrm>
            <a:prstGeom prst="ellipse">
              <a:avLst/>
            </a:prstGeom>
            <a:solidFill>
              <a:srgbClr val="0B0C0F"/>
            </a:solidFill>
            <a:ln w="19050">
              <a:solidFill>
                <a:srgbClr val="D9822B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457839" y="5175250"/>
              <a:ext cx="1323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315339" y="4489450"/>
              <a:ext cx="1323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172839" y="3117850"/>
              <a:ext cx="1323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25339" y="1860550"/>
              <a:ext cx="1323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85800" y="5448300"/>
              <a:ext cx="7962900" cy="9525"/>
            </a:xfrm>
            <a:prstGeom prst="rect">
              <a:avLst/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1538" y="5537200"/>
              <a:ext cx="339798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spc="225" dirty="0">
                  <a:solidFill>
                    <a:srgbClr val="6FB7D6"/>
                  </a:solidFill>
                  <a:latin typeface="+mn-lt"/>
                  <a:ea typeface="+mn-ea"/>
                  <a:cs typeface="+mn-cs"/>
                </a:rPr>
                <a:t>CANAL ROUTE · ~10,000 m · 72 BRIDGES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71538" y="5740400"/>
              <a:ext cx="3531478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dirty="0">
                  <a:solidFill>
                    <a:srgbClr val="FFFFFF">
                      <a:alphaMod val="50000"/>
                    </a:srgbClr>
                  </a:solidFill>
                  <a:latin typeface="+mn-lt"/>
                  <a:ea typeface="+mn-ea"/>
                  <a:cs typeface="+mn-cs"/>
                </a:rPr>
                <a:t>The inland water system forms a cross shape, dividing the old town into zones.</a:t>
              </a:r>
            </a:p>
          </p:txBody>
        </p:sp>
      </p:grpSp>
      <p:grpSp>
        <p:nvGrpSpPr>
          <p:cNvPr id="64" name="nodes"/>
          <p:cNvGrpSpPr/>
          <p:nvPr/>
        </p:nvGrpSpPr>
        <p:grpSpPr>
          <a:xfrm>
            <a:off x="8910638" y="1828800"/>
            <a:ext cx="2595562" cy="4594225"/>
            <a:chOff x="8910638" y="1828800"/>
            <a:chExt cx="2595562" cy="4594225"/>
          </a:xfrm>
        </p:grpSpPr>
        <p:sp>
          <p:nvSpPr>
            <p:cNvPr id="41" name="TextBox 41"/>
            <p:cNvSpPr txBox="1"/>
            <p:nvPr/>
          </p:nvSpPr>
          <p:spPr>
            <a:xfrm>
              <a:off x="8910638" y="1828800"/>
              <a:ext cx="16168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D9822B"/>
                  </a:solidFill>
                  <a:latin typeface="+mn-lt"/>
                  <a:ea typeface="+mn-ea"/>
                  <a:cs typeface="+mn-cs"/>
                </a:rPr>
                <a:t>01 · NORTH WATER GATE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910638" y="2032000"/>
              <a:ext cx="9395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FFFFFF">
                      <a:alphaMod val="55000"/>
                    </a:srgbClr>
                  </a:solidFill>
                  <a:latin typeface="+mn-lt"/>
                  <a:ea typeface="+mn-ea"/>
                  <a:cs typeface="+mn-cs"/>
                </a:rPr>
                <a:t>北栅水门 — Arrival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910638" y="2298700"/>
              <a:ext cx="150456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FFFFFF">
                      <a:alphaMod val="75000"/>
                    </a:srgbClr>
                  </a:solidFill>
                  <a:latin typeface="+mn-lt"/>
                  <a:ea typeface="+mn-ea"/>
                  <a:cs typeface="+mn-cs"/>
                </a:rPr>
                <a:t>The town opens at the edge of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910638" y="2451100"/>
              <a:ext cx="140854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FFFFFF">
                      <a:alphaMod val="75000"/>
                    </a:srgbClr>
                  </a:solidFill>
                  <a:latin typeface="+mn-lt"/>
                  <a:ea typeface="+mn-ea"/>
                  <a:cs typeface="+mn-cs"/>
                </a:rPr>
                <a:t>the canal — stone, mist, and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910638" y="2603500"/>
              <a:ext cx="84386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FFFFFF">
                      <a:alphaMod val="75000"/>
                    </a:srgbClr>
                  </a:solidFill>
                  <a:latin typeface="+mn-lt"/>
                  <a:ea typeface="+mn-ea"/>
                  <a:cs typeface="+mn-cs"/>
                </a:rPr>
                <a:t>the first crossing.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8915400" y="2895600"/>
              <a:ext cx="2590800" cy="9525"/>
            </a:xfrm>
            <a:prstGeom prst="rect">
              <a:avLst/>
            </a:prstGeom>
            <a:solidFill>
              <a:srgbClr val="FFFFFF">
                <a:alpha val="8000"/>
              </a:srgbClr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910638" y="3048000"/>
              <a:ext cx="118317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D9822B"/>
                  </a:solidFill>
                  <a:latin typeface="+mn-lt"/>
                  <a:ea typeface="+mn-ea"/>
                  <a:cs typeface="+mn-cs"/>
                </a:rPr>
                <a:t>02 · XIZHA BRIDGE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910638" y="3251200"/>
              <a:ext cx="106268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FFFFFF">
                      <a:alphaMod val="55000"/>
                    </a:srgbClr>
                  </a:solidFill>
                  <a:latin typeface="+mn-lt"/>
                  <a:ea typeface="+mn-ea"/>
                  <a:cs typeface="+mn-cs"/>
                </a:rPr>
                <a:t>西栅古桥 — Crossing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910638" y="3517900"/>
              <a:ext cx="132584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FFFFFF">
                      <a:alphaMod val="75000"/>
                    </a:srgbClr>
                  </a:solidFill>
                  <a:latin typeface="+mn-lt"/>
                  <a:ea typeface="+mn-ea"/>
                  <a:cs typeface="+mn-cs"/>
                </a:rPr>
                <a:t>A short arc links two banks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910638" y="3670300"/>
              <a:ext cx="114487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FFFFFF">
                      <a:alphaMod val="75000"/>
                    </a:srgbClr>
                  </a:solidFill>
                  <a:latin typeface="+mn-lt"/>
                  <a:ea typeface="+mn-ea"/>
                  <a:cs typeface="+mn-cs"/>
                </a:rPr>
                <a:t>and turns a route into a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910638" y="3822700"/>
              <a:ext cx="102202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FFFFFF">
                      <a:alphaMod val="75000"/>
                    </a:srgbClr>
                  </a:solidFill>
                  <a:latin typeface="+mn-lt"/>
                  <a:ea typeface="+mn-ea"/>
                  <a:cs typeface="+mn-cs"/>
                </a:rPr>
                <a:t>shared point of view.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915400" y="4114800"/>
              <a:ext cx="2590800" cy="9525"/>
            </a:xfrm>
            <a:prstGeom prst="rect">
              <a:avLst/>
            </a:prstGeom>
            <a:solidFill>
              <a:srgbClr val="FFFFFF">
                <a:alpha val="8000"/>
              </a:srgbClr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910638" y="4267200"/>
              <a:ext cx="13892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D9822B"/>
                  </a:solidFill>
                  <a:latin typeface="+mn-lt"/>
                  <a:ea typeface="+mn-ea"/>
                  <a:cs typeface="+mn-cs"/>
                </a:rPr>
                <a:t>03 · LANTERN WHARF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910638" y="4470400"/>
              <a:ext cx="112397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FFFFFF">
                      <a:alphaMod val="55000"/>
                    </a:srgbClr>
                  </a:solidFill>
                  <a:latin typeface="+mn-lt"/>
                  <a:ea typeface="+mn-ea"/>
                  <a:cs typeface="+mn-cs"/>
                </a:rPr>
                <a:t>灯影码头 — After dusk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910638" y="4737100"/>
              <a:ext cx="131940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FFFFFF">
                      <a:alphaMod val="75000"/>
                    </a:srgbClr>
                  </a:solidFill>
                  <a:latin typeface="+mn-lt"/>
                  <a:ea typeface="+mn-ea"/>
                  <a:cs typeface="+mn-cs"/>
                </a:rPr>
                <a:t>The water carries reflected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910638" y="4889500"/>
              <a:ext cx="137185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FFFFFF">
                      <a:alphaMod val="75000"/>
                    </a:srgbClr>
                  </a:solidFill>
                  <a:latin typeface="+mn-lt"/>
                  <a:ea typeface="+mn-ea"/>
                  <a:cs typeface="+mn-cs"/>
                </a:rPr>
                <a:t>windows, boats and the soft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910638" y="5041900"/>
              <a:ext cx="91766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FFFFFF">
                      <a:alphaMod val="75000"/>
                    </a:srgbClr>
                  </a:solidFill>
                  <a:latin typeface="+mn-lt"/>
                  <a:ea typeface="+mn-ea"/>
                  <a:cs typeface="+mn-cs"/>
                </a:rPr>
                <a:t>rhythm of evening.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8915400" y="5334000"/>
              <a:ext cx="2590800" cy="9525"/>
            </a:xfrm>
            <a:prstGeom prst="rect">
              <a:avLst/>
            </a:prstGeom>
            <a:solidFill>
              <a:srgbClr val="FFFFFF">
                <a:alpha val="8000"/>
              </a:srgbClr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910638" y="5486400"/>
              <a:ext cx="146752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dirty="0">
                  <a:solidFill>
                    <a:srgbClr val="D9822B"/>
                  </a:solidFill>
                  <a:latin typeface="+mn-lt"/>
                  <a:ea typeface="+mn-ea"/>
                  <a:cs typeface="+mn-cs"/>
                </a:rPr>
                <a:t>04 · MORNING MARKET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910638" y="5689600"/>
              <a:ext cx="104366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FFFFFF">
                      <a:alphaMod val="55000"/>
                    </a:srgbClr>
                  </a:solidFill>
                  <a:latin typeface="+mn-lt"/>
                  <a:ea typeface="+mn-ea"/>
                  <a:cs typeface="+mn-cs"/>
                </a:rPr>
                <a:t>清晨市集 — Daily life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910638" y="5956300"/>
              <a:ext cx="154095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FFFFFF">
                      <a:alphaMod val="75000"/>
                    </a:srgbClr>
                  </a:solidFill>
                  <a:latin typeface="+mn-lt"/>
                  <a:ea typeface="+mn-ea"/>
                  <a:cs typeface="+mn-cs"/>
                </a:rPr>
                <a:t>The canal is not scenery alone: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910638" y="6108700"/>
              <a:ext cx="112007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FFFFFF">
                      <a:alphaMod val="75000"/>
                    </a:srgbClr>
                  </a:solidFill>
                  <a:latin typeface="+mn-lt"/>
                  <a:ea typeface="+mn-ea"/>
                  <a:cs typeface="+mn-cs"/>
                </a:rPr>
                <a:t>it remains an everyday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910638" y="6261100"/>
              <a:ext cx="10159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FFFFFF">
                      <a:alphaMod val="75000"/>
                    </a:srgbClr>
                  </a:solidFill>
                  <a:latin typeface="+mn-lt"/>
                  <a:ea typeface="+mn-ea"/>
                  <a:cs typeface="+mn-cs"/>
                </a:rPr>
                <a:t>street and threshold.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672084" y="514350"/>
            <a:ext cx="8294296" cy="750316"/>
            <a:chOff x="672084" y="514350"/>
            <a:chExt cx="8294296" cy="750316"/>
          </a:xfrm>
        </p:grpSpPr>
        <p:sp>
          <p:nvSpPr>
            <p:cNvPr id="2" name="TextBox 2"/>
            <p:cNvSpPr txBox="1"/>
            <p:nvPr/>
          </p:nvSpPr>
          <p:spPr>
            <a:xfrm>
              <a:off x="681038" y="514350"/>
              <a:ext cx="24099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spc="375" dirty="0">
                  <a:solidFill>
                    <a:srgbClr val="D9822B"/>
                  </a:solidFill>
                  <a:latin typeface="+mn-lt"/>
                  <a:ea typeface="+mn-ea"/>
                  <a:cs typeface="+mn-cs"/>
                </a:rPr>
                <a:t>04 / 06 · WHY WATER?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736600"/>
              <a:ext cx="829429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700" b="1" spc="1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Water comes first. Everything else follows.</a:t>
              </a:r>
            </a:p>
          </p:txBody>
        </p:sp>
      </p:grpSp>
      <p:grpSp>
        <p:nvGrpSpPr>
          <p:cNvPr id="28" name="chain"/>
          <p:cNvGrpSpPr/>
          <p:nvPr/>
        </p:nvGrpSpPr>
        <p:grpSpPr>
          <a:xfrm>
            <a:off x="685800" y="1905000"/>
            <a:ext cx="10820400" cy="685800"/>
            <a:chOff x="685800" y="1905000"/>
            <a:chExt cx="10820400" cy="685800"/>
          </a:xfrm>
        </p:grpSpPr>
        <p:sp>
          <p:nvSpPr>
            <p:cNvPr id="5" name="Rectangle 5"/>
            <p:cNvSpPr/>
            <p:nvPr/>
          </p:nvSpPr>
          <p:spPr>
            <a:xfrm>
              <a:off x="685800" y="1905000"/>
              <a:ext cx="1428750" cy="685800"/>
            </a:xfrm>
            <a:prstGeom prst="rect">
              <a:avLst/>
            </a:prstGeom>
            <a:solidFill>
              <a:srgbClr val="141619"/>
            </a:solidFill>
            <a:ln w="14288">
              <a:solidFill>
                <a:srgbClr val="D9822B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58794" y="2038350"/>
              <a:ext cx="8827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spc="150" dirty="0">
                  <a:solidFill>
                    <a:srgbClr val="D9822B"/>
                  </a:solidFill>
                  <a:latin typeface="+mn-lt"/>
                  <a:ea typeface="+mn-ea"/>
                  <a:cs typeface="+mn-cs"/>
                </a:rPr>
                <a:t>WATER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19938" y="2336800"/>
              <a:ext cx="5604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FFFFFF">
                      <a:alphaMod val="50000"/>
                    </a:srgbClr>
                  </a:solidFill>
                  <a:latin typeface="+mn-lt"/>
                  <a:ea typeface="+mn-ea"/>
                  <a:cs typeface="+mn-cs"/>
                </a:rPr>
                <a:t>水 · FIRST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2171700" y="22479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rgbClr val="FFFFFF">
                  <a:alpha val="35000"/>
                </a:srgbClr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2381250" y="2200275"/>
              <a:ext cx="76200" cy="95250"/>
            </a:xfrm>
            <a:custGeom>
              <a:avLst/>
              <a:gdLst/>
              <a:ahLst/>
              <a:cxnLst/>
              <a:rect l="l" t="t" r="r" b="b"/>
              <a:pathLst>
                <a:path w="76200" h="95250">
                  <a:moveTo>
                    <a:pt x="76200" y="47625"/>
                  </a:moveTo>
                  <a:lnTo>
                    <a:pt x="0" y="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2495550" y="1905000"/>
              <a:ext cx="1428750" cy="685800"/>
            </a:xfrm>
            <a:prstGeom prst="rect">
              <a:avLst/>
            </a:prstGeom>
            <a:solidFill>
              <a:srgbClr val="141619"/>
            </a:solidFill>
            <a:ln w="9525">
              <a:solidFill>
                <a:srgbClr val="FFFFFF">
                  <a:alpha val="25000"/>
                </a:srgbClr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589629" y="2063750"/>
              <a:ext cx="12405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spc="1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CONNECTS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094774" y="2336800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FFFFFF">
                      <a:alphaMod val="50000"/>
                    </a:srgbClr>
                  </a:solidFill>
                  <a:latin typeface="+mn-lt"/>
                  <a:ea typeface="+mn-ea"/>
                  <a:cs typeface="+mn-cs"/>
                </a:rPr>
                <a:t>连接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3981450" y="22479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rgbClr val="FFFFFF">
                  <a:alpha val="35000"/>
                </a:srgbClr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191000" y="2200275"/>
              <a:ext cx="76200" cy="95250"/>
            </a:xfrm>
            <a:custGeom>
              <a:avLst/>
              <a:gdLst/>
              <a:ahLst/>
              <a:cxnLst/>
              <a:rect l="l" t="t" r="r" b="b"/>
              <a:pathLst>
                <a:path w="76200" h="95250">
                  <a:moveTo>
                    <a:pt x="76200" y="47625"/>
                  </a:moveTo>
                  <a:lnTo>
                    <a:pt x="0" y="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305300" y="1905000"/>
              <a:ext cx="2209800" cy="685800"/>
            </a:xfrm>
            <a:prstGeom prst="rect">
              <a:avLst/>
            </a:prstGeom>
            <a:solidFill>
              <a:srgbClr val="141619"/>
            </a:solidFill>
            <a:ln w="9525">
              <a:solidFill>
                <a:srgbClr val="FFFFFF">
                  <a:alpha val="25000"/>
                </a:srgbClr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062905" y="2089150"/>
              <a:ext cx="26945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b="1" spc="75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HOUSES · BRIDGES · STREETS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976181" y="2336800"/>
              <a:ext cx="86803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FFFFFF">
                      <a:alphaMod val="50000"/>
                    </a:srgbClr>
                  </a:solidFill>
                  <a:latin typeface="+mn-lt"/>
                  <a:ea typeface="+mn-ea"/>
                  <a:cs typeface="+mn-cs"/>
                </a:rPr>
                <a:t>房屋 · 桥梁 · 街巷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6572250" y="22479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rgbClr val="FFFFFF">
                  <a:alpha val="35000"/>
                </a:srgbClr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6781800" y="2200275"/>
              <a:ext cx="76200" cy="95250"/>
            </a:xfrm>
            <a:custGeom>
              <a:avLst/>
              <a:gdLst/>
              <a:ahLst/>
              <a:cxnLst/>
              <a:rect l="l" t="t" r="r" b="b"/>
              <a:pathLst>
                <a:path w="76200" h="95250">
                  <a:moveTo>
                    <a:pt x="76200" y="47625"/>
                  </a:moveTo>
                  <a:lnTo>
                    <a:pt x="0" y="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896100" y="1905000"/>
              <a:ext cx="2209800" cy="685800"/>
            </a:xfrm>
            <a:prstGeom prst="rect">
              <a:avLst/>
            </a:prstGeom>
            <a:solidFill>
              <a:srgbClr val="141619"/>
            </a:solidFill>
            <a:ln w="9525">
              <a:solidFill>
                <a:srgbClr val="FFFFFF">
                  <a:alpha val="25000"/>
                </a:srgbClr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900877" y="2089150"/>
              <a:ext cx="22002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b="1" spc="75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PEOPLE · BOATS · LIGHT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32564" y="2336800"/>
              <a:ext cx="53687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FFFFFF">
                      <a:alphaMod val="50000"/>
                    </a:srgbClr>
                  </a:solidFill>
                  <a:latin typeface="+mn-lt"/>
                  <a:ea typeface="+mn-ea"/>
                  <a:cs typeface="+mn-cs"/>
                </a:rPr>
                <a:t>人 · 船 · 光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9163050" y="22479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rgbClr val="FFFFFF">
                  <a:alpha val="35000"/>
                </a:srgbClr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9372600" y="2200275"/>
              <a:ext cx="76200" cy="95250"/>
            </a:xfrm>
            <a:custGeom>
              <a:avLst/>
              <a:gdLst/>
              <a:ahLst/>
              <a:cxnLst/>
              <a:rect l="l" t="t" r="r" b="b"/>
              <a:pathLst>
                <a:path w="76200" h="95250">
                  <a:moveTo>
                    <a:pt x="76200" y="47625"/>
                  </a:moveTo>
                  <a:lnTo>
                    <a:pt x="0" y="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9486900" y="1905000"/>
              <a:ext cx="2019300" cy="685800"/>
            </a:xfrm>
            <a:prstGeom prst="rect">
              <a:avLst/>
            </a:prstGeom>
            <a:solidFill>
              <a:srgbClr val="D9822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584015" y="2076450"/>
              <a:ext cx="18250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spc="112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TRADITIONAL LIFE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271011" y="2336800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FFFFFF">
                      <a:alphaMod val="85000"/>
                    </a:srgbClr>
                  </a:solidFill>
                  <a:latin typeface="+mn-lt"/>
                  <a:ea typeface="+mn-ea"/>
                  <a:cs typeface="+mn-cs"/>
                </a:rPr>
                <a:t>传统生活</a:t>
              </a:r>
            </a:p>
          </p:txBody>
        </p:sp>
      </p:grpSp>
      <p:grpSp>
        <p:nvGrpSpPr>
          <p:cNvPr id="31" name="why"/>
          <p:cNvGrpSpPr/>
          <p:nvPr/>
        </p:nvGrpSpPr>
        <p:grpSpPr>
          <a:xfrm>
            <a:off x="680085" y="3251200"/>
            <a:ext cx="5912575" cy="448628"/>
            <a:chOff x="680085" y="3251200"/>
            <a:chExt cx="5912575" cy="448628"/>
          </a:xfrm>
        </p:grpSpPr>
        <p:sp>
          <p:nvSpPr>
            <p:cNvPr id="29" name="TextBox 29"/>
            <p:cNvSpPr txBox="1"/>
            <p:nvPr/>
          </p:nvSpPr>
          <p:spPr>
            <a:xfrm>
              <a:off x="680085" y="3251200"/>
              <a:ext cx="5912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dirty="0">
                  <a:solidFill>
                    <a:srgbClr val="FFFFFF">
                      <a:alphaMod val="70000"/>
                    </a:srgbClr>
                  </a:solidFill>
                  <a:latin typeface="+mn-lt"/>
                  <a:ea typeface="+mn-ea"/>
                  <a:cs typeface="+mn-cs"/>
                </a:rPr>
                <a:t>Houses face the canal, bridges cross it, streets run along it, boats move on it. That chain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0085" y="3479800"/>
              <a:ext cx="5371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dirty="0">
                  <a:solidFill>
                    <a:srgbClr val="FFFFFF">
                      <a:alphaMod val="70000"/>
                    </a:srgbClr>
                  </a:solidFill>
                  <a:latin typeface="+mn-lt"/>
                  <a:ea typeface="+mn-ea"/>
                  <a:cs typeface="+mn-cs"/>
                </a:rPr>
                <a:t xml:space="preserve">is what makes Wuzhen a </a:t>
              </a:r>
              <a:r>
                <a:rPr lang="en" sz="1120" b="1" dirty="0">
                  <a:solidFill>
                    <a:srgbClr val="D9822B">
                      <a:alphaMod val="70000"/>
                    </a:srgbClr>
                  </a:solidFill>
                  <a:latin typeface="+mn-lt"/>
                  <a:ea typeface="+mn-ea"/>
                  <a:cs typeface="+mn-cs"/>
                </a:rPr>
                <a:t>water town</a:t>
              </a:r>
              <a:r>
                <a:rPr lang="en" sz="1120" dirty="0">
                  <a:solidFill>
                    <a:srgbClr val="FFFFFF">
                      <a:alphaMod val="70000"/>
                    </a:srgbClr>
                  </a:solidFill>
                  <a:latin typeface="+mn-lt"/>
                  <a:ea typeface="+mn-ea"/>
                  <a:cs typeface="+mn-cs"/>
                </a:rPr>
                <a:t xml:space="preserve"> — rather than a collection of old buildings.</a:t>
              </a:r>
            </a:p>
          </p:txBody>
        </p:sp>
      </p:grpSp>
      <p:grpSp>
        <p:nvGrpSpPr>
          <p:cNvPr id="37" name="fact-bridges"/>
          <p:cNvGrpSpPr/>
          <p:nvPr/>
        </p:nvGrpSpPr>
        <p:grpSpPr>
          <a:xfrm>
            <a:off x="666750" y="4191000"/>
            <a:ext cx="2318195" cy="2378075"/>
            <a:chOff x="666750" y="4191000"/>
            <a:chExt cx="2318195" cy="2378075"/>
          </a:xfrm>
        </p:grpSpPr>
        <p:sp>
          <p:nvSpPr>
            <p:cNvPr id="32" name="TextBox 32"/>
            <p:cNvSpPr txBox="1"/>
            <p:nvPr/>
          </p:nvSpPr>
          <p:spPr>
            <a:xfrm>
              <a:off x="681038" y="4191000"/>
              <a:ext cx="7523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spc="262" dirty="0">
                  <a:solidFill>
                    <a:srgbClr val="D9822B"/>
                  </a:solidFill>
                  <a:latin typeface="+mn-lt"/>
                  <a:ea typeface="+mn-ea"/>
                  <a:cs typeface="+mn-cs"/>
                </a:rPr>
                <a:t>FACT 02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1038" y="4533900"/>
              <a:ext cx="21077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>
                      <a:alphaMod val="50000"/>
                    </a:srgbClr>
                  </a:solidFill>
                  <a:latin typeface="+mn-lt"/>
                  <a:ea typeface="+mn-ea"/>
                  <a:cs typeface="+mn-cs"/>
                </a:rPr>
                <a:t>XIZHA · ANCIENT STONE ARCHES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6750" y="4406900"/>
              <a:ext cx="1682416" cy="21621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50" b="1" spc="-3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7418" y="5969000"/>
              <a:ext cx="13421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spc="300" dirty="0">
                  <a:solidFill>
                    <a:srgbClr val="D9822B"/>
                  </a:solidFill>
                  <a:latin typeface="+mn-lt"/>
                  <a:ea typeface="+mn-ea"/>
                  <a:cs typeface="+mn-cs"/>
                </a:rPr>
                <a:t>BRIDGES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490788" y="605790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FFF">
                      <a:alphaMod val="50000"/>
                    </a:srgbClr>
                  </a:solidFill>
                  <a:latin typeface="+mn-lt"/>
                  <a:ea typeface="+mn-ea"/>
                  <a:cs typeface="+mn-cs"/>
                </a:rPr>
                <a:t>座古石桥</a:t>
              </a:r>
            </a:p>
          </p:txBody>
        </p:sp>
      </p:grpSp>
      <p:grpSp>
        <p:nvGrpSpPr>
          <p:cNvPr id="43" name="fact-water"/>
          <p:cNvGrpSpPr/>
          <p:nvPr/>
        </p:nvGrpSpPr>
        <p:grpSpPr>
          <a:xfrm>
            <a:off x="6229350" y="4191000"/>
            <a:ext cx="3603917" cy="2232025"/>
            <a:chOff x="6229350" y="4191000"/>
            <a:chExt cx="3603917" cy="2232025"/>
          </a:xfrm>
        </p:grpSpPr>
        <p:sp>
          <p:nvSpPr>
            <p:cNvPr id="38" name="TextBox 38"/>
            <p:cNvSpPr txBox="1"/>
            <p:nvPr/>
          </p:nvSpPr>
          <p:spPr>
            <a:xfrm>
              <a:off x="6243638" y="4191000"/>
              <a:ext cx="7523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spc="262" dirty="0">
                  <a:solidFill>
                    <a:srgbClr val="D9822B"/>
                  </a:solidFill>
                  <a:latin typeface="+mn-lt"/>
                  <a:ea typeface="+mn-ea"/>
                  <a:cs typeface="+mn-cs"/>
                </a:rPr>
                <a:t>FACT 02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243638" y="4533900"/>
              <a:ext cx="184455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>
                      <a:alphaMod val="50000"/>
                    </a:srgbClr>
                  </a:solidFill>
                  <a:latin typeface="+mn-lt"/>
                  <a:ea typeface="+mn-ea"/>
                  <a:cs typeface="+mn-cs"/>
                </a:rPr>
                <a:t>XIZHA · INLAND WATERWAYS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29350" y="4660900"/>
              <a:ext cx="3603917" cy="1762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150" b="1" spc="-3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10,000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240018" y="5969000"/>
              <a:ext cx="12081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spc="300" dirty="0">
                  <a:solidFill>
                    <a:srgbClr val="D9822B"/>
                  </a:solidFill>
                  <a:latin typeface="+mn-lt"/>
                  <a:ea typeface="+mn-ea"/>
                  <a:cs typeface="+mn-cs"/>
                </a:rPr>
                <a:t>METERS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091488" y="6057900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FFF">
                      <a:alphaMod val="50000"/>
                    </a:srgbClr>
                  </a:solidFill>
                  <a:latin typeface="+mn-lt"/>
                  <a:ea typeface="+mn-ea"/>
                  <a:cs typeface="+mn-cs"/>
                </a:rPr>
                <a:t>米河道</a:t>
              </a:r>
            </a:p>
          </p:txBody>
        </p:sp>
      </p:grpSp>
      <p:grpSp>
        <p:nvGrpSpPr>
          <p:cNvPr id="45" name="attribution"/>
          <p:cNvGrpSpPr/>
          <p:nvPr/>
        </p:nvGrpSpPr>
        <p:grpSpPr>
          <a:xfrm>
            <a:off x="681038" y="6464300"/>
            <a:ext cx="3678972" cy="147638"/>
            <a:chOff x="681038" y="6464300"/>
            <a:chExt cx="3678972" cy="147638"/>
          </a:xfrm>
        </p:grpSpPr>
        <p:sp>
          <p:nvSpPr>
            <p:cNvPr id="44" name="TextBox 44"/>
            <p:cNvSpPr txBox="1"/>
            <p:nvPr/>
          </p:nvSpPr>
          <p:spPr>
            <a:xfrm>
              <a:off x="681038" y="6464300"/>
              <a:ext cx="367897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FFFFFF">
                      <a:alphaMod val="40000"/>
                    </a:srgbClr>
                  </a:solidFill>
                  <a:latin typeface="+mn-lt"/>
                  <a:ea typeface="+mn-ea"/>
                  <a:cs typeface="+mn-cs"/>
                </a:rPr>
                <a:t>All figures from the project's own research notes · 西栅有近万米河道和72座古石桥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72084" y="514350"/>
            <a:ext cx="7108966" cy="897509"/>
            <a:chOff x="672084" y="514350"/>
            <a:chExt cx="7108966" cy="897509"/>
          </a:xfrm>
        </p:grpSpPr>
        <p:sp>
          <p:nvSpPr>
            <p:cNvPr id="2" name="TextBox 2"/>
            <p:cNvSpPr txBox="1"/>
            <p:nvPr/>
          </p:nvSpPr>
          <p:spPr>
            <a:xfrm>
              <a:off x="681038" y="514350"/>
              <a:ext cx="28868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spc="375" dirty="0">
                  <a:solidFill>
                    <a:srgbClr val="D9822B"/>
                  </a:solidFill>
                  <a:latin typeface="+mn-lt"/>
                  <a:ea typeface="+mn-ea"/>
                  <a:cs typeface="+mn-cs"/>
                </a:rPr>
                <a:t>05 / 06 · PAST → PRESENT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736600"/>
              <a:ext cx="710896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700" b="1" spc="1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From daily life to cultural experience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120650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i="1" dirty="0">
                  <a:solidFill>
                    <a:srgbClr val="FFFFFF">
                      <a:alphaMod val="50000"/>
                    </a:srgbClr>
                  </a:solidFill>
                  <a:latin typeface="+mn-lt"/>
                  <a:ea typeface="+mn-ea"/>
                  <a:cs typeface="+mn-cs"/>
                </a:rPr>
                <a:t>从日常生活到文化体验</a:t>
              </a:r>
            </a:p>
          </p:txBody>
        </p:sp>
      </p:grpSp>
      <p:grpSp>
        <p:nvGrpSpPr>
          <p:cNvPr id="20" name="past"/>
          <p:cNvGrpSpPr/>
          <p:nvPr/>
        </p:nvGrpSpPr>
        <p:grpSpPr>
          <a:xfrm>
            <a:off x="685800" y="1676400"/>
            <a:ext cx="5219700" cy="3581400"/>
            <a:chOff x="685800" y="1676400"/>
            <a:chExt cx="5219700" cy="3581400"/>
          </a:xfrm>
        </p:grpSpPr>
        <p:sp>
          <p:nvSpPr>
            <p:cNvPr id="6" name="Rectangle 6"/>
            <p:cNvSpPr/>
            <p:nvPr/>
          </p:nvSpPr>
          <p:spPr>
            <a:xfrm>
              <a:off x="685800" y="1676400"/>
              <a:ext cx="5219700" cy="1752600"/>
            </a:xfrm>
            <a:prstGeom prst="rect">
              <a:avLst/>
            </a:prstGeom>
            <a:solidFill>
              <a:srgbClr val="1A1C20"/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rcRect l="0" t="27616" r="0" b="27615"/>
            <a:stretch>
              <a:fillRect/>
            </a:stretch>
          </p:blipFill>
          <p:spPr>
            <a:xfrm>
              <a:off x="685800" y="1676400"/>
              <a:ext cx="5219700" cy="175260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685800" y="1676400"/>
              <a:ext cx="5219700" cy="1752600"/>
            </a:xfrm>
            <a:prstGeom prst="rect">
              <a:avLst/>
            </a:prstGeom>
            <a:gradFill>
              <a:gsLst>
                <a:gs pos="0">
                  <a:srgbClr val="000000">
                    <a:alpha val="70000"/>
                  </a:srgbClr>
                </a:gs>
                <a:gs pos="50000">
                  <a:srgbClr val="000000">
                    <a:alpha val="10000"/>
                  </a:srgbClr>
                </a:gs>
                <a:gs pos="100000">
                  <a:srgbClr val="000000">
                    <a:alpha val="90000"/>
                  </a:srgb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71538" y="1854200"/>
              <a:ext cx="1161738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spc="225" dirty="0">
                  <a:solidFill>
                    <a:srgbClr val="FFFFFF">
                      <a:alphaMod val="80000"/>
                    </a:srgbClr>
                  </a:solidFill>
                  <a:latin typeface="+mn-lt"/>
                  <a:ea typeface="+mn-ea"/>
                  <a:cs typeface="+mn-cs"/>
                </a:rPr>
                <a:t>04 · LIFE · 生活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9442" y="2139950"/>
              <a:ext cx="27021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spc="75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LIFE HAPPENS BY WATER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1538" y="2514600"/>
              <a:ext cx="15558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>
                      <a:alphaMod val="75000"/>
                    </a:srgbClr>
                  </a:solidFill>
                  <a:latin typeface="+mn-lt"/>
                  <a:ea typeface="+mn-ea"/>
                  <a:cs typeface="+mn-cs"/>
                </a:rPr>
                <a:t>Laundry at the embankment.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71538" y="2724150"/>
              <a:ext cx="13200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>
                      <a:alphaMod val="75000"/>
                    </a:srgbClr>
                  </a:solidFill>
                  <a:latin typeface="+mn-lt"/>
                  <a:ea typeface="+mn-ea"/>
                  <a:cs typeface="+mn-cs"/>
                </a:rPr>
                <a:t>Shops, doors, footsteps.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71538" y="3098800"/>
              <a:ext cx="18749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FFFFFF">
                      <a:alphaMod val="50000"/>
                    </a:srgbClr>
                  </a:solidFill>
                  <a:latin typeface="+mn-lt"/>
                  <a:ea typeface="+mn-ea"/>
                  <a:cs typeface="+mn-cs"/>
                </a:rPr>
                <a:t>Daily life happens at the water's edge.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85800" y="3543300"/>
              <a:ext cx="5219700" cy="1714500"/>
            </a:xfrm>
            <a:prstGeom prst="rect">
              <a:avLst/>
            </a:prstGeom>
            <a:solidFill>
              <a:srgbClr val="141619"/>
            </a:solidFill>
            <a:ln w="9525">
              <a:solidFill>
                <a:srgbClr val="FFFFFF">
                  <a:alpha val="10000"/>
                </a:srgbClr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71538" y="3695700"/>
              <a:ext cx="9991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spc="262" dirty="0">
                  <a:solidFill>
                    <a:srgbClr val="D9822B"/>
                  </a:solidFill>
                  <a:latin typeface="+mn-lt"/>
                  <a:ea typeface="+mn-ea"/>
                  <a:cs typeface="+mn-cs"/>
                </a:rPr>
                <a:t>PAST · 过去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76300" y="3924300"/>
              <a:ext cx="381000" cy="14288"/>
            </a:xfrm>
            <a:prstGeom prst="rect">
              <a:avLst/>
            </a:prstGeom>
            <a:solidFill>
              <a:srgbClr val="D9822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7918" y="4064000"/>
              <a:ext cx="27312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spc="112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Boats · Transportation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67918" y="4349750"/>
              <a:ext cx="20876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spc="112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Trade · Daily Life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70585" y="4737100"/>
              <a:ext cx="17703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>
                      <a:alphaMod val="60000"/>
                    </a:srgbClr>
                  </a:solidFill>
                  <a:latin typeface="+mn-lt"/>
                  <a:ea typeface="+mn-ea"/>
                  <a:cs typeface="+mn-cs"/>
                </a:rPr>
                <a:t>船 · 交通 · 贸易 · 日常生活</a:t>
              </a:r>
            </a:p>
          </p:txBody>
        </p:sp>
      </p:grpSp>
      <p:grpSp>
        <p:nvGrpSpPr>
          <p:cNvPr id="35" name="present"/>
          <p:cNvGrpSpPr/>
          <p:nvPr/>
        </p:nvGrpSpPr>
        <p:grpSpPr>
          <a:xfrm>
            <a:off x="6362700" y="1676400"/>
            <a:ext cx="5219700" cy="3581400"/>
            <a:chOff x="6362700" y="1676400"/>
            <a:chExt cx="5219700" cy="3581400"/>
          </a:xfrm>
        </p:grpSpPr>
        <p:sp>
          <p:nvSpPr>
            <p:cNvPr id="21" name="Rectangle 21"/>
            <p:cNvSpPr/>
            <p:nvPr/>
          </p:nvSpPr>
          <p:spPr>
            <a:xfrm>
              <a:off x="6362700" y="1676400"/>
              <a:ext cx="5219700" cy="1752600"/>
            </a:xfrm>
            <a:prstGeom prst="rect">
              <a:avLst/>
            </a:prstGeom>
            <a:solidFill>
              <a:srgbClr val="1A1C20"/>
            </a:solidFill>
            <a:ln>
              <a:noFill/>
            </a:ln>
          </p:spPr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3"/>
            <a:srcRect l="0" t="27616" r="0" b="27615"/>
            <a:stretch>
              <a:fillRect/>
            </a:stretch>
          </p:blipFill>
          <p:spPr>
            <a:xfrm>
              <a:off x="6362700" y="1676400"/>
              <a:ext cx="5219700" cy="1752600"/>
            </a:xfrm>
            <a:prstGeom prst="rect">
              <a:avLst/>
            </a:prstGeom>
          </p:spPr>
        </p:pic>
        <p:sp>
          <p:nvSpPr>
            <p:cNvPr id="23" name="Rectangle 23"/>
            <p:cNvSpPr/>
            <p:nvPr/>
          </p:nvSpPr>
          <p:spPr>
            <a:xfrm>
              <a:off x="6362700" y="1676400"/>
              <a:ext cx="5219700" cy="1752600"/>
            </a:xfrm>
            <a:prstGeom prst="rect">
              <a:avLst/>
            </a:prstGeom>
            <a:gradFill>
              <a:gsLst>
                <a:gs pos="0">
                  <a:srgbClr val="000000">
                    <a:alpha val="70000"/>
                  </a:srgbClr>
                </a:gs>
                <a:gs pos="50000">
                  <a:srgbClr val="000000">
                    <a:alpha val="10000"/>
                  </a:srgbClr>
                </a:gs>
                <a:gs pos="100000">
                  <a:srgbClr val="000000">
                    <a:alpha val="90000"/>
                  </a:srgb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48438" y="1854200"/>
              <a:ext cx="116323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spc="225" dirty="0">
                  <a:solidFill>
                    <a:srgbClr val="FFFFFF">
                      <a:alphaMod val="80000"/>
                    </a:srgbClr>
                  </a:solidFill>
                  <a:latin typeface="+mn-lt"/>
                  <a:ea typeface="+mn-ea"/>
                  <a:cs typeface="+mn-cs"/>
                </a:rPr>
                <a:t>05 · NIGHT · 夜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46342" y="2139950"/>
              <a:ext cx="23072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spc="75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THE LIGHTS COME ON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548438" y="2514600"/>
              <a:ext cx="131979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>
                      <a:alphaMod val="75000"/>
                    </a:srgbClr>
                  </a:solidFill>
                  <a:latin typeface="+mn-lt"/>
                  <a:ea typeface="+mn-ea"/>
                  <a:cs typeface="+mn-cs"/>
                </a:rPr>
                <a:t>Lanterns over the water.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48438" y="2724150"/>
              <a:ext cx="16568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FFFFFF">
                      <a:alphaMod val="75000"/>
                    </a:srgbClr>
                  </a:solidFill>
                  <a:latin typeface="+mn-lt"/>
                  <a:ea typeface="+mn-ea"/>
                  <a:cs typeface="+mn-cs"/>
                </a:rPr>
                <a:t>The town darkens, then glows.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48438" y="3098800"/>
              <a:ext cx="169444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dirty="0">
                  <a:solidFill>
                    <a:srgbClr val="FFFFFF">
                      <a:alphaMod val="50000"/>
                    </a:srgbClr>
                  </a:solidFill>
                  <a:latin typeface="+mn-lt"/>
                  <a:ea typeface="+mn-ea"/>
                  <a:cs typeface="+mn-cs"/>
                </a:rPr>
                <a:t>The town darkens, lights come on.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362700" y="3543300"/>
              <a:ext cx="5219700" cy="1714500"/>
            </a:xfrm>
            <a:prstGeom prst="rect">
              <a:avLst/>
            </a:prstGeom>
            <a:solidFill>
              <a:srgbClr val="141619"/>
            </a:solidFill>
            <a:ln w="9525">
              <a:solidFill>
                <a:srgbClr val="FFFFFF">
                  <a:alpha val="10000"/>
                </a:srgbClr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48438" y="3695700"/>
              <a:ext cx="137418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spc="262" dirty="0">
                  <a:solidFill>
                    <a:srgbClr val="D9822B"/>
                  </a:solidFill>
                  <a:latin typeface="+mn-lt"/>
                  <a:ea typeface="+mn-ea"/>
                  <a:cs typeface="+mn-cs"/>
                </a:rPr>
                <a:t>PRESENT · 现在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553200" y="3924300"/>
              <a:ext cx="381000" cy="14288"/>
            </a:xfrm>
            <a:prstGeom prst="rect">
              <a:avLst/>
            </a:prstGeom>
            <a:solidFill>
              <a:srgbClr val="D9822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44818" y="4064000"/>
              <a:ext cx="26673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spc="112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Tourism · Sightseeing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44818" y="4349750"/>
              <a:ext cx="23892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spc="112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Cultural Experience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47485" y="4737100"/>
              <a:ext cx="14855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>
                      <a:alphaMod val="60000"/>
                    </a:srgbClr>
                  </a:solidFill>
                  <a:latin typeface="+mn-lt"/>
                  <a:ea typeface="+mn-ea"/>
                  <a:cs typeface="+mn-cs"/>
                </a:rPr>
                <a:t>旅游 · 观光 · 文化体验</a:t>
              </a:r>
            </a:p>
          </p:txBody>
        </p:sp>
      </p:grpSp>
      <p:grpSp>
        <p:nvGrpSpPr>
          <p:cNvPr id="37" name="connector"/>
          <p:cNvGrpSpPr/>
          <p:nvPr/>
        </p:nvGrpSpPr>
        <p:grpSpPr>
          <a:xfrm>
            <a:off x="6024182" y="3435350"/>
            <a:ext cx="238887" cy="322707"/>
            <a:chOff x="6024182" y="3435350"/>
            <a:chExt cx="238887" cy="322707"/>
          </a:xfrm>
        </p:grpSpPr>
        <p:sp>
          <p:nvSpPr>
            <p:cNvPr id="36" name="TextBox 36"/>
            <p:cNvSpPr txBox="1"/>
            <p:nvPr/>
          </p:nvSpPr>
          <p:spPr>
            <a:xfrm>
              <a:off x="6024182" y="3435350"/>
              <a:ext cx="23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D9822B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672084" y="514350"/>
            <a:ext cx="5087511" cy="750316"/>
            <a:chOff x="672084" y="514350"/>
            <a:chExt cx="5087511" cy="750316"/>
          </a:xfrm>
        </p:grpSpPr>
        <p:sp>
          <p:nvSpPr>
            <p:cNvPr id="2" name="TextBox 2"/>
            <p:cNvSpPr txBox="1"/>
            <p:nvPr/>
          </p:nvSpPr>
          <p:spPr>
            <a:xfrm>
              <a:off x="681038" y="514350"/>
              <a:ext cx="29009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b="1" spc="375" dirty="0">
                  <a:solidFill>
                    <a:srgbClr val="D9822B"/>
                  </a:solidFill>
                  <a:latin typeface="+mn-lt"/>
                  <a:ea typeface="+mn-ea"/>
                  <a:cs typeface="+mn-cs"/>
                </a:rPr>
                <a:t>06 / 06 · TEAM &amp; SOURCES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736600"/>
              <a:ext cx="508751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700" b="1" spc="1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Six members. Four weeks.</a:t>
              </a:r>
            </a:p>
          </p:txBody>
        </p:sp>
      </p:grpSp>
      <p:grpSp>
        <p:nvGrpSpPr>
          <p:cNvPr id="12" name="team-01"/>
          <p:cNvGrpSpPr/>
          <p:nvPr/>
        </p:nvGrpSpPr>
        <p:grpSpPr>
          <a:xfrm>
            <a:off x="952500" y="1695450"/>
            <a:ext cx="4062156" cy="612775"/>
            <a:chOff x="952500" y="1695450"/>
            <a:chExt cx="4062156" cy="612775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2500" y="1695450"/>
              <a:ext cx="552450" cy="552450"/>
            </a:xfrm>
            <a:prstGeom prst="rect">
              <a:avLst/>
            </a:prstGeom>
          </p:spPr>
        </p:pic>
        <p:sp>
          <p:nvSpPr>
            <p:cNvPr id="6" name="TextBox 6"/>
            <p:cNvSpPr txBox="1"/>
            <p:nvPr/>
          </p:nvSpPr>
          <p:spPr>
            <a:xfrm>
              <a:off x="1709738" y="1758950"/>
              <a:ext cx="14203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b="1" spc="150" dirty="0">
                  <a:solidFill>
                    <a:srgbClr val="D9822B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708023" y="1905000"/>
              <a:ext cx="52989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蒋盛熠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09738" y="2146300"/>
              <a:ext cx="218350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spc="75" dirty="0">
                  <a:solidFill>
                    <a:srgbClr val="FFFFFF">
                      <a:alphaMod val="50000"/>
                    </a:srgbClr>
                  </a:solidFill>
                  <a:latin typeface="+mn-lt"/>
                  <a:ea typeface="+mn-ea"/>
                  <a:cs typeface="+mn-cs"/>
                </a:rPr>
                <a:t>JIANG SHENGYI · PROJECT LEAD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386138" y="1746250"/>
              <a:ext cx="1628518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60" dirty="0">
                  <a:solidFill>
                    <a:srgbClr val="FFFFFF">
                      <a:alphaMod val="80000"/>
                    </a:srgbClr>
                  </a:solidFill>
                  <a:latin typeface="+mn-lt"/>
                  <a:ea typeface="+mn-ea"/>
                  <a:cs typeface="+mn-cs"/>
                </a:rPr>
                <a:t>Coordinated the four-week plan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386138" y="1908175"/>
              <a:ext cx="1496447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60" dirty="0">
                  <a:solidFill>
                    <a:srgbClr val="FFFFFF">
                      <a:alphaMod val="80000"/>
                    </a:srgbClr>
                  </a:solidFill>
                  <a:latin typeface="+mn-lt"/>
                  <a:ea typeface="+mn-ea"/>
                  <a:cs typeface="+mn-cs"/>
                </a:rPr>
                <a:t>and led the final presentation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386138" y="2070100"/>
              <a:ext cx="522883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60" dirty="0">
                  <a:solidFill>
                    <a:srgbClr val="FFFFFF">
                      <a:alphaMod val="80000"/>
                    </a:srgbClr>
                  </a:solidFill>
                  <a:latin typeface="+mn-lt"/>
                  <a:ea typeface="+mn-ea"/>
                  <a:cs typeface="+mn-cs"/>
                </a:rPr>
                <a:t>and Q&amp;A.</a:t>
              </a:r>
            </a:p>
          </p:txBody>
        </p:sp>
      </p:grpSp>
      <p:grpSp>
        <p:nvGrpSpPr>
          <p:cNvPr id="20" name="team-02"/>
          <p:cNvGrpSpPr/>
          <p:nvPr/>
        </p:nvGrpSpPr>
        <p:grpSpPr>
          <a:xfrm>
            <a:off x="6629400" y="1695450"/>
            <a:ext cx="4026408" cy="612775"/>
            <a:chOff x="6629400" y="1695450"/>
            <a:chExt cx="4026408" cy="612775"/>
          </a:xfrm>
        </p:grpSpPr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29400" y="1695450"/>
              <a:ext cx="552450" cy="55245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7386638" y="1758950"/>
              <a:ext cx="14203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b="1" spc="150" dirty="0">
                  <a:solidFill>
                    <a:srgbClr val="D9822B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384923" y="1905000"/>
              <a:ext cx="52989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汪瀚宇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86638" y="2146300"/>
              <a:ext cx="256537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spc="75" dirty="0">
                  <a:solidFill>
                    <a:srgbClr val="FFFFFF">
                      <a:alphaMod val="50000"/>
                    </a:srgbClr>
                  </a:solidFill>
                  <a:latin typeface="+mn-lt"/>
                  <a:ea typeface="+mn-ea"/>
                  <a:cs typeface="+mn-cs"/>
                </a:rPr>
                <a:t>WANG HANYU · RESEARCH &amp; MAPPING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63038" y="1746250"/>
              <a:ext cx="145475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60" dirty="0">
                  <a:solidFill>
                    <a:srgbClr val="FFFFFF">
                      <a:alphaMod val="80000"/>
                    </a:srgbClr>
                  </a:solidFill>
                  <a:latin typeface="+mn-lt"/>
                  <a:ea typeface="+mn-ea"/>
                  <a:cs typeface="+mn-cs"/>
                </a:rPr>
                <a:t>Traced the canal routes and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63038" y="1908175"/>
              <a:ext cx="159277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60" dirty="0">
                  <a:solidFill>
                    <a:srgbClr val="FFFFFF">
                      <a:alphaMod val="80000"/>
                    </a:srgbClr>
                  </a:solidFill>
                  <a:latin typeface="+mn-lt"/>
                  <a:ea typeface="+mn-ea"/>
                  <a:cs typeface="+mn-cs"/>
                </a:rPr>
                <a:t>surveyed the bridges, mapping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63038" y="2070100"/>
              <a:ext cx="146391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60" dirty="0">
                  <a:solidFill>
                    <a:srgbClr val="FFFFFF">
                      <a:alphaMod val="80000"/>
                    </a:srgbClr>
                  </a:solidFill>
                  <a:latin typeface="+mn-lt"/>
                  <a:ea typeface="+mn-ea"/>
                  <a:cs typeface="+mn-cs"/>
                </a:rPr>
                <a:t>how the waterways connect.</a:t>
              </a:r>
            </a:p>
          </p:txBody>
        </p:sp>
      </p:grpSp>
      <p:grpSp>
        <p:nvGrpSpPr>
          <p:cNvPr id="28" name="team-03"/>
          <p:cNvGrpSpPr/>
          <p:nvPr/>
        </p:nvGrpSpPr>
        <p:grpSpPr>
          <a:xfrm>
            <a:off x="952500" y="2647950"/>
            <a:ext cx="4097238" cy="612775"/>
            <a:chOff x="952500" y="2647950"/>
            <a:chExt cx="4097238" cy="612775"/>
          </a:xfrm>
        </p:grpSpPr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2500" y="2647950"/>
              <a:ext cx="552450" cy="552450"/>
            </a:xfrm>
            <a:prstGeom prst="rect">
              <a:avLst/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1709738" y="2711450"/>
              <a:ext cx="14203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b="1" spc="150" dirty="0">
                  <a:solidFill>
                    <a:srgbClr val="D9822B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08023" y="2857500"/>
              <a:ext cx="35758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鲁昂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09738" y="3098800"/>
              <a:ext cx="1616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spc="75" dirty="0">
                  <a:solidFill>
                    <a:srgbClr val="FFFFFF">
                      <a:alphaMod val="50000"/>
                    </a:srgbClr>
                  </a:solidFill>
                  <a:latin typeface="+mn-lt"/>
                  <a:ea typeface="+mn-ea"/>
                  <a:cs typeface="+mn-cs"/>
                </a:rPr>
                <a:t>LU ANG · DESIGN &amp; WEB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386138" y="2698750"/>
              <a:ext cx="135125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60" dirty="0">
                  <a:solidFill>
                    <a:srgbClr val="FFFFFF">
                      <a:alphaMod val="80000"/>
                    </a:srgbClr>
                  </a:solidFill>
                  <a:latin typeface="+mn-lt"/>
                  <a:ea typeface="+mn-ea"/>
                  <a:cs typeface="+mn-cs"/>
                </a:rPr>
                <a:t>Built the interactive site —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386138" y="2860675"/>
              <a:ext cx="1521616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60" dirty="0">
                  <a:solidFill>
                    <a:srgbClr val="FFFFFF">
                      <a:alphaMod val="80000"/>
                    </a:srgbClr>
                  </a:solidFill>
                  <a:latin typeface="+mn-lt"/>
                  <a:ea typeface="+mn-ea"/>
                  <a:cs typeface="+mn-cs"/>
                </a:rPr>
                <a:t>layout, motion, visual story —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386138" y="3022600"/>
              <a:ext cx="166360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60" dirty="0">
                  <a:solidFill>
                    <a:srgbClr val="FFFFFF">
                      <a:alphaMod val="80000"/>
                    </a:srgbClr>
                  </a:solidFill>
                  <a:latin typeface="+mn-lt"/>
                  <a:ea typeface="+mn-ea"/>
                  <a:cs typeface="+mn-cs"/>
                </a:rPr>
                <a:t>and managed the image credits.</a:t>
              </a:r>
            </a:p>
          </p:txBody>
        </p:sp>
      </p:grpSp>
      <p:grpSp>
        <p:nvGrpSpPr>
          <p:cNvPr id="36" name="team-04"/>
          <p:cNvGrpSpPr/>
          <p:nvPr/>
        </p:nvGrpSpPr>
        <p:grpSpPr>
          <a:xfrm>
            <a:off x="6629400" y="2647950"/>
            <a:ext cx="3939904" cy="612775"/>
            <a:chOff x="6629400" y="2647950"/>
            <a:chExt cx="3939904" cy="612775"/>
          </a:xfrm>
        </p:grpSpPr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629400" y="2647950"/>
              <a:ext cx="552450" cy="552450"/>
            </a:xfrm>
            <a:prstGeom prst="rect">
              <a:avLst/>
            </a:prstGeom>
          </p:spPr>
        </p:pic>
        <p:sp>
          <p:nvSpPr>
            <p:cNvPr id="30" name="TextBox 30"/>
            <p:cNvSpPr txBox="1"/>
            <p:nvPr/>
          </p:nvSpPr>
          <p:spPr>
            <a:xfrm>
              <a:off x="7386638" y="2711450"/>
              <a:ext cx="14203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b="1" spc="150" dirty="0">
                  <a:solidFill>
                    <a:srgbClr val="D9822B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84923" y="2857500"/>
              <a:ext cx="52989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朱钟乐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86638" y="3098800"/>
              <a:ext cx="211243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spc="75" dirty="0">
                  <a:solidFill>
                    <a:srgbClr val="FFFFFF">
                      <a:alphaMod val="50000"/>
                    </a:srgbClr>
                  </a:solidFill>
                  <a:latin typeface="+mn-lt"/>
                  <a:ea typeface="+mn-ea"/>
                  <a:cs typeface="+mn-cs"/>
                </a:rPr>
                <a:t>ZHU ZHONGLE · PHOTOGRAPHY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063038" y="2698750"/>
              <a:ext cx="1506266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60" dirty="0">
                  <a:solidFill>
                    <a:srgbClr val="FFFFFF">
                      <a:alphaMod val="80000"/>
                    </a:srgbClr>
                  </a:solidFill>
                  <a:latin typeface="+mn-lt"/>
                  <a:ea typeface="+mn-ea"/>
                  <a:cs typeface="+mn-cs"/>
                </a:rPr>
                <a:t>Shot the on-site photo tour of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63038" y="2860675"/>
              <a:ext cx="1432053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60" dirty="0">
                  <a:solidFill>
                    <a:srgbClr val="FFFFFF">
                      <a:alphaMod val="80000"/>
                    </a:srgbClr>
                  </a:solidFill>
                  <a:latin typeface="+mn-lt"/>
                  <a:ea typeface="+mn-ea"/>
                  <a:cs typeface="+mn-cs"/>
                </a:rPr>
                <a:t>the canals and bridges, and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063038" y="3022600"/>
              <a:ext cx="1344402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60" dirty="0">
                  <a:solidFill>
                    <a:srgbClr val="FFFFFF">
                      <a:alphaMod val="80000"/>
                    </a:srgbClr>
                  </a:solidFill>
                  <a:latin typeface="+mn-lt"/>
                  <a:ea typeface="+mn-ea"/>
                  <a:cs typeface="+mn-cs"/>
                </a:rPr>
                <a:t>sourced the site's images.</a:t>
              </a:r>
            </a:p>
          </p:txBody>
        </p:sp>
      </p:grpSp>
      <p:grpSp>
        <p:nvGrpSpPr>
          <p:cNvPr id="44" name="team-05"/>
          <p:cNvGrpSpPr/>
          <p:nvPr/>
        </p:nvGrpSpPr>
        <p:grpSpPr>
          <a:xfrm>
            <a:off x="952500" y="3600450"/>
            <a:ext cx="3923509" cy="612775"/>
            <a:chOff x="952500" y="3600450"/>
            <a:chExt cx="3923509" cy="612775"/>
          </a:xfrm>
        </p:grpSpPr>
        <p:pic>
          <p:nvPicPr>
            <p:cNvPr id="37" name="Image 3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52500" y="3600450"/>
              <a:ext cx="552450" cy="552450"/>
            </a:xfrm>
            <a:prstGeom prst="rect">
              <a:avLst/>
            </a:prstGeom>
          </p:spPr>
        </p:pic>
        <p:sp>
          <p:nvSpPr>
            <p:cNvPr id="38" name="TextBox 38"/>
            <p:cNvSpPr txBox="1"/>
            <p:nvPr/>
          </p:nvSpPr>
          <p:spPr>
            <a:xfrm>
              <a:off x="1709738" y="3663950"/>
              <a:ext cx="14203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b="1" spc="150" dirty="0">
                  <a:solidFill>
                    <a:srgbClr val="D9822B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708023" y="3810000"/>
              <a:ext cx="52989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沈毅程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709738" y="4051300"/>
              <a:ext cx="24317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spc="75" dirty="0">
                  <a:solidFill>
                    <a:srgbClr val="FFFFFF">
                      <a:alphaMod val="50000"/>
                    </a:srgbClr>
                  </a:solidFill>
                  <a:latin typeface="+mn-lt"/>
                  <a:ea typeface="+mn-ea"/>
                  <a:cs typeface="+mn-cs"/>
                </a:rPr>
                <a:t>SHEN YICHENG · COPY &amp; RESEARCH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386138" y="3651250"/>
              <a:ext cx="1313013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60" dirty="0">
                  <a:solidFill>
                    <a:srgbClr val="FFFFFF">
                      <a:alphaMod val="80000"/>
                    </a:srgbClr>
                  </a:solidFill>
                  <a:latin typeface="+mn-lt"/>
                  <a:ea typeface="+mn-ea"/>
                  <a:cs typeface="+mn-cs"/>
                </a:rPr>
                <a:t>Wrote the on-screen text,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386138" y="3813175"/>
              <a:ext cx="148987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60" dirty="0">
                  <a:solidFill>
                    <a:srgbClr val="FFFFFF">
                      <a:alphaMod val="80000"/>
                    </a:srgbClr>
                  </a:solidFill>
                  <a:latin typeface="+mn-lt"/>
                  <a:ea typeface="+mn-ea"/>
                  <a:cs typeface="+mn-cs"/>
                </a:rPr>
                <a:t>checked the bridge facts and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386138" y="3975100"/>
              <a:ext cx="104539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60" dirty="0">
                  <a:solidFill>
                    <a:srgbClr val="FFFFFF">
                      <a:alphaMod val="80000"/>
                    </a:srgbClr>
                  </a:solidFill>
                  <a:latin typeface="+mn-lt"/>
                  <a:ea typeface="+mn-ea"/>
                  <a:cs typeface="+mn-cs"/>
                </a:rPr>
                <a:t>history for accuracy.</a:t>
              </a:r>
            </a:p>
          </p:txBody>
        </p:sp>
      </p:grpSp>
      <p:grpSp>
        <p:nvGrpSpPr>
          <p:cNvPr id="52" name="team-06"/>
          <p:cNvGrpSpPr/>
          <p:nvPr/>
        </p:nvGrpSpPr>
        <p:grpSpPr>
          <a:xfrm>
            <a:off x="6629400" y="3600450"/>
            <a:ext cx="3872082" cy="612775"/>
            <a:chOff x="6629400" y="3600450"/>
            <a:chExt cx="3872082" cy="612775"/>
          </a:xfrm>
        </p:grpSpPr>
        <p:pic>
          <p:nvPicPr>
            <p:cNvPr id="45" name="Image 4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629400" y="3600450"/>
              <a:ext cx="552450" cy="552450"/>
            </a:xfrm>
            <a:prstGeom prst="rect">
              <a:avLst/>
            </a:prstGeom>
          </p:spPr>
        </p:pic>
        <p:sp>
          <p:nvSpPr>
            <p:cNvPr id="46" name="TextBox 46"/>
            <p:cNvSpPr txBox="1"/>
            <p:nvPr/>
          </p:nvSpPr>
          <p:spPr>
            <a:xfrm>
              <a:off x="7386638" y="3663950"/>
              <a:ext cx="14203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b="1" spc="150" dirty="0">
                  <a:solidFill>
                    <a:srgbClr val="D9822B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84923" y="3810000"/>
              <a:ext cx="52989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沈煜程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86638" y="4051300"/>
              <a:ext cx="209297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20" spc="75" dirty="0">
                  <a:solidFill>
                    <a:srgbClr val="FFFFFF">
                      <a:alphaMod val="50000"/>
                    </a:srgbClr>
                  </a:solidFill>
                  <a:latin typeface="+mn-lt"/>
                  <a:ea typeface="+mn-ea"/>
                  <a:cs typeface="+mn-cs"/>
                </a:rPr>
                <a:t>SHEN YUCHENG · PRODUCTION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063038" y="3651250"/>
              <a:ext cx="1370737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60" dirty="0">
                  <a:solidFill>
                    <a:srgbClr val="FFFFFF">
                      <a:alphaMod val="80000"/>
                    </a:srgbClr>
                  </a:solidFill>
                  <a:latin typeface="+mn-lt"/>
                  <a:ea typeface="+mn-ea"/>
                  <a:cs typeface="+mn-cs"/>
                </a:rPr>
                <a:t>Ran the weekly checklists,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063038" y="3813175"/>
              <a:ext cx="143844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60" dirty="0">
                  <a:solidFill>
                    <a:srgbClr val="FFFFFF">
                      <a:alphaMod val="80000"/>
                    </a:srgbClr>
                  </a:solidFill>
                  <a:latin typeface="+mn-lt"/>
                  <a:ea typeface="+mn-ea"/>
                  <a:cs typeface="+mn-cs"/>
                </a:rPr>
                <a:t>prepared the slides, and did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063038" y="3975100"/>
              <a:ext cx="813917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860" dirty="0">
                  <a:solidFill>
                    <a:srgbClr val="FFFFFF">
                      <a:alphaMod val="80000"/>
                    </a:srgbClr>
                  </a:solidFill>
                  <a:latin typeface="+mn-lt"/>
                  <a:ea typeface="+mn-ea"/>
                  <a:cs typeface="+mn-cs"/>
                </a:rPr>
                <a:t>the final review.</a:t>
              </a:r>
            </a:p>
          </p:txBody>
        </p:sp>
      </p:grpSp>
      <p:grpSp>
        <p:nvGrpSpPr>
          <p:cNvPr id="58" name="closing"/>
          <p:cNvGrpSpPr/>
          <p:nvPr/>
        </p:nvGrpSpPr>
        <p:grpSpPr>
          <a:xfrm>
            <a:off x="672846" y="4572000"/>
            <a:ext cx="5254486" cy="1336675"/>
            <a:chOff x="672846" y="4572000"/>
            <a:chExt cx="5254486" cy="1336675"/>
          </a:xfrm>
        </p:grpSpPr>
        <p:sp>
          <p:nvSpPr>
            <p:cNvPr id="53" name="Rectangle 53"/>
            <p:cNvSpPr/>
            <p:nvPr/>
          </p:nvSpPr>
          <p:spPr>
            <a:xfrm>
              <a:off x="685800" y="4572000"/>
              <a:ext cx="571500" cy="28575"/>
            </a:xfrm>
            <a:prstGeom prst="rect">
              <a:avLst/>
            </a:prstGeom>
            <a:solidFill>
              <a:srgbClr val="D9822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72846" y="4654550"/>
              <a:ext cx="451991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5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Water connects everything.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78180" y="511810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>
                      <a:alphaMod val="70000"/>
                    </a:srgbClr>
                  </a:solidFill>
                  <a:latin typeface="+mn-lt"/>
                  <a:ea typeface="+mn-ea"/>
                  <a:cs typeface="+mn-cs"/>
                </a:rPr>
                <a:t>水，把一切连接起来。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80847" y="5511800"/>
              <a:ext cx="524648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FFFFFF">
                      <a:alphaMod val="55000"/>
                    </a:srgbClr>
                  </a:solidFill>
                  <a:latin typeface="+mn-lt"/>
                  <a:ea typeface="+mn-ea"/>
                  <a:cs typeface="+mn-cs"/>
                </a:rPr>
                <a:t>Water connects the town, supports traditional life, and gives Wuzhen its unique character.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81038" y="5746750"/>
              <a:ext cx="354195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FFFFFF">
                      <a:alphaMod val="40000"/>
                    </a:srgbClr>
                  </a:solidFill>
                  <a:latin typeface="+mn-lt"/>
                  <a:ea typeface="+mn-ea"/>
                  <a:cs typeface="+mn-cs"/>
                </a:rPr>
                <a:t>在乌镇，水并不只是风景的一部分。它连接着古镇，也支撑着传统生活。</a:t>
              </a:r>
            </a:p>
          </p:txBody>
        </p:sp>
      </p:grpSp>
      <p:grpSp>
        <p:nvGrpSpPr>
          <p:cNvPr id="63" name="sources"/>
          <p:cNvGrpSpPr/>
          <p:nvPr/>
        </p:nvGrpSpPr>
        <p:grpSpPr>
          <a:xfrm>
            <a:off x="681038" y="6057900"/>
            <a:ext cx="10825162" cy="592138"/>
            <a:chOff x="681038" y="6057900"/>
            <a:chExt cx="10825162" cy="592138"/>
          </a:xfrm>
        </p:grpSpPr>
        <p:sp>
          <p:nvSpPr>
            <p:cNvPr id="59" name="Rectangle 59"/>
            <p:cNvSpPr/>
            <p:nvPr/>
          </p:nvSpPr>
          <p:spPr>
            <a:xfrm>
              <a:off x="685800" y="6057900"/>
              <a:ext cx="10820400" cy="9525"/>
            </a:xfrm>
            <a:prstGeom prst="rect">
              <a:avLst/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81038" y="6159500"/>
              <a:ext cx="5685008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50" spc="112" dirty="0">
                  <a:solidFill>
                    <a:srgbClr val="FFFFFF">
                      <a:alphaMod val="45000"/>
                    </a:srgbClr>
                  </a:solidFill>
                  <a:latin typeface="+mn-lt"/>
                  <a:ea typeface="+mn-ea"/>
                  <a:cs typeface="+mn-cs"/>
                </a:rPr>
                <a:t>SOURCES · ALL PHOTOGRAPHS FROM WIKIMEDIA COMMONS · CC0 / CC BY / CC BY-SA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81038" y="6330950"/>
              <a:ext cx="389109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FFFFFF">
                      <a:alphaMod val="40000"/>
                    </a:srgbClr>
                  </a:solidFill>
                  <a:latin typeface="+mn-lt"/>
                  <a:ea typeface="+mn-ea"/>
                  <a:cs typeface="+mn-cs"/>
                </a:rPr>
                <a:t>PHOTOGRAPHERS · 韩笃一 · Immanuel Giel · Jakub Hałun · Gerbil · Nico le terrible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81038" y="6502400"/>
              <a:ext cx="4391848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FFFFFF">
                      <a:alphaMod val="40000"/>
                    </a:srgbClr>
                  </a:solidFill>
                  <a:latin typeface="+mn-lt"/>
                  <a:ea typeface="+mn-ea"/>
                  <a:cs typeface="+mn-cs"/>
                </a:rPr>
                <a:t>Sastognuti · N509FZ · ChinaUli2010 · 907班 90706 · WUZHEN — WATERWAYS &amp; BRIDGES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wuzhen_waterways">
  <a:themeElements>
    <a:clrScheme name="wuzhen_waterway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wuzhen_waterways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uzhen_waterway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en</dc:language>
  <cp:lastModifiedBy/>
  <cp:revision>1</cp:revision>
  <dcterms:created xsi:type="dcterms:W3CDTF">2026-10-06T13:10:29Z</dcterms:created>
  <dcterms:modified xsi:type="dcterms:W3CDTF">2026-10-06T13:10:29Z</dcterms:modified>
  <cp:category/>
  <cp:contentStatus/>
</cp:coreProperties>
</file>