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554480"/>
            <a:ext cx="822960" cy="3810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D7AD69"/>
                </a:solidFill>
                <a:latin typeface="Arial"/>
              </a:rPr>
              <a:t>GROUP 907  ·  NINTH-GRADE ENGLISH PBL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200" b="0">
                <a:solidFill>
                  <a:srgbClr val="F5F0E3"/>
                </a:solidFill>
                <a:latin typeface="Georgia"/>
              </a:rPr>
              <a:t>WUZHEN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D7AD69"/>
                </a:solidFill>
                <a:latin typeface="Georgia"/>
              </a:rPr>
              <a:t>Waterways &amp; Bridges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E8E5DC"/>
                </a:solidFill>
                <a:latin typeface="Georgia"/>
              </a:rPr>
              <a:t>Why is water the main line of the ancient town?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983480"/>
            <a:ext cx="2194560" cy="2540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JIANG SHENGYI · WANG HANYU · LU ANG · ZHU ZHONGLE · SHEN YICHENG · SHEN YUCHENG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THE CORE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我们最初的问题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42634"/>
                </a:solidFill>
                <a:latin typeface="Georgia"/>
              </a:rPr>
              <a:t>Why is water the main line of the ancient town?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14600"/>
            <a:ext cx="5486400" cy="146304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D7AD69"/>
                </a:solidFill>
                <a:latin typeface="Georgia"/>
              </a:rPr>
              <a:t>It is the 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089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3A48"/>
                </a:solidFill>
                <a:latin typeface="Georgia"/>
              </a:rPr>
              <a:t>Canals came before streets. To cross town you walked the embankment or took a boat — the water was the road of daily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514600"/>
            <a:ext cx="5486400" cy="146304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697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D7AD69"/>
                </a:solidFill>
                <a:latin typeface="Georgia"/>
              </a:rPr>
              <a:t>It is home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1089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3A48"/>
                </a:solidFill>
                <a:latin typeface="Georgia"/>
              </a:rPr>
              <a:t>Clothes were washed, boats were tied, neighbours met at the water's edge. Life happened by the water, for a thousand mornings.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160520"/>
            <a:ext cx="5486400" cy="146304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D7AD69"/>
                </a:solidFill>
                <a:latin typeface="Georgia"/>
              </a:rPr>
              <a:t>It is the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5488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3A48"/>
                </a:solidFill>
                <a:latin typeface="Georgia"/>
              </a:rPr>
              <a:t>The town kept its shape around the canals. Houses face the water; bridges decide where the town meets itself.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4160520"/>
            <a:ext cx="5486400" cy="146304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343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D7AD69"/>
                </a:solidFill>
                <a:latin typeface="Georgia"/>
              </a:rPr>
              <a:t>It is the 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5488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3A48"/>
                </a:solidFill>
                <a:latin typeface="Georgia"/>
              </a:rPr>
              <a:t>Lanterns on the water at dusk — the town darkens, then glows. Reflections are Wuzhen's signature sight.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三条关键事实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20624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371600"/>
            <a:ext cx="4206240" cy="4480560"/>
          </a:xfrm>
          <a:prstGeom prst="rect">
            <a:avLst/>
          </a:prstGeom>
          <a:noFill/>
          <a:ln w="1905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90296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A canal carries the whole town.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6304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D7AD69"/>
                </a:solidFill>
                <a:latin typeface="Georgia"/>
              </a:rPr>
              <a:t>≈ 10,000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5087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of waterways in Xizha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847088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The canal system runs nearly ten kilometres through the old town.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633472"/>
            <a:ext cx="6583680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88036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D7AD69"/>
                </a:solidFill>
                <a:latin typeface="Georgia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9260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ancient stone bridges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3264408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Stone arches link the two banks; a boat ducks beneath them on the way through.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4050792"/>
            <a:ext cx="6583680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429768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D7AD69"/>
                </a:solidFill>
                <a:latin typeface="Georgia"/>
              </a:rPr>
              <a:t>Cross-shaped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43434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water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681728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The inner canals form a cross that divides the town into zones, connected by water.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5468112"/>
            <a:ext cx="6583680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WHY WATER?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水如何连接一切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2560320" cy="566928"/>
          </a:xfrm>
          <a:prstGeom prst="rect">
            <a:avLst/>
          </a:prstGeom>
          <a:solidFill>
            <a:srgbClr val="D7AD69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060F1A"/>
                </a:solidFill>
                <a:latin typeface="Arial"/>
              </a:rPr>
              <a:t>WATER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06040"/>
            <a:ext cx="2560320" cy="566928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0604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CONNECTS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611880"/>
            <a:ext cx="1078992" cy="566928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10789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HOUSES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55064" y="3611880"/>
            <a:ext cx="1078992" cy="566928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3611880"/>
            <a:ext cx="10789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BRIDGES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07208" y="3611880"/>
            <a:ext cx="1078992" cy="566928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7208" y="3611880"/>
            <a:ext cx="10789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STREETS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59352" y="3611880"/>
            <a:ext cx="1078992" cy="566928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9352" y="3611880"/>
            <a:ext cx="10789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PEOPLE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11496" y="3611880"/>
            <a:ext cx="1078992" cy="566928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611880"/>
            <a:ext cx="10789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142634"/>
                </a:solidFill>
                <a:latin typeface="Arial"/>
              </a:rPr>
              <a:t>BOATS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17720"/>
            <a:ext cx="2560320" cy="566928"/>
          </a:xfrm>
          <a:prstGeom prst="rect">
            <a:avLst/>
          </a:prstGeom>
          <a:solidFill>
            <a:srgbClr val="D7AD69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6177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060F1A"/>
                </a:solidFill>
                <a:latin typeface="Arial"/>
              </a:rPr>
              <a:t>TRADITIONAL LIFE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1645920" y="2148840"/>
            <a:ext cx="182880" cy="292608"/>
          </a:xfrm>
          <a:prstGeom prst="downArrow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wn Arrow 22"/>
          <p:cNvSpPr/>
          <p:nvPr/>
        </p:nvSpPr>
        <p:spPr>
          <a:xfrm>
            <a:off x="1645920" y="3246120"/>
            <a:ext cx="182880" cy="292608"/>
          </a:xfrm>
          <a:prstGeom prst="downArrow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1645920" y="4251960"/>
            <a:ext cx="182880" cy="292608"/>
          </a:xfrm>
          <a:prstGeom prst="downArrow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54480"/>
            <a:ext cx="3657600" cy="237744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206240" y="1554480"/>
            <a:ext cx="3657600" cy="2377440"/>
          </a:xfrm>
          <a:prstGeom prst="rect">
            <a:avLst/>
          </a:prstGeom>
          <a:noFill/>
          <a:ln w="1905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39827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Stone arches: a crossing, and a view.</a:t>
            </a:r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79" y="1554480"/>
            <a:ext cx="3502152" cy="23774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183879" y="1554480"/>
            <a:ext cx="3502152" cy="2377440"/>
          </a:xfrm>
          <a:prstGeom prst="rect">
            <a:avLst/>
          </a:prstGeom>
          <a:noFill/>
          <a:ln w="1905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982720"/>
            <a:ext cx="3502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Lanterns over the water at dusk.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4709160"/>
            <a:ext cx="7479792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48920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D7AD69"/>
                </a:solidFill>
                <a:latin typeface="Georgia"/>
              </a:rPr>
              <a:t>“Water is the main line of the town.”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5440680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B3A48"/>
                </a:solidFill>
                <a:latin typeface="Georgia"/>
              </a:rPr>
              <a:t>If the canals were blocked, the town would lose its shape, its road and its image all at once.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KEYWORDS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关键词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800" b="1">
                <a:solidFill>
                  <a:srgbClr val="D7AD69"/>
                </a:solidFill>
                <a:latin typeface="Georgia"/>
              </a:rPr>
              <a:t>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585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920240"/>
            <a:ext cx="2743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42634"/>
                </a:solidFill>
                <a:latin typeface="Georgia"/>
              </a:rPr>
              <a:t>BRIDGES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7860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00200"/>
            <a:ext cx="32918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7AD69"/>
                </a:solidFill>
                <a:latin typeface="Georgia"/>
              </a:rPr>
              <a:t>CANAL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2585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水道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2900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142634"/>
                </a:solidFill>
                <a:latin typeface="Georgia"/>
              </a:rPr>
              <a:t>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873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生活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108960"/>
            <a:ext cx="2743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7AD69"/>
                </a:solidFill>
                <a:latin typeface="Georgia"/>
              </a:rPr>
              <a:t>BOATS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673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474720"/>
            <a:ext cx="32918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142634"/>
                </a:solidFill>
                <a:latin typeface="Georgia"/>
              </a:rPr>
              <a:t>NIGHT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413308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0060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7AD69"/>
                </a:solidFill>
                <a:latin typeface="Georgia"/>
              </a:rPr>
              <a:t>REFLECTION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54589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倒影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937760"/>
            <a:ext cx="3657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142634"/>
                </a:solidFill>
                <a:latin typeface="Georgia"/>
              </a:rPr>
              <a:t>WATER TOWN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59612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8A9AA8"/>
                </a:solidFill>
                <a:latin typeface="Microsoft YaHei"/>
              </a:rPr>
              <a:t>水乡古镇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六个章节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71907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WATER 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2140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Canals run through every corner — the roads, and still 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46304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66420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59" y="171907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BRIDGES 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59" y="212140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Stone arches, low steps: a crossing, and a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1752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1868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7355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BOATS 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67588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The wupeng slips under low arches; the water is the line it is written 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301752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321868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327355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LIFE 生活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59" y="367588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Laundry at the embankment, shops and footsteps — ordinary life repeated.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7200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77316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8280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NIGHT 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23036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Lanterns over the water; the town darkens, then glows.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59" y="4572000"/>
            <a:ext cx="5394960" cy="13716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477316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59" y="48280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2634"/>
                </a:solidFill>
                <a:latin typeface="Arial"/>
              </a:rPr>
              <a:t>MEMORY 记忆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59" y="523036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3A48"/>
                </a:solidFill>
                <a:latin typeface="Georgia"/>
              </a:rPr>
              <a:t>A place shaped by water — the answer, simply by watching it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OUR ENGLISH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60–80 词英文导览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67665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5F0E3"/>
                </a:solidFill>
                <a:latin typeface="Georgia"/>
              </a:rPr>
              <a:t>Wuzhen is a water town in Zhejiang, where the canals came first and the streets came later. Boats still cross its 72 stone bridges, and houses face the water the way they did a thousand years ago. Lanterns and reflections make the evening a second sightseeing tour. If you love quiet canals, old stone and a living old town, come — and take a boat with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0"/>
            <a:ext cx="2926080" cy="2540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6235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D7AD69"/>
                </a:solidFill>
                <a:latin typeface="Arial"/>
              </a:rPr>
              <a:t>≈ 72 words  ·  in the 60–80 range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25880"/>
            <a:ext cx="4005072" cy="35661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680960" y="1325880"/>
            <a:ext cx="4005072" cy="3566160"/>
          </a:xfrm>
          <a:prstGeom prst="rect">
            <a:avLst/>
          </a:prstGeom>
          <a:noFill/>
          <a:ln w="1905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942840"/>
            <a:ext cx="4005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Wuzhen at night — lanterns over the water.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给听众的互动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142634"/>
                </a:solidFill>
                <a:latin typeface="Georgia"/>
              </a:rPr>
              <a:t>A question for the room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94560"/>
            <a:ext cx="3520440" cy="27432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D7AD69"/>
                </a:solidFill>
                <a:latin typeface="Arial"/>
              </a:rPr>
              <a:t>YOUR 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08960"/>
            <a:ext cx="3017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42634"/>
                </a:solidFill>
                <a:latin typeface="Georgia"/>
              </a:rPr>
              <a:t>Can you spot where water still runs the town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194560"/>
            <a:ext cx="3520440" cy="27432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5146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D7AD69"/>
                </a:solidFill>
                <a:latin typeface="Arial"/>
              </a:rPr>
              <a:t>IN ENGLISH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08960"/>
            <a:ext cx="3017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42634"/>
                </a:solidFill>
                <a:latin typeface="Georgia"/>
              </a:rPr>
              <a:t>“Visit Wuzhen by boat — the water is the road.”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2194560"/>
            <a:ext cx="3520440" cy="274320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5146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D7AD69"/>
                </a:solidFill>
                <a:latin typeface="Arial"/>
              </a:rPr>
              <a:t>DISCUSS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108960"/>
            <a:ext cx="3017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42634"/>
                </a:solidFill>
                <a:latin typeface="Georgia"/>
              </a:rPr>
              <a:t>If the canals were blocked, what would Wuzhen lose?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SHOW-DAY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展示日分工（5 角色）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520440" cy="173736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2634"/>
                </a:solidFill>
                <a:latin typeface="Microsoft YaHei"/>
              </a:rPr>
              <a:t>开场负责人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7AD69"/>
                </a:solidFill>
                <a:latin typeface="Arial"/>
              </a:rPr>
              <a:t>Opening · 蒋盛熠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Introduce the group &amp; the theme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463040"/>
            <a:ext cx="3520440" cy="173736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6420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2634"/>
                </a:solidFill>
                <a:latin typeface="Microsoft YaHei"/>
              </a:rPr>
              <a:t>文化讲解员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1284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7AD69"/>
                </a:solidFill>
                <a:latin typeface="Arial"/>
              </a:rPr>
              <a:t>Culture · 汪瀚宇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5176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Findings &amp; the hometown link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463040"/>
            <a:ext cx="3520440" cy="173736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66420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2634"/>
                </a:solidFill>
                <a:latin typeface="Microsoft YaHei"/>
              </a:rPr>
              <a:t>英文推荐员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1284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7AD69"/>
                </a:solidFill>
                <a:latin typeface="Arial"/>
              </a:rPr>
              <a:t>English · 沈毅程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65176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The 60–90 s live guide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29000"/>
            <a:ext cx="3520440" cy="173736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3016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2634"/>
                </a:solidFill>
                <a:latin typeface="Microsoft YaHei"/>
              </a:rPr>
              <a:t>PPT操作员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17880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7AD69"/>
                </a:solidFill>
                <a:latin typeface="Arial"/>
              </a:rPr>
              <a:t>Slides · 鲁昂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Pacing &amp; page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429000"/>
            <a:ext cx="3520440" cy="1737360"/>
          </a:xfrm>
          <a:prstGeom prst="rect">
            <a:avLst/>
          </a:prstGeom>
          <a:solidFill>
            <a:srgbClr val="E8E5DC"/>
          </a:solidFill>
          <a:ln w="12700">
            <a:solidFill>
              <a:srgbClr val="D7AD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63016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2634"/>
                </a:solidFill>
                <a:latin typeface="Microsoft YaHei"/>
              </a:rPr>
              <a:t>互动负责人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17880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7AD69"/>
                </a:solidFill>
                <a:latin typeface="Arial"/>
              </a:rPr>
              <a:t>Interaction · 沈煜程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B3A48"/>
                </a:solidFill>
                <a:latin typeface="Georgia"/>
              </a:rPr>
              <a:t>The question &amp; the vote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D7AD69"/>
                </a:solidFill>
                <a:latin typeface="Georgia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9AA8"/>
                </a:solidFill>
                <a:latin typeface="Arial"/>
              </a:rPr>
              <a:t>SOURCES &amp;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713232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8A9AA8"/>
                </a:solidFill>
                <a:latin typeface="Microsoft YaHei"/>
              </a:rPr>
              <a:t>资料来源与致谢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83112" cy="13970"/>
          </a:xfrm>
          <a:prstGeom prst="rect">
            <a:avLst/>
          </a:prstGeom>
          <a:solidFill>
            <a:srgbClr val="E8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5F0E3"/>
                </a:solidFill>
                <a:latin typeface="Georgia"/>
              </a:rPr>
              <a:t>Everything on these slides is sourced.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2194560" cy="3175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514600"/>
            <a:ext cx="11155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E8E5DC"/>
                </a:solidFill>
                <a:latin typeface="Georgia"/>
              </a:rPr>
              <a:t>Facts — Xizha canal length, 72 stone bridges, and the cross-shaped water system: public Wuzhen heritage material, cited on the project site's Image Sources &amp; Licensing page.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E8E5DC"/>
                </a:solidFill>
                <a:latin typeface="Georgia"/>
              </a:rPr>
              <a:t>Images — aerial and field photographs taken on site by the group; each carries its own credit. No stock imagery.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709160"/>
            <a:ext cx="4114800" cy="2540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D7AD69"/>
                </a:solidFill>
                <a:latin typeface="Georgia"/>
              </a:rPr>
              <a:t>Water connects everything.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F5F0E3"/>
                </a:solidFill>
                <a:latin typeface="Microsoft YaHei"/>
              </a:rPr>
              <a:t>水，把一切连接起来。  ·  谢谢 / Thank you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83112" cy="17780"/>
          </a:xfrm>
          <a:prstGeom prst="rect">
            <a:avLst/>
          </a:prstGeom>
          <a:solidFill>
            <a:srgbClr val="D7A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A9AA8"/>
                </a:solidFill>
                <a:latin typeface="Arial"/>
              </a:rPr>
              <a:t>907G6  ·  WUZHEN WATERWAYS &amp; BRIDGES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261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1">
                <a:solidFill>
                  <a:srgbClr val="D7AD69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