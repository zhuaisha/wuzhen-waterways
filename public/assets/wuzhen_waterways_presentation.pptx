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· ~45 s. Open on the hero. Say 'Wuzhen. Waterways and Bridges.' Hold on the question: 'Why is water the main line of the ancient town? That is what we spent four weeks answering.'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· ~90 s. Walk the three data lines left to right: nearly ten thousand metres of canals, 72 ancient stone bridges, and a cross-shaped water system. Point at the canal photo on the right — 'the water came first; the town grew around 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· ~90 s. Follow the gold line from PAST to PRESENT through WATER. PAST: boats, transport, trade, daily life. PRESENT: tourism, sightseeing, cultural experience. The same water that once moved goods now moves visitors.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· ~90 s. This is our live English guide — 72 words we can actually say out loud. Read it naturally. Let the five keyword chips (Water, Bridges, Boats, Life, Night) light up as you move through the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· ~60 s. Introduce the six of us, one line each, following the avatar numbers 01 to 06 above the group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· ~30 s. End on 'Water connects everything.' and hold the closing question: 'Why is water the main line of Wuzhen?' Then thank the class. Sources are listed at the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Relationship Id="rId8" Type="http://schemas.openxmlformats.org/officeDocument/2006/relationships/image" Target="../media/image10.jpg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>
            <a:alphaModFix>
              <a:alpha val="70000"/>
            </a:alphaModFix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258000"/>
            <a:ext cx="12192000" cy="1600000"/>
          </a:xfrm>
          <a:prstGeom prst="rect">
            <a:avLst/>
          </a:prstGeom>
          <a:solidFill>
            <a:srgbClr val="071525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0"/>
            <a:ext cx="10058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800" b="0">
                <a:solidFill>
                  <a:srgbClr val="F5F2EA"/>
                </a:solidFill>
                <a:latin typeface="Georgia"/>
              </a:rPr>
              <a:t>WUZHEN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416052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spc="300">
                <a:solidFill>
                  <a:srgbClr val="D9A85B"/>
                </a:solidFill>
                <a:latin typeface="Georgia"/>
              </a:rPr>
              <a:t>WATERWAYS  &amp;  BRIDGES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9377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B9C6D2"/>
                </a:solidFill>
                <a:latin typeface="Georgia"/>
              </a:rPr>
              <a:t>WHY IS WATER THE MAIN LINE OF THE ANCIENT TOWN?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300">
                <a:solidFill>
                  <a:srgbClr val="8C9BA9"/>
                </a:solidFill>
                <a:latin typeface="Arial"/>
              </a:rPr>
              <a:t>GRADE 9  ·  ENGLISH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355080"/>
            <a:ext cx="47823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spc="300">
                <a:solidFill>
                  <a:srgbClr val="8C9BA9"/>
                </a:solidFill>
                <a:latin typeface="Arial"/>
              </a:rPr>
              <a:t>WUZHEN  ·  TONGXIANG  ·  ZHEJIANG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7448" y="58704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spc="400">
                <a:solidFill>
                  <a:srgbClr val="D9A85B"/>
                </a:solidFill>
                <a:latin typeface="Arial"/>
              </a:rPr>
              <a:t>LET'S  EXPLORE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9A85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9768"/>
            <a:ext cx="7772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400">
                <a:solidFill>
                  <a:srgbClr val="8C9BA9"/>
                </a:solidFill>
                <a:latin typeface="Arial"/>
              </a:rPr>
              <a:t>COVER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841248"/>
            <a:ext cx="11091672" cy="0"/>
          </a:xfrm>
          <a:prstGeom prst="line">
            <a:avLst/>
          </a:prstGeom>
          <a:ln w="10160">
            <a:solidFill>
              <a:srgbClr val="0D24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48640" y="841248"/>
            <a:ext cx="0" cy="0"/>
          </a:xfrm>
          <a:prstGeom prst="line">
            <a:avLst/>
          </a:prstGeom>
          <a:ln w="15240">
            <a:solidFill>
              <a:srgbClr val="D9A8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326880" y="457200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spc="200">
                <a:solidFill>
                  <a:srgbClr val="8C9BA9"/>
                </a:solidFill>
                <a:latin typeface="Arial"/>
              </a:rPr>
              <a:t>30.7°N 120.4°E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6510528"/>
            <a:ext cx="37764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8C9BA9"/>
                </a:solidFill>
                <a:latin typeface="Arial"/>
              </a:rPr>
              <a:t>Photo: 韩笃一 · CC BY-SA 3.0 · hero · Wuzhen Xizha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9A85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29768"/>
            <a:ext cx="7772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400">
                <a:solidFill>
                  <a:srgbClr val="8C9BA9"/>
                </a:solidFill>
                <a:latin typeface="Arial"/>
              </a:rPr>
              <a:t>WHAT WE FOUND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841248"/>
            <a:ext cx="11091672" cy="0"/>
          </a:xfrm>
          <a:prstGeom prst="line">
            <a:avLst/>
          </a:prstGeom>
          <a:ln w="10160">
            <a:solidFill>
              <a:srgbClr val="0D24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841248"/>
            <a:ext cx="1848612" cy="0"/>
          </a:xfrm>
          <a:prstGeom prst="line">
            <a:avLst/>
          </a:prstGeom>
          <a:ln w="15240">
            <a:solidFill>
              <a:srgbClr val="D9A8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326880" y="457200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spc="200">
                <a:solidFill>
                  <a:srgbClr val="8C9BA9"/>
                </a:solidFill>
                <a:latin typeface="Arial"/>
              </a:rPr>
              <a:t>XIZHA WATERWAYS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5F2EA"/>
                </a:solidFill>
                <a:latin typeface="Georgia"/>
              </a:rPr>
              <a:t>WATER SHAPES WUZHEN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spc="300">
                <a:solidFill>
                  <a:srgbClr val="D9A85B"/>
                </a:solidFill>
                <a:latin typeface="Arial"/>
              </a:rPr>
              <a:t>01  WATER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291840"/>
            <a:ext cx="3794760" cy="0"/>
          </a:xfrm>
          <a:prstGeom prst="line">
            <a:avLst/>
          </a:prstGeom>
          <a:ln w="10160">
            <a:solidFill>
              <a:srgbClr val="0D24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29000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D9A85B"/>
                </a:solidFill>
                <a:latin typeface="Georgia"/>
              </a:rPr>
              <a:t>≈ 10,000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356616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00">
                <a:solidFill>
                  <a:srgbClr val="F5F2EA"/>
                </a:solidFill>
                <a:latin typeface="Arial"/>
              </a:rPr>
              <a:t>METERS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840480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C9BA9"/>
                </a:solidFill>
                <a:latin typeface="Georgia"/>
              </a:rPr>
              <a:t>of waterways run through Xizha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343400"/>
            <a:ext cx="3794760" cy="0"/>
          </a:xfrm>
          <a:prstGeom prst="line">
            <a:avLst/>
          </a:prstGeom>
          <a:ln w="10160">
            <a:solidFill>
              <a:srgbClr val="0D24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480560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D9A85B"/>
                </a:solidFill>
                <a:latin typeface="Georgia"/>
              </a:rPr>
              <a:t>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461772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00">
                <a:solidFill>
                  <a:srgbClr val="F5F2EA"/>
                </a:solidFill>
                <a:latin typeface="Arial"/>
              </a:rPr>
              <a:t>ANCIENT STONE BRIDGES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892040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C9BA9"/>
                </a:solidFill>
                <a:latin typeface="Georgia"/>
              </a:rPr>
              <a:t>link the two banks of the canals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5394960"/>
            <a:ext cx="3794760" cy="0"/>
          </a:xfrm>
          <a:prstGeom prst="line">
            <a:avLst/>
          </a:prstGeom>
          <a:ln w="10160">
            <a:solidFill>
              <a:srgbClr val="0D24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5532120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D9A85B"/>
                </a:solidFill>
                <a:latin typeface="Georgia"/>
              </a:rPr>
              <a:t>CROSS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566928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00">
                <a:solidFill>
                  <a:srgbClr val="F5F2EA"/>
                </a:solidFill>
                <a:latin typeface="Arial"/>
              </a:rPr>
              <a:t>WATER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5943600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C9BA9"/>
                </a:solidFill>
                <a:latin typeface="Georgia"/>
              </a:rPr>
              <a:t>divides the town into zones, joined by water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9676" y="2331720"/>
            <a:ext cx="5181599" cy="38862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5120640" y="2331720"/>
            <a:ext cx="6519672" cy="3886200"/>
          </a:xfrm>
          <a:prstGeom prst="rect">
            <a:avLst/>
          </a:prstGeom>
          <a:noFill/>
          <a:ln w="12700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6291072"/>
            <a:ext cx="6519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C9BA9"/>
                </a:solidFill>
                <a:latin typeface="Georgia"/>
              </a:rPr>
              <a:t>The canal carries the whole town.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6510528"/>
            <a:ext cx="37764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8C9BA9"/>
                </a:solidFill>
                <a:latin typeface="Arial"/>
              </a:rPr>
              <a:t>Photo: 韩笃一 · CC BY-SA 3.0</a:t>
            </a:r>
          </a:p>
        </p:txBody>
      </p:sp>
    </p:spTree>
  </p:cSld>
  <p:clrMapOvr>
    <a:masterClrMapping/>
  </p:clrMapOvr>
  <p:transition spd="slow">
    <p:morp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9A85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29768"/>
            <a:ext cx="7772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400">
                <a:solidFill>
                  <a:srgbClr val="8C9BA9"/>
                </a:solidFill>
                <a:latin typeface="Arial"/>
              </a:rPr>
              <a:t>WHY IT MATTERS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841248"/>
            <a:ext cx="11091672" cy="0"/>
          </a:xfrm>
          <a:prstGeom prst="line">
            <a:avLst/>
          </a:prstGeom>
          <a:ln w="10160">
            <a:solidFill>
              <a:srgbClr val="0D24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841248"/>
            <a:ext cx="3697223" cy="0"/>
          </a:xfrm>
          <a:prstGeom prst="line">
            <a:avLst/>
          </a:prstGeom>
          <a:ln w="15240">
            <a:solidFill>
              <a:srgbClr val="D9A8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326880" y="457200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spc="200">
                <a:solidFill>
                  <a:srgbClr val="8C9BA9"/>
                </a:solidFill>
                <a:latin typeface="Arial"/>
              </a:rPr>
              <a:t>PAST  →  PRESENT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5F2EA"/>
                </a:solidFill>
                <a:latin typeface="Georgia"/>
              </a:rPr>
              <a:t>WHY DOES WATER MATTER?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46120"/>
            <a:ext cx="4846320" cy="0"/>
          </a:xfrm>
          <a:prstGeom prst="line">
            <a:avLst/>
          </a:prstGeom>
          <a:ln w="17780">
            <a:solidFill>
              <a:srgbClr val="D9A8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486400" y="3246120"/>
            <a:ext cx="6035040" cy="0"/>
          </a:xfrm>
          <a:prstGeom prst="line">
            <a:avLst/>
          </a:prstGeom>
          <a:ln w="17780">
            <a:solidFill>
              <a:srgbClr val="D9A8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20640" y="2880360"/>
            <a:ext cx="1645920" cy="777240"/>
          </a:xfrm>
          <a:prstGeom prst="roundRect">
            <a:avLst>
              <a:gd name="adj" fmla="val 5000"/>
            </a:avLst>
          </a:prstGeom>
          <a:solidFill>
            <a:srgbClr val="0D2438"/>
          </a:solidFill>
          <a:ln w="17780">
            <a:solidFill>
              <a:srgbClr val="D9A8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090672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D9A85B"/>
                </a:solidFill>
                <a:latin typeface="Georgia"/>
              </a:rPr>
              <a:t>WATER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2336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5F2EA"/>
                </a:solidFill>
                <a:latin typeface="Georgia"/>
              </a:rPr>
              <a:t>PAST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4114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9C6D2"/>
                </a:solidFill>
                <a:latin typeface="Georgia"/>
              </a:rPr>
              <a:t>Boats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663440"/>
            <a:ext cx="137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9A85B"/>
                </a:solidFill>
                <a:latin typeface="Arial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120640"/>
            <a:ext cx="4114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9C6D2"/>
                </a:solidFill>
                <a:latin typeface="Georgia"/>
              </a:rPr>
              <a:t>Transportation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120640"/>
            <a:ext cx="137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9A85B"/>
                </a:solidFill>
                <a:latin typeface="Arial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577840"/>
            <a:ext cx="4114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9C6D2"/>
                </a:solidFill>
                <a:latin typeface="Georgia"/>
              </a:rPr>
              <a:t>Trade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577840"/>
            <a:ext cx="137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9A85B"/>
                </a:solidFill>
                <a:latin typeface="Arial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035040"/>
            <a:ext cx="4114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9C6D2"/>
                </a:solidFill>
                <a:latin typeface="Georgia"/>
              </a:rPr>
              <a:t>Daily life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035040"/>
            <a:ext cx="137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9A85B"/>
                </a:solidFill>
                <a:latin typeface="Arial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02336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5F2EA"/>
                </a:solidFill>
                <a:latin typeface="Georgia"/>
              </a:rPr>
              <a:t>PRESENT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663440"/>
            <a:ext cx="4114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9C6D2"/>
                </a:solidFill>
                <a:latin typeface="Georgia"/>
              </a:rPr>
              <a:t>Tourism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42048" y="4663440"/>
            <a:ext cx="137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9A85B"/>
                </a:solidFill>
                <a:latin typeface="Arial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5120640"/>
            <a:ext cx="4114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9C6D2"/>
                </a:solidFill>
                <a:latin typeface="Georgia"/>
              </a:rPr>
              <a:t>Sightseeing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2048" y="5120640"/>
            <a:ext cx="137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9A85B"/>
                </a:solidFill>
                <a:latin typeface="Arial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5577840"/>
            <a:ext cx="4114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9C6D2"/>
                </a:solidFill>
                <a:latin typeface="Georgia"/>
              </a:rPr>
              <a:t>Cultural experience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5577840"/>
            <a:ext cx="137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9A85B"/>
                </a:solidFill>
                <a:latin typeface="Arial"/>
              </a:rPr>
              <a:t>·</a:t>
            </a:r>
          </a:p>
        </p:txBody>
      </p:sp>
    </p:spTree>
  </p:cSld>
  <p:clrMapOvr>
    <a:masterClrMapping/>
  </p:clrMapOvr>
  <p:transition spd="slow">
    <p:morp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9A85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29768"/>
            <a:ext cx="7772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400">
                <a:solidFill>
                  <a:srgbClr val="8C9BA9"/>
                </a:solidFill>
                <a:latin typeface="Arial"/>
              </a:rPr>
              <a:t>ENGLISH GUIDE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841248"/>
            <a:ext cx="11091672" cy="0"/>
          </a:xfrm>
          <a:prstGeom prst="line">
            <a:avLst/>
          </a:prstGeom>
          <a:ln w="10160">
            <a:solidFill>
              <a:srgbClr val="0D24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841248"/>
            <a:ext cx="5545836" cy="0"/>
          </a:xfrm>
          <a:prstGeom prst="line">
            <a:avLst/>
          </a:prstGeom>
          <a:ln w="15240">
            <a:solidFill>
              <a:srgbClr val="D9A8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326880" y="457200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spc="200">
                <a:solidFill>
                  <a:srgbClr val="8C9BA9"/>
                </a:solidFill>
                <a:latin typeface="Arial"/>
              </a:rPr>
              <a:t>60–80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5F2EA"/>
                </a:solidFill>
                <a:latin typeface="Georgia"/>
              </a:rPr>
              <a:t>A WALK THROUGH WUZHEN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761945"/>
            <a:ext cx="4206240" cy="279714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40080" y="2468880"/>
            <a:ext cx="4206240" cy="3383280"/>
          </a:xfrm>
          <a:prstGeom prst="rect">
            <a:avLst/>
          </a:prstGeom>
          <a:noFill/>
          <a:ln w="12700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92531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C9BA9"/>
                </a:solidFill>
                <a:latin typeface="Georgia"/>
              </a:rPr>
              <a:t>A wupeng boat glides on the canal.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377440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F5F2EA"/>
                </a:solidFill>
                <a:latin typeface="Georgia"/>
              </a:rPr>
              <a:t>Wuzhen is an ancient water town in Zhejiang.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816352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F5F2EA"/>
                </a:solidFill>
                <a:latin typeface="Georgia"/>
              </a:rPr>
              <a:t>Its canals run through the old town.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55264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F5F2EA"/>
                </a:solidFill>
                <a:latin typeface="Georgia"/>
              </a:rPr>
              <a:t>Stone bridges connect the two sides.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694176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F5F2EA"/>
                </a:solidFill>
                <a:latin typeface="Georgia"/>
              </a:rPr>
              <a:t>Traditional boats move slowly on the water.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133087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F5F2EA"/>
                </a:solidFill>
                <a:latin typeface="Georgia"/>
              </a:rPr>
              <a:t>For a long time, people lived and worked along the canals.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572000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F5F2EA"/>
                </a:solidFill>
                <a:latin typeface="Georgia"/>
              </a:rPr>
              <a:t>At night, lanterns shine on the water.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5010912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F5F2EA"/>
                </a:solidFill>
                <a:latin typeface="Georgia"/>
              </a:rPr>
              <a:t>Water is not only beautiful here.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5449824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F5F2EA"/>
                </a:solidFill>
                <a:latin typeface="Georgia"/>
              </a:rPr>
              <a:t>It connects the town, its people and its history.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12080" y="5943600"/>
            <a:ext cx="1207008" cy="438912"/>
          </a:xfrm>
          <a:prstGeom prst="roundRect">
            <a:avLst>
              <a:gd name="adj" fmla="val 5000"/>
            </a:avLst>
          </a:prstGeom>
          <a:solidFill>
            <a:srgbClr val="0D2438"/>
          </a:solidFill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5943600"/>
            <a:ext cx="1207008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9A85B"/>
                </a:solidFill>
                <a:latin typeface="Arial"/>
              </a:rPr>
              <a:t>01 / WATER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28816" y="5943600"/>
            <a:ext cx="1207008" cy="438912"/>
          </a:xfrm>
          <a:prstGeom prst="roundRect">
            <a:avLst>
              <a:gd name="adj" fmla="val 5000"/>
            </a:avLst>
          </a:prstGeom>
          <a:solidFill>
            <a:srgbClr val="0D2438"/>
          </a:solidFill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5943600"/>
            <a:ext cx="1207008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9A85B"/>
                </a:solidFill>
                <a:latin typeface="Arial"/>
              </a:rPr>
              <a:t>02 / BRIDGES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45552" y="5943600"/>
            <a:ext cx="1207008" cy="438912"/>
          </a:xfrm>
          <a:prstGeom prst="roundRect">
            <a:avLst>
              <a:gd name="adj" fmla="val 5000"/>
            </a:avLst>
          </a:prstGeom>
          <a:solidFill>
            <a:srgbClr val="0D2438"/>
          </a:solidFill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45552" y="5943600"/>
            <a:ext cx="1207008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9A85B"/>
                </a:solidFill>
                <a:latin typeface="Arial"/>
              </a:rPr>
              <a:t>03 / BOATS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5943600"/>
            <a:ext cx="1207008" cy="438912"/>
          </a:xfrm>
          <a:prstGeom prst="roundRect">
            <a:avLst>
              <a:gd name="adj" fmla="val 5000"/>
            </a:avLst>
          </a:prstGeom>
          <a:solidFill>
            <a:srgbClr val="0D2438"/>
          </a:solidFill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943600"/>
            <a:ext cx="1207008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9A85B"/>
                </a:solidFill>
                <a:latin typeface="Arial"/>
              </a:rPr>
              <a:t>04 / LIFE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79024" y="5943600"/>
            <a:ext cx="1207008" cy="438912"/>
          </a:xfrm>
          <a:prstGeom prst="roundRect">
            <a:avLst>
              <a:gd name="adj" fmla="val 5000"/>
            </a:avLst>
          </a:prstGeom>
          <a:solidFill>
            <a:srgbClr val="0D2438"/>
          </a:solidFill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79024" y="5943600"/>
            <a:ext cx="1207008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9A85B"/>
                </a:solidFill>
                <a:latin typeface="Arial"/>
              </a:rPr>
              <a:t>05 / NIGHT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6510528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9A85B"/>
                </a:solidFill>
                <a:latin typeface="Arial"/>
              </a:rPr>
              <a:t>≈ 72 words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6510528"/>
            <a:ext cx="37764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8C9BA9"/>
                </a:solidFill>
                <a:latin typeface="Arial"/>
              </a:rPr>
              <a:t>Photo: Jakub Hałun · CC BY-SA 3.0</a:t>
            </a:r>
          </a:p>
        </p:txBody>
      </p:sp>
    </p:spTree>
  </p:cSld>
  <p:clrMapOvr>
    <a:masterClrMapping/>
  </p:clrMapOvr>
  <p:transition spd="slow">
    <p:morp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9A85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29768"/>
            <a:ext cx="7772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400">
                <a:solidFill>
                  <a:srgbClr val="8C9BA9"/>
                </a:solidFill>
                <a:latin typeface="Arial"/>
              </a:rPr>
              <a:t>OUR TEAM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841248"/>
            <a:ext cx="11091672" cy="0"/>
          </a:xfrm>
          <a:prstGeom prst="line">
            <a:avLst/>
          </a:prstGeom>
          <a:ln w="10160">
            <a:solidFill>
              <a:srgbClr val="0D24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841248"/>
            <a:ext cx="7394447" cy="0"/>
          </a:xfrm>
          <a:prstGeom prst="line">
            <a:avLst/>
          </a:prstGeom>
          <a:ln w="15240">
            <a:solidFill>
              <a:srgbClr val="D9A8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326880" y="457200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spc="200">
                <a:solidFill>
                  <a:srgbClr val="8C9BA9"/>
                </a:solidFill>
                <a:latin typeface="Arial"/>
              </a:rPr>
              <a:t>ONE TEAM · ONE JOURNEY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2EA"/>
                </a:solidFill>
                <a:latin typeface="Georgia"/>
              </a:rPr>
              <a:t>ONE TEAM.  ONE JOURNEY.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6" y="1481328"/>
            <a:ext cx="82296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979676" y="1481328"/>
            <a:ext cx="8229600" cy="4114800"/>
          </a:xfrm>
          <a:prstGeom prst="rect">
            <a:avLst/>
          </a:prstGeom>
          <a:noFill/>
          <a:ln w="12700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676" y="5687568"/>
            <a:ext cx="914400" cy="9144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979676" y="5687568"/>
            <a:ext cx="914400" cy="914400"/>
          </a:xfrm>
          <a:prstGeom prst="rect">
            <a:avLst/>
          </a:prstGeom>
          <a:noFill/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79676" y="66294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8C9BA9"/>
                </a:solidFill>
                <a:latin typeface="Arial"/>
              </a:rPr>
              <a:t>01  蒋盛熠</a:t>
            </a:r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2716" y="5687568"/>
            <a:ext cx="914400" cy="9144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3442716" y="5687568"/>
            <a:ext cx="914400" cy="914400"/>
          </a:xfrm>
          <a:prstGeom prst="rect">
            <a:avLst/>
          </a:prstGeom>
          <a:noFill/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42716" y="66294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8C9BA9"/>
                </a:solidFill>
                <a:latin typeface="Arial"/>
              </a:rPr>
              <a:t>02  汪瀚宇</a:t>
            </a:r>
          </a:p>
        </p:txBody>
      </p:sp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5756" y="5687568"/>
            <a:ext cx="914400" cy="9144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905756" y="5687568"/>
            <a:ext cx="914400" cy="914400"/>
          </a:xfrm>
          <a:prstGeom prst="rect">
            <a:avLst/>
          </a:prstGeom>
          <a:noFill/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5756" y="66294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8C9BA9"/>
                </a:solidFill>
                <a:latin typeface="Arial"/>
              </a:rPr>
              <a:t>03  鲁昂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8796" y="5687568"/>
            <a:ext cx="914400" cy="9144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368796" y="5687568"/>
            <a:ext cx="914400" cy="914400"/>
          </a:xfrm>
          <a:prstGeom prst="rect">
            <a:avLst/>
          </a:prstGeom>
          <a:noFill/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8796" y="66294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8C9BA9"/>
                </a:solidFill>
                <a:latin typeface="Arial"/>
              </a:rPr>
              <a:t>04  朱钟乐</a:t>
            </a:r>
          </a:p>
        </p:txBody>
      </p:sp>
      <p:pic>
        <p:nvPicPr>
          <p:cNvPr id="23" name="Picture 22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31836" y="5687568"/>
            <a:ext cx="914400" cy="9144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7831836" y="5687568"/>
            <a:ext cx="914400" cy="914400"/>
          </a:xfrm>
          <a:prstGeom prst="rect">
            <a:avLst/>
          </a:prstGeom>
          <a:noFill/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31836" y="66294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8C9BA9"/>
                </a:solidFill>
                <a:latin typeface="Arial"/>
              </a:rPr>
              <a:t>05  沈毅程</a:t>
            </a:r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5687568"/>
            <a:ext cx="914400" cy="9144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9294876" y="5687568"/>
            <a:ext cx="914400" cy="914400"/>
          </a:xfrm>
          <a:prstGeom prst="rect">
            <a:avLst/>
          </a:prstGeom>
          <a:noFill/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94876" y="66294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8C9BA9"/>
                </a:solidFill>
                <a:latin typeface="Arial"/>
              </a:rPr>
              <a:t>06  沈煜辰</a:t>
            </a:r>
          </a:p>
        </p:txBody>
      </p:sp>
    </p:spTree>
  </p:cSld>
  <p:clrMapOvr>
    <a:masterClrMapping/>
  </p:clrMapOvr>
  <p:transition spd="slow">
    <p:morp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9A85B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29768"/>
            <a:ext cx="7772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400">
                <a:solidFill>
                  <a:srgbClr val="8C9BA9"/>
                </a:solidFill>
                <a:latin typeface="Arial"/>
              </a:rPr>
              <a:t>CONCLUSION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841248"/>
            <a:ext cx="11091672" cy="0"/>
          </a:xfrm>
          <a:prstGeom prst="line">
            <a:avLst/>
          </a:prstGeom>
          <a:ln w="10160">
            <a:solidFill>
              <a:srgbClr val="0D24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841248"/>
            <a:ext cx="9243060" cy="0"/>
          </a:xfrm>
          <a:prstGeom prst="line">
            <a:avLst/>
          </a:prstGeom>
          <a:ln w="15240">
            <a:solidFill>
              <a:srgbClr val="D9A8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326880" y="457200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spc="200">
                <a:solidFill>
                  <a:srgbClr val="8C9BA9"/>
                </a:solidFill>
                <a:latin typeface="Arial"/>
              </a:rPr>
              <a:t>WATER CONNECTS EVERYTHING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spc="400">
                <a:solidFill>
                  <a:srgbClr val="D9A85B"/>
                </a:solidFill>
                <a:latin typeface="Arial"/>
              </a:rPr>
              <a:t>SO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5F2EA"/>
                </a:solidFill>
                <a:latin typeface="Georgia"/>
              </a:rPr>
              <a:t>WATER CONNECTS EVERYTHING.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089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8C9BA9"/>
                </a:solidFill>
                <a:latin typeface="Georgia"/>
              </a:rPr>
              <a:t>One team · one journey · Wuzhen waterways &amp; bridges.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D9A85B"/>
                </a:solidFill>
                <a:latin typeface="Georgia"/>
              </a:rPr>
              <a:t>Why is water the main line of Wuzhen?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5F2EA"/>
                </a:solidFill>
                <a:latin typeface="Georgia"/>
              </a:rPr>
              <a:t>Thank you.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spc="200">
                <a:solidFill>
                  <a:srgbClr val="D9A85B"/>
                </a:solidFill>
                <a:latin typeface="Arial"/>
              </a:rPr>
              <a:t>SOURCES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30952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C9BA9"/>
                </a:solidFill>
                <a:latin typeface="Arial"/>
              </a:rPr>
              <a:t>Canal — 韩笃一 · CC BY-SA 3.0 · Wikimedia Commons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32704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C9BA9"/>
                </a:solidFill>
                <a:latin typeface="Arial"/>
              </a:rPr>
              <a:t>Bridge — Immanuel Giel · CC BY-SA 4.0 · Wikimedia Commons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34456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C9BA9"/>
                </a:solidFill>
                <a:latin typeface="Arial"/>
              </a:rPr>
              <a:t>Boat — Jakub Hałun · CC BY-SA 3.0 · Wikimedia Commons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23620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C9BA9"/>
                </a:solidFill>
                <a:latin typeface="Arial"/>
              </a:rPr>
              <a:t>Night — Nico le terrible · CC0 · Wikimedia Commons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3796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C9BA9"/>
                </a:solidFill>
                <a:latin typeface="Arial"/>
              </a:rPr>
              <a:t>Team photo — group portrait,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6510528"/>
            <a:ext cx="37764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8C9BA9"/>
                </a:solidFill>
                <a:latin typeface="Arial"/>
              </a:rPr>
              <a:t>Photo: Nico le terrible · CC0 · team photo · group, 2026</a:t>
            </a: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