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· ~45 s. Open on the hero. Say 'Wuzhen. Waterways and Bridges.' Hold on the question: 'Why is water the main line of the ancient town? That is what we spent four weeks answering.'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· ~90 s. Walk the three data lines left to right: nearly ten thousand metres of canals, 72 ancient stone bridges, and a cross-shaped water system. Point at the canal photo on the right — 'the water came first; the town grew around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· ~90 s. Follow the gold line from PAST to PRESENT through WATER. PAST: boats, transport, trade, daily life. PRESENT: tourism, sightseeing, cultural experience. The same water that once moved goods now moves visitors.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· ~90 s. This is our live English guide — 72 words we can actually say out loud. Read it naturally. Let the five keyword chips (Water, Bridges, Boats, Life, Night) light up as you move through the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· ~60 s. Introduce the six of us, one line each, following the avatar numbers 01 to 06. End on 'Water connects everything.' and hold the closing question: 'Why is water the main line of Wuzhen?' Then thank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Relationship Id="rId9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>
            <a:alphaModFix>
              <a:alpha val="70000"/>
            </a:alphaModFix>
          </a:blip>
          <a:stretch>
            <a:fillRect/>
          </a:stretch>
        </p:blipFill>
        <p:spPr>
          <a:xfrm>
            <a:off x="-200000" y="-150000"/>
            <a:ext cx="12592000" cy="71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258000"/>
            <a:ext cx="12192000" cy="1600000"/>
          </a:xfrm>
          <a:prstGeom prst="rect">
            <a:avLst/>
          </a:prstGeom>
          <a:solidFill>
            <a:srgbClr val="071525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10058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800" b="0">
                <a:solidFill>
                  <a:srgbClr val="F5F2EA"/>
                </a:solidFill>
                <a:latin typeface="Georgia"/>
              </a:rPr>
              <a:t>WUZHEN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416052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spc="300">
                <a:solidFill>
                  <a:srgbClr val="D9A85B"/>
                </a:solidFill>
                <a:latin typeface="Georgia"/>
              </a:rPr>
              <a:t>WATERWAYS  &amp;  BRIDGES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9377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B9C6D2"/>
                </a:solidFill>
                <a:latin typeface="Georgia"/>
              </a:rPr>
              <a:t>WHY IS WATER THE MAIN LINE OF THE ANCIENT TOWN?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300">
                <a:solidFill>
                  <a:srgbClr val="8C9BA9"/>
                </a:solidFill>
                <a:latin typeface="Arial"/>
              </a:rPr>
              <a:t>GRADE 9  ·  ENGLISH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355080"/>
            <a:ext cx="4782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spc="300">
                <a:solidFill>
                  <a:srgbClr val="8C9BA9"/>
                </a:solidFill>
                <a:latin typeface="Arial"/>
              </a:rPr>
              <a:t>WUZHEN  ·  TONGXIANG  ·  ZHEJIANG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58704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spc="400">
                <a:solidFill>
                  <a:srgbClr val="D9A85B"/>
                </a:solidFill>
                <a:latin typeface="Arial"/>
              </a:rPr>
              <a:t>LET'S  EXPLORE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8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400">
                <a:solidFill>
                  <a:srgbClr val="8C9BA9"/>
                </a:solidFill>
                <a:latin typeface="Arial"/>
              </a:rPr>
              <a:t>COVER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841248"/>
            <a:ext cx="11091672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841248"/>
            <a:ext cx="0" cy="0"/>
          </a:xfrm>
          <a:prstGeom prst="line">
            <a:avLst/>
          </a:prstGeom>
          <a:ln w="1524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92640" y="6510528"/>
            <a:ext cx="1947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spc="200">
                <a:solidFill>
                  <a:srgbClr val="8C9BA9"/>
                </a:solidFill>
                <a:latin typeface="Arial"/>
              </a:rPr>
              <a:t>30.7°N 120.4°E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6510528"/>
            <a:ext cx="3776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8C9BA9"/>
                </a:solidFill>
                <a:latin typeface="Arial"/>
              </a:rPr>
              <a:t>Photo: 韩笃一 · CC BY-SA 3.0 · hero · Wuzhen Xizha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9768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400">
                <a:solidFill>
                  <a:srgbClr val="8C9BA9"/>
                </a:solidFill>
                <a:latin typeface="Arial"/>
              </a:rPr>
              <a:t>WHAT WE FOUND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841248"/>
            <a:ext cx="11091672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841248"/>
            <a:ext cx="2218334" cy="0"/>
          </a:xfrm>
          <a:prstGeom prst="line">
            <a:avLst/>
          </a:prstGeom>
          <a:ln w="1524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92640" y="6510528"/>
            <a:ext cx="1947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spc="200">
                <a:solidFill>
                  <a:srgbClr val="8C9BA9"/>
                </a:solidFill>
                <a:latin typeface="Arial"/>
              </a:rPr>
              <a:t>XIZHA WATERWAYS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5F2EA"/>
                </a:solidFill>
                <a:latin typeface="Georgia"/>
              </a:rPr>
              <a:t>WATER SHAPES WUZHEN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spc="300">
                <a:solidFill>
                  <a:srgbClr val="D9A85B"/>
                </a:solidFill>
                <a:latin typeface="Arial"/>
              </a:rPr>
              <a:t>01  WATER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91840"/>
            <a:ext cx="3794760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29000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D9A85B"/>
                </a:solidFill>
                <a:latin typeface="Georgia"/>
              </a:rPr>
              <a:t>≈ 10,000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356616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F5F2EA"/>
                </a:solidFill>
                <a:latin typeface="Arial"/>
              </a:rPr>
              <a:t>METERS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84048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C9BA9"/>
                </a:solidFill>
                <a:latin typeface="Georgia"/>
              </a:rPr>
              <a:t>of waterways run through Xizha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343400"/>
            <a:ext cx="3794760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80560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D9A85B"/>
                </a:solidFill>
                <a:latin typeface="Georg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461772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F5F2EA"/>
                </a:solidFill>
                <a:latin typeface="Arial"/>
              </a:rPr>
              <a:t>ANCIENT STONE BRIDGES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892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C9BA9"/>
                </a:solidFill>
                <a:latin typeface="Georgia"/>
              </a:rPr>
              <a:t>link the two banks of the canals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5394960"/>
            <a:ext cx="3794760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5532120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D9A85B"/>
                </a:solidFill>
                <a:latin typeface="Georgia"/>
              </a:rPr>
              <a:t>CROSS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566928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F5F2EA"/>
                </a:solidFill>
                <a:latin typeface="Arial"/>
              </a:rPr>
              <a:t>WATER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594360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C9BA9"/>
                </a:solidFill>
                <a:latin typeface="Georgia"/>
              </a:rPr>
              <a:t>divides the town into zones, joined by water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11680"/>
            <a:ext cx="6519672" cy="420624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20640" y="2011680"/>
            <a:ext cx="6519672" cy="4206240"/>
          </a:xfrm>
          <a:prstGeom prst="rect">
            <a:avLst/>
          </a:prstGeom>
          <a:noFill/>
          <a:ln w="12700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6291072"/>
            <a:ext cx="6519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C9BA9"/>
                </a:solidFill>
                <a:latin typeface="Georgia"/>
              </a:rPr>
              <a:t>The canal carries the whole town.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6510528"/>
            <a:ext cx="3776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8C9BA9"/>
                </a:solidFill>
                <a:latin typeface="Arial"/>
              </a:rPr>
              <a:t>Photo: 韩笃一 · CC BY-SA 3.0</a:t>
            </a:r>
          </a:p>
        </p:txBody>
      </p:sp>
    </p:spTree>
  </p:cSld>
  <p:clrMapOvr>
    <a:masterClrMapping/>
  </p:clrMapOvr>
  <p:transition spd="slow">
    <p:morp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9768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400">
                <a:solidFill>
                  <a:srgbClr val="8C9BA9"/>
                </a:solidFill>
                <a:latin typeface="Arial"/>
              </a:rPr>
              <a:t>WHY IT MATTERS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841248"/>
            <a:ext cx="11091672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841248"/>
            <a:ext cx="4436668" cy="0"/>
          </a:xfrm>
          <a:prstGeom prst="line">
            <a:avLst/>
          </a:prstGeom>
          <a:ln w="1524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92640" y="6510528"/>
            <a:ext cx="1947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spc="200">
                <a:solidFill>
                  <a:srgbClr val="8C9BA9"/>
                </a:solidFill>
                <a:latin typeface="Arial"/>
              </a:rPr>
              <a:t>PAST  →  PRESENT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5F2EA"/>
                </a:solidFill>
                <a:latin typeface="Georgia"/>
              </a:rPr>
              <a:t>WHY DOES WATER MATTER?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46120"/>
            <a:ext cx="4846320" cy="0"/>
          </a:xfrm>
          <a:prstGeom prst="line">
            <a:avLst/>
          </a:prstGeom>
          <a:ln w="1778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486400" y="3246120"/>
            <a:ext cx="6035040" cy="0"/>
          </a:xfrm>
          <a:prstGeom prst="line">
            <a:avLst/>
          </a:prstGeom>
          <a:ln w="1778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20640" y="2880360"/>
            <a:ext cx="1645920" cy="777240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17780">
            <a:solidFill>
              <a:srgbClr val="D9A8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090672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D9A85B"/>
                </a:solidFill>
                <a:latin typeface="Georgia"/>
              </a:rPr>
              <a:t>WATER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2336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F2EA"/>
                </a:solidFill>
                <a:latin typeface="Georgia"/>
              </a:rPr>
              <a:t>PAST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Boats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6634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Transportation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1206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778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Trade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5778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0350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Daily life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0350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02336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F2EA"/>
                </a:solidFill>
                <a:latin typeface="Georgia"/>
              </a:rPr>
              <a:t>PRESENT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6634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Tourism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46634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51206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Sightseeing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51206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5577840"/>
            <a:ext cx="4114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C6D2"/>
                </a:solidFill>
                <a:latin typeface="Georgia"/>
              </a:rPr>
              <a:t>Cultural 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5577840"/>
            <a:ext cx="137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A85B"/>
                </a:solidFill>
                <a:latin typeface="Arial"/>
              </a:rPr>
              <a:t>·</a:t>
            </a:r>
          </a:p>
        </p:txBody>
      </p:sp>
      <p:pic>
        <p:nvPicPr>
          <p:cNvPr id="29" name="Picture 28" descr="image.jpg"/>
          <p:cNvPicPr>
            <a:picLocks noChangeAspect="1"/>
          </p:cNvPicPr>
          <p:nvPr/>
        </p:nvPicPr>
        <p:blipFill>
          <a:blip r:embed="rId2">
            <a:alphaModFix>
              <a:alpha val="80000"/>
            </a:alphaModFix>
          </a:blip>
          <a:stretch>
            <a:fillRect/>
          </a:stretch>
        </p:blipFill>
        <p:spPr>
          <a:xfrm>
            <a:off x="8503920" y="1371600"/>
            <a:ext cx="3136392" cy="1828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0" y="6510528"/>
            <a:ext cx="3776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8C9BA9"/>
                </a:solidFill>
                <a:latin typeface="Arial"/>
              </a:rPr>
              <a:t>Photo: Immanuel Giel · CC BY-SA 4.0</a:t>
            </a:r>
          </a:p>
        </p:txBody>
      </p:sp>
    </p:spTree>
  </p:cSld>
  <p:clrMapOvr>
    <a:masterClrMapping/>
  </p:clrMapOvr>
  <p:transition spd="slow">
    <p:morp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9768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400">
                <a:solidFill>
                  <a:srgbClr val="8C9BA9"/>
                </a:solidFill>
                <a:latin typeface="Arial"/>
              </a:rPr>
              <a:t>ENGLISH GUIDE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841248"/>
            <a:ext cx="11091672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841248"/>
            <a:ext cx="6655003" cy="0"/>
          </a:xfrm>
          <a:prstGeom prst="line">
            <a:avLst/>
          </a:prstGeom>
          <a:ln w="1524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92640" y="6510528"/>
            <a:ext cx="1947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spc="200">
                <a:solidFill>
                  <a:srgbClr val="8C9BA9"/>
                </a:solidFill>
                <a:latin typeface="Arial"/>
              </a:rPr>
              <a:t>60–80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5F2EA"/>
                </a:solidFill>
                <a:latin typeface="Georgia"/>
              </a:rPr>
              <a:t>A WALK THROUGH WUZHEN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68880"/>
            <a:ext cx="4206240" cy="33832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0080" y="2468880"/>
            <a:ext cx="4206240" cy="3383280"/>
          </a:xfrm>
          <a:prstGeom prst="rect">
            <a:avLst/>
          </a:prstGeom>
          <a:noFill/>
          <a:ln w="12700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92531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C9BA9"/>
                </a:solidFill>
                <a:latin typeface="Georgia"/>
              </a:rPr>
              <a:t>A wupeng boat glides on the canal.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37744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Wuzhen is an ancient water town in Zhejiang.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816352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Its canals run through the old town.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55264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Stone bridges connect the two sides.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694176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Traditional boats move slowly on the water.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133087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For a long time, people lived and worked along the canals.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57200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At night, lanterns shine on the water.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5010912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Water is not only beautiful here.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449824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F5F2EA"/>
                </a:solidFill>
                <a:latin typeface="Georgia"/>
              </a:rPr>
              <a:t>It connects the town, its people and its history.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60258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9A85B"/>
                </a:solidFill>
                <a:latin typeface="Arial"/>
              </a:rPr>
              <a:t>≈ 72 words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12080" y="6080760"/>
            <a:ext cx="1207008" cy="438912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6080760"/>
            <a:ext cx="120700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9A85B"/>
                </a:solidFill>
                <a:latin typeface="Arial"/>
              </a:rPr>
              <a:t>01 / WATER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28816" y="6080760"/>
            <a:ext cx="1207008" cy="438912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8816" y="6080760"/>
            <a:ext cx="120700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9A85B"/>
                </a:solidFill>
                <a:latin typeface="Arial"/>
              </a:rPr>
              <a:t>02 / BRIDGES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45552" y="6080760"/>
            <a:ext cx="1207008" cy="438912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45552" y="6080760"/>
            <a:ext cx="120700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9A85B"/>
                </a:solidFill>
                <a:latin typeface="Arial"/>
              </a:rPr>
              <a:t>03 / BOATS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62288" y="6080760"/>
            <a:ext cx="1207008" cy="438912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6080760"/>
            <a:ext cx="120700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9A85B"/>
                </a:solidFill>
                <a:latin typeface="Arial"/>
              </a:rPr>
              <a:t>04 / LIFE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79024" y="6080760"/>
            <a:ext cx="1207008" cy="438912"/>
          </a:xfrm>
          <a:prstGeom prst="roundRect">
            <a:avLst>
              <a:gd name="adj" fmla="val 5000"/>
            </a:avLst>
          </a:prstGeom>
          <a:solidFill>
            <a:srgbClr val="0D2438"/>
          </a:solidFill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79024" y="6080760"/>
            <a:ext cx="1207008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9A85B"/>
                </a:solidFill>
                <a:latin typeface="Arial"/>
              </a:rPr>
              <a:t>05 / NIGHT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6510528"/>
            <a:ext cx="3776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8C9BA9"/>
                </a:solidFill>
                <a:latin typeface="Arial"/>
              </a:rPr>
              <a:t>Photo: Jakub Hałun · CC BY-SA 3.0</a:t>
            </a:r>
          </a:p>
        </p:txBody>
      </p:sp>
    </p:spTree>
  </p:cSld>
  <p:clrMapOvr>
    <a:masterClrMapping/>
  </p:clrMapOvr>
  <p:transition spd="slow">
    <p:morp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9768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spc="400">
                <a:solidFill>
                  <a:srgbClr val="8C9BA9"/>
                </a:solidFill>
                <a:latin typeface="Arial"/>
              </a:rPr>
              <a:t>OUR TEAM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841248"/>
            <a:ext cx="11091672" cy="0"/>
          </a:xfrm>
          <a:prstGeom prst="line">
            <a:avLst/>
          </a:prstGeom>
          <a:ln w="10160">
            <a:solidFill>
              <a:srgbClr val="0D24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841248"/>
            <a:ext cx="8873337" cy="0"/>
          </a:xfrm>
          <a:prstGeom prst="line">
            <a:avLst/>
          </a:prstGeom>
          <a:ln w="15240">
            <a:solidFill>
              <a:srgbClr val="D9A8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92640" y="6510528"/>
            <a:ext cx="1947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spc="200">
                <a:solidFill>
                  <a:srgbClr val="8C9BA9"/>
                </a:solidFill>
                <a:latin typeface="Arial"/>
              </a:rPr>
              <a:t>ONE TEAM · ONE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2EA"/>
                </a:solidFill>
                <a:latin typeface="Georgia"/>
              </a:rPr>
              <a:t>ONE TEAM.  ONE JOURNEY.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10908792" cy="2103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0080" y="1874519"/>
            <a:ext cx="10908792" cy="2103120"/>
          </a:xfrm>
          <a:prstGeom prst="rect">
            <a:avLst/>
          </a:prstGeom>
          <a:noFill/>
          <a:ln w="12700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14800"/>
            <a:ext cx="1371600" cy="13716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0080" y="4114800"/>
            <a:ext cx="1371600" cy="13716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5412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spc="100">
                <a:solidFill>
                  <a:srgbClr val="8C9BA9"/>
                </a:solidFill>
                <a:latin typeface="Arial"/>
              </a:rPr>
              <a:t>01  JIANG SHENGYI</a:t>
            </a:r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7168" y="4114800"/>
            <a:ext cx="1371600" cy="13716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487168" y="4114800"/>
            <a:ext cx="1371600" cy="13716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87168" y="55412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spc="100">
                <a:solidFill>
                  <a:srgbClr val="8C9BA9"/>
                </a:solidFill>
                <a:latin typeface="Arial"/>
              </a:rPr>
              <a:t>02  WANG HANYU</a:t>
            </a:r>
          </a:p>
        </p:txBody>
      </p:sp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56" y="4114800"/>
            <a:ext cx="1371600" cy="13716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334256" y="4114800"/>
            <a:ext cx="1371600" cy="13716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4256" y="55412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spc="100">
                <a:solidFill>
                  <a:srgbClr val="8C9BA9"/>
                </a:solidFill>
                <a:latin typeface="Arial"/>
              </a:rPr>
              <a:t>03  LU ANG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1344" y="4114800"/>
            <a:ext cx="1371600" cy="1371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181344" y="4114800"/>
            <a:ext cx="1371600" cy="13716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55412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spc="100">
                <a:solidFill>
                  <a:srgbClr val="8C9BA9"/>
                </a:solidFill>
                <a:latin typeface="Arial"/>
              </a:rPr>
              <a:t>04  ZHU ZHONGLE</a:t>
            </a:r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4114800"/>
            <a:ext cx="1371600" cy="1371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8431" y="4114800"/>
            <a:ext cx="1371600" cy="13716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55412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spc="100">
                <a:solidFill>
                  <a:srgbClr val="8C9BA9"/>
                </a:solidFill>
                <a:latin typeface="Arial"/>
              </a:rPr>
              <a:t>05  SHEN YICHENG</a:t>
            </a:r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5519" y="4114800"/>
            <a:ext cx="1371600" cy="13716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9875519" y="4114800"/>
            <a:ext cx="1371600" cy="1371600"/>
          </a:xfrm>
          <a:prstGeom prst="rect">
            <a:avLst/>
          </a:prstGeom>
          <a:noFill/>
          <a:ln w="9525">
            <a:solidFill>
              <a:srgbClr val="5FA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19" y="55412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spc="100">
                <a:solidFill>
                  <a:srgbClr val="8C9BA9"/>
                </a:solidFill>
                <a:latin typeface="Arial"/>
              </a:rPr>
              <a:t>06  SHEN YUCHENG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25880" y="4800600"/>
            <a:ext cx="8961120" cy="0"/>
          </a:xfrm>
          <a:prstGeom prst="line">
            <a:avLst/>
          </a:prstGeom>
          <a:ln w="10160">
            <a:solidFill>
              <a:srgbClr val="D9A85B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" y="5989320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5F2EA"/>
                </a:solidFill>
                <a:latin typeface="Georgia"/>
              </a:rPr>
              <a:t>Water connects everything.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C9BA9"/>
                </a:solidFill>
                <a:latin typeface="Georgia"/>
              </a:rPr>
              <a:t>One team · one journey · Wuzhen waterways &amp; bridges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989320"/>
            <a:ext cx="3776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D9A85B"/>
                </a:solidFill>
                <a:latin typeface="Georgia"/>
              </a:rPr>
              <a:t>Why is water the main line of Wuzhen?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6492240"/>
            <a:ext cx="3776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5F2EA"/>
                </a:solidFill>
                <a:latin typeface="Georgia"/>
              </a:rPr>
              <a:t>Thank you.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9436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spc="200">
                <a:solidFill>
                  <a:srgbClr val="D9A85B"/>
                </a:solidFill>
                <a:latin typeface="Arial"/>
              </a:rPr>
              <a:t>SOURCES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21792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C9BA9"/>
                </a:solidFill>
                <a:latin typeface="Arial"/>
              </a:rPr>
              <a:t>Canal — 韩笃一 · CC BY-SA 3.0 · Wikimedia Commons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9224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C9BA9"/>
                </a:solidFill>
                <a:latin typeface="Arial"/>
              </a:rPr>
              <a:t>Bridge — Immanuel Giel · CC BY-SA 4.0 · Wikimedia Commons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76656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C9BA9"/>
                </a:solidFill>
                <a:latin typeface="Arial"/>
              </a:rPr>
              <a:t>Boat — Jakub Hałun · CC BY-SA 3.0 · Wikimedia Commons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704088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C9BA9"/>
                </a:solidFill>
                <a:latin typeface="Arial"/>
              </a:rPr>
              <a:t>Night — Nico le terrible · CC0 · Wikimedia Commons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73152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C9BA9"/>
                </a:solidFill>
                <a:latin typeface="Arial"/>
              </a:rPr>
              <a:t>Team photos — group portrait,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6510528"/>
            <a:ext cx="3776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8C9BA9"/>
                </a:solidFill>
                <a:latin typeface="Arial"/>
              </a:rPr>
              <a:t>Photo: Nico le terrible · CC0 · team photo · group, 2026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