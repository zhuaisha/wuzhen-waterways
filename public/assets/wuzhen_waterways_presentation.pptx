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F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554480"/>
            <a:ext cx="822960" cy="3810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D7AD69"/>
                </a:solidFill>
                <a:latin typeface="Arial"/>
              </a:rPr>
              <a:t>GROUP 907  ·  NINTH-GRADE ENGLISH PBL  · 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200" b="0">
                <a:solidFill>
                  <a:srgbClr val="F5F0E3"/>
                </a:solidFill>
                <a:latin typeface="Georgia"/>
              </a:rPr>
              <a:t>WUZHEN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118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D7AD69"/>
                </a:solidFill>
                <a:latin typeface="Georgia"/>
              </a:rPr>
              <a:t>Waterways &amp; Bridges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E8E5DC"/>
                </a:solidFill>
                <a:latin typeface="Georgia"/>
              </a:rPr>
              <a:t>Why is water the main line of the ancient town?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983480"/>
            <a:ext cx="2194560" cy="2540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166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JIANG SHENGYI · WANG HANYU · LU ANG · ZHU ZHONGLE · SHEN YICHENG · SHEN YUCHENG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01 / 10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THE CORE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我们最初的问题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42634"/>
                </a:solidFill>
                <a:latin typeface="Georgia"/>
              </a:rPr>
              <a:t>Why is water the main line of the ancient town?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514600"/>
            <a:ext cx="5486400" cy="146304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D7AD69"/>
                </a:solidFill>
                <a:latin typeface="Georgia"/>
              </a:rPr>
              <a:t>It is the 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089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B3A48"/>
                </a:solidFill>
                <a:latin typeface="Georgia"/>
              </a:rPr>
              <a:t>Canals came before streets. To cross town you walked the embankment or took a boat — the water was the road of daily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2514600"/>
            <a:ext cx="5486400" cy="146304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697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D7AD69"/>
                </a:solidFill>
                <a:latin typeface="Georgia"/>
              </a:rPr>
              <a:t>It is home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1089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B3A48"/>
                </a:solidFill>
                <a:latin typeface="Georgia"/>
              </a:rPr>
              <a:t>Clothes were washed, boats were tied, neighbours met at the water's edge. Life happened by the water, for a thousand mornings.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160520"/>
            <a:ext cx="5486400" cy="146304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D7AD69"/>
                </a:solidFill>
                <a:latin typeface="Georgia"/>
              </a:rPr>
              <a:t>It is the shape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5488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B3A48"/>
                </a:solidFill>
                <a:latin typeface="Georgia"/>
              </a:rPr>
              <a:t>The town kept its shape around the canals. Houses face the water; bridges decide where the town meets itself.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4160520"/>
            <a:ext cx="5486400" cy="146304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43434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D7AD69"/>
                </a:solidFill>
                <a:latin typeface="Georgia"/>
              </a:rPr>
              <a:t>It is the 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75488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B3A48"/>
                </a:solidFill>
                <a:latin typeface="Georgia"/>
              </a:rPr>
              <a:t>Lanterns on the water at dusk — the town darkens, then glows. Reflections are Wuzhen's signature sight.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02 / 10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三条关键事实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4206240" cy="4480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371600"/>
            <a:ext cx="4206240" cy="4480560"/>
          </a:xfrm>
          <a:prstGeom prst="rect">
            <a:avLst/>
          </a:prstGeom>
          <a:noFill/>
          <a:ln w="1905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90296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A canal carries the whole town.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6304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D7AD69"/>
                </a:solidFill>
                <a:latin typeface="Georgia"/>
              </a:rPr>
              <a:t>≈ 10,000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5087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42634"/>
                </a:solidFill>
                <a:latin typeface="Arial"/>
              </a:rPr>
              <a:t>of waterways in Xizha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1847088"/>
            <a:ext cx="4297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B3A48"/>
                </a:solidFill>
                <a:latin typeface="Georgia"/>
              </a:rPr>
              <a:t>The canal system runs nearly ten kilometres through the old town.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633472"/>
            <a:ext cx="6583680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88036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D7AD69"/>
                </a:solidFill>
                <a:latin typeface="Georgia"/>
              </a:rPr>
              <a:t>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9260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42634"/>
                </a:solidFill>
                <a:latin typeface="Arial"/>
              </a:rPr>
              <a:t>ancient stone bridges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3264408"/>
            <a:ext cx="4297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B3A48"/>
                </a:solidFill>
                <a:latin typeface="Georgia"/>
              </a:rPr>
              <a:t>Stone arches link the two banks; a boat ducks beneath them on the way through.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0" y="4050792"/>
            <a:ext cx="6583680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429768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D7AD69"/>
                </a:solidFill>
                <a:latin typeface="Georgia"/>
              </a:rPr>
              <a:t>Cross-shaped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43434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42634"/>
                </a:solidFill>
                <a:latin typeface="Arial"/>
              </a:rPr>
              <a:t>water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681728"/>
            <a:ext cx="4297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B3A48"/>
                </a:solidFill>
                <a:latin typeface="Georgia"/>
              </a:rPr>
              <a:t>The inner canals form a cross that divides the town into zones, connected by water.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0" y="5468112"/>
            <a:ext cx="6583680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03 / 10</a:t>
            </a:r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WHY WATER?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水如何连接一切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560320" cy="548640"/>
          </a:xfrm>
          <a:prstGeom prst="rect">
            <a:avLst/>
          </a:prstGeom>
          <a:solidFill>
            <a:srgbClr val="D7AD69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2560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060F1A"/>
                </a:solidFill>
                <a:latin typeface="Arial"/>
              </a:rPr>
              <a:t>WATER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31720"/>
            <a:ext cx="2560320" cy="54864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31720"/>
            <a:ext cx="2560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42634"/>
                </a:solidFill>
                <a:latin typeface="Arial"/>
              </a:rPr>
              <a:t>CONNECTS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1752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8A9AA8"/>
                </a:solidFill>
                <a:latin typeface="Georgia"/>
              </a:rPr>
              <a:t>it links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10128"/>
            <a:ext cx="585216" cy="54864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310128"/>
            <a:ext cx="58521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142634"/>
                </a:solidFill>
                <a:latin typeface="Arial"/>
              </a:rPr>
              <a:t>HOUSES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3856" y="3310128"/>
            <a:ext cx="585216" cy="54864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3310128"/>
            <a:ext cx="58521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142634"/>
                </a:solidFill>
                <a:latin typeface="Arial"/>
              </a:rPr>
              <a:t>BRIDGES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64792" y="3310128"/>
            <a:ext cx="585216" cy="54864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64792" y="3310128"/>
            <a:ext cx="58521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142634"/>
                </a:solidFill>
                <a:latin typeface="Arial"/>
              </a:rPr>
              <a:t>STREETS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95728" y="3310128"/>
            <a:ext cx="585216" cy="54864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95728" y="3310128"/>
            <a:ext cx="58521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142634"/>
                </a:solidFill>
                <a:latin typeface="Arial"/>
              </a:rPr>
              <a:t>PEOPLE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26664" y="3310128"/>
            <a:ext cx="585216" cy="54864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26664" y="3310128"/>
            <a:ext cx="58521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142634"/>
                </a:solidFill>
                <a:latin typeface="Arial"/>
              </a:rPr>
              <a:t>BOATS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160520"/>
            <a:ext cx="2560320" cy="548640"/>
          </a:xfrm>
          <a:prstGeom prst="rect">
            <a:avLst/>
          </a:prstGeom>
          <a:solidFill>
            <a:srgbClr val="D7AD69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60520"/>
            <a:ext cx="2560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060F1A"/>
                </a:solidFill>
                <a:latin typeface="Arial"/>
              </a:rPr>
              <a:t>TRADITIONAL LIFE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1691640" y="2103120"/>
            <a:ext cx="182880" cy="219456"/>
          </a:xfrm>
          <a:prstGeom prst="downArrow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1691640" y="2907792"/>
            <a:ext cx="182880" cy="219456"/>
          </a:xfrm>
          <a:prstGeom prst="downArrow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wn Arrow 24"/>
          <p:cNvSpPr/>
          <p:nvPr/>
        </p:nvSpPr>
        <p:spPr>
          <a:xfrm>
            <a:off x="1691640" y="3913632"/>
            <a:ext cx="182880" cy="219456"/>
          </a:xfrm>
          <a:prstGeom prst="downArrow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08760"/>
            <a:ext cx="3703320" cy="219456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4206240" y="1508760"/>
            <a:ext cx="3703320" cy="2194560"/>
          </a:xfrm>
          <a:prstGeom prst="rect">
            <a:avLst/>
          </a:prstGeom>
          <a:noFill/>
          <a:ln w="1905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6240" y="375412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Stone arches: a crossing, and a view.</a:t>
            </a:r>
          </a:p>
        </p:txBody>
      </p:sp>
      <p:pic>
        <p:nvPicPr>
          <p:cNvPr id="29" name="Picture 2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508760"/>
            <a:ext cx="3593592" cy="219456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092440" y="1508760"/>
            <a:ext cx="3593592" cy="2194560"/>
          </a:xfrm>
          <a:prstGeom prst="rect">
            <a:avLst/>
          </a:prstGeom>
          <a:noFill/>
          <a:ln w="1905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92440" y="3754120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Lanterns over the water at dusk.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6240" y="4434840"/>
            <a:ext cx="7479792" cy="141732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26280" y="461772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D7AD69"/>
                </a:solidFill>
                <a:latin typeface="Georgia"/>
              </a:rPr>
              <a:t>“Water is the main line of the town.”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5166360"/>
            <a:ext cx="6858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B3A48"/>
                </a:solidFill>
                <a:latin typeface="Georgia"/>
              </a:rPr>
              <a:t>If the canals were blocked, the town would lose its shape, its road and its image all at once.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04 / 10</a:t>
            </a:r>
          </a:p>
        </p:txBody>
      </p:sp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KEYWORDS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关键词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800" b="1">
                <a:solidFill>
                  <a:srgbClr val="D7AD69"/>
                </a:solidFill>
                <a:latin typeface="Georgia"/>
              </a:rPr>
              <a:t>WATER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5856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8A9AA8"/>
                </a:solidFill>
                <a:latin typeface="Microsoft YaHei"/>
              </a:rPr>
              <a:t>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920240"/>
            <a:ext cx="2743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42634"/>
                </a:solidFill>
                <a:latin typeface="Georgia"/>
              </a:rPr>
              <a:t>BRIDGES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7860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8A9AA8"/>
                </a:solidFill>
                <a:latin typeface="Microsoft YaHei"/>
              </a:rPr>
              <a:t>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00200"/>
            <a:ext cx="32918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D7AD69"/>
                </a:solidFill>
                <a:latin typeface="Georgia"/>
              </a:rPr>
              <a:t>CANAL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25856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8A9AA8"/>
                </a:solidFill>
                <a:latin typeface="Microsoft YaHei"/>
              </a:rPr>
              <a:t>水道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29000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142634"/>
                </a:solidFill>
                <a:latin typeface="Georgia"/>
              </a:rPr>
              <a:t>LIFE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8736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8A9AA8"/>
                </a:solidFill>
                <a:latin typeface="Microsoft YaHei"/>
              </a:rPr>
              <a:t>生活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108960"/>
            <a:ext cx="2743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D7AD69"/>
                </a:solidFill>
                <a:latin typeface="Georgia"/>
              </a:rPr>
              <a:t>BOATS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76732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8A9AA8"/>
                </a:solidFill>
                <a:latin typeface="Microsoft YaHei"/>
              </a:rPr>
              <a:t>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474720"/>
            <a:ext cx="32918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142634"/>
                </a:solidFill>
                <a:latin typeface="Georgia"/>
              </a:rPr>
              <a:t>NIGHT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41330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8A9AA8"/>
                </a:solidFill>
                <a:latin typeface="Microsoft YaHei"/>
              </a:rPr>
              <a:t>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800600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7AD69"/>
                </a:solidFill>
                <a:latin typeface="Georgia"/>
              </a:rPr>
              <a:t>REFLECTION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545896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8A9AA8"/>
                </a:solidFill>
                <a:latin typeface="Microsoft YaHei"/>
              </a:rPr>
              <a:t>倒影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4937760"/>
            <a:ext cx="3657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142634"/>
                </a:solidFill>
                <a:latin typeface="Georgia"/>
              </a:rPr>
              <a:t>WATER TOWN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559612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8A9AA8"/>
                </a:solidFill>
                <a:latin typeface="Microsoft YaHei"/>
              </a:rPr>
              <a:t>水乡古镇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05 / 10</a:t>
            </a:r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六个章节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5394960" cy="13716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D7AD69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71907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2634"/>
                </a:solidFill>
                <a:latin typeface="Arial"/>
              </a:rPr>
              <a:t>WATER 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2140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3A48"/>
                </a:solidFill>
                <a:latin typeface="Georgia"/>
              </a:rPr>
              <a:t>Canals run through every corner — the roads, and still 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1463040"/>
            <a:ext cx="5394960" cy="13716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664208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D7AD69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59" y="171907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2634"/>
                </a:solidFill>
                <a:latin typeface="Arial"/>
              </a:rPr>
              <a:t>BRIDGES 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59" y="212140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3A48"/>
                </a:solidFill>
                <a:latin typeface="Georgia"/>
              </a:rPr>
              <a:t>Stone arches, low steps: a crossing, and a view.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17520"/>
            <a:ext cx="5394960" cy="13716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18688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D7AD69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27355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2634"/>
                </a:solidFill>
                <a:latin typeface="Arial"/>
              </a:rPr>
              <a:t>BOATS 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67588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3A48"/>
                </a:solidFill>
                <a:latin typeface="Georgia"/>
              </a:rPr>
              <a:t>The wupeng slips under low arches; the water is the line it is written 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59" y="3017520"/>
            <a:ext cx="5394960" cy="13716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59" y="3218688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D7AD69"/>
                </a:solidFill>
                <a:latin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59" y="327355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2634"/>
                </a:solidFill>
                <a:latin typeface="Arial"/>
              </a:rPr>
              <a:t>LIFE 生活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59" y="367588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3A48"/>
                </a:solidFill>
                <a:latin typeface="Georgia"/>
              </a:rPr>
              <a:t>Laundry at the embankment, shops and footsteps — ordinary life repeated.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572000"/>
            <a:ext cx="5394960" cy="13716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773168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D7AD69"/>
                </a:solidFill>
                <a:latin typeface="Georgia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8280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2634"/>
                </a:solidFill>
                <a:latin typeface="Arial"/>
              </a:rPr>
              <a:t>NIGHT 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23036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3A48"/>
                </a:solidFill>
                <a:latin typeface="Georgia"/>
              </a:rPr>
              <a:t>Lanterns over the water; the town darkens, then glows.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59" y="4572000"/>
            <a:ext cx="5394960" cy="13716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4773168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D7AD69"/>
                </a:solidFill>
                <a:latin typeface="Georgia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59" y="48280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2634"/>
                </a:solidFill>
                <a:latin typeface="Arial"/>
              </a:rPr>
              <a:t>MEMORY 记忆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59" y="523036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3A48"/>
                </a:solidFill>
                <a:latin typeface="Georgia"/>
              </a:rPr>
              <a:t>A place shaped by water — the answer, simply by watching it 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06 / 10</a:t>
            </a:r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OUR ENGLISH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60–80 词英文导览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67665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5F0E3"/>
                </a:solidFill>
                <a:latin typeface="Georgia"/>
              </a:rPr>
              <a:t>Wuzhen is a water town in Zhejiang, where the canals came first and the streets came later. Boats still cross its 72 stone bridges, and houses face the water the way they did a thousand years ago. Lanterns and reflections make the evening a second sightseeing tour. If you love quiet canals, old stone and a living old town, come — and take a boat with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486400"/>
            <a:ext cx="2926080" cy="2540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6235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D7AD69"/>
                </a:solidFill>
                <a:latin typeface="Arial"/>
              </a:rPr>
              <a:t>≈ 72 words  ·  in the 60–80 range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25880"/>
            <a:ext cx="4005072" cy="35661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680960" y="1325880"/>
            <a:ext cx="4005072" cy="3566160"/>
          </a:xfrm>
          <a:prstGeom prst="rect">
            <a:avLst/>
          </a:prstGeom>
          <a:noFill/>
          <a:ln w="1905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4942840"/>
            <a:ext cx="4005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Wuzhen at night — lanterns over the water.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07 / 10</a:t>
            </a:r>
          </a:p>
        </p:txBody>
      </p:sp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给听众的互动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142634"/>
                </a:solidFill>
                <a:latin typeface="Georgia"/>
              </a:rPr>
              <a:t>A question for the room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94560"/>
            <a:ext cx="3520440" cy="27432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D7AD69"/>
                </a:solidFill>
                <a:latin typeface="Arial"/>
              </a:rPr>
              <a:t>YOUR 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08960"/>
            <a:ext cx="3017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42634"/>
                </a:solidFill>
                <a:latin typeface="Georgia"/>
              </a:rPr>
              <a:t>Can you spot where water still runs the town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194560"/>
            <a:ext cx="3520440" cy="27432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5146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D7AD69"/>
                </a:solidFill>
                <a:latin typeface="Arial"/>
              </a:rPr>
              <a:t>IN ENGLISH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108960"/>
            <a:ext cx="3017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42634"/>
                </a:solidFill>
                <a:latin typeface="Georgia"/>
              </a:rPr>
              <a:t>“Visit Wuzhen by boat — the water is the road.”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2194560"/>
            <a:ext cx="3520440" cy="27432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5146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D7AD69"/>
                </a:solidFill>
                <a:latin typeface="Arial"/>
              </a:rPr>
              <a:t>DISCUSS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108960"/>
            <a:ext cx="3017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42634"/>
                </a:solidFill>
                <a:latin typeface="Georgia"/>
              </a:rPr>
              <a:t>If the canals were blocked, what would Wuzhen lose?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08 / 10</a:t>
            </a:r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SHOW-DAY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展示日分工（5 角色）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3520440" cy="173736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6420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2634"/>
                </a:solidFill>
                <a:latin typeface="Microsoft YaHei"/>
              </a:rPr>
              <a:t>开场负责人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D7AD69"/>
                </a:solidFill>
                <a:latin typeface="Arial"/>
              </a:rPr>
              <a:t>Opening · 蒋盛熠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5176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B3A48"/>
                </a:solidFill>
                <a:latin typeface="Georgia"/>
              </a:rPr>
              <a:t>Introduce the group &amp; the theme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463040"/>
            <a:ext cx="3520440" cy="173736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6420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2634"/>
                </a:solidFill>
                <a:latin typeface="Microsoft YaHei"/>
              </a:rPr>
              <a:t>文化讲解员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1284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D7AD69"/>
                </a:solidFill>
                <a:latin typeface="Arial"/>
              </a:rPr>
              <a:t>Culture · 汪瀚宇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5176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B3A48"/>
                </a:solidFill>
                <a:latin typeface="Georgia"/>
              </a:rPr>
              <a:t>Findings &amp; the hometown link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463040"/>
            <a:ext cx="3520440" cy="173736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66420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2634"/>
                </a:solidFill>
                <a:latin typeface="Microsoft YaHei"/>
              </a:rPr>
              <a:t>英文推荐员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21284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D7AD69"/>
                </a:solidFill>
                <a:latin typeface="Arial"/>
              </a:rPr>
              <a:t>English · 沈毅程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65176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B3A48"/>
                </a:solidFill>
                <a:latin typeface="Georgia"/>
              </a:rPr>
              <a:t>The 60–90 s live guide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29000"/>
            <a:ext cx="3520440" cy="173736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3016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2634"/>
                </a:solidFill>
                <a:latin typeface="Microsoft YaHei"/>
              </a:rPr>
              <a:t>PPT操作员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17880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D7AD69"/>
                </a:solidFill>
                <a:latin typeface="Arial"/>
              </a:rPr>
              <a:t>Slides · 鲁昂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B3A48"/>
                </a:solidFill>
                <a:latin typeface="Georgia"/>
              </a:rPr>
              <a:t>Pacing &amp; page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3429000"/>
            <a:ext cx="3520440" cy="173736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363016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2634"/>
                </a:solidFill>
                <a:latin typeface="Microsoft YaHei"/>
              </a:rPr>
              <a:t>互动负责人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17880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D7AD69"/>
                </a:solidFill>
                <a:latin typeface="Arial"/>
              </a:rPr>
              <a:t>Interaction · 沈煜程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B3A48"/>
                </a:solidFill>
                <a:latin typeface="Georgia"/>
              </a:rPr>
              <a:t>The question &amp; the vote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09 / 10</a:t>
            </a:r>
          </a:p>
        </p:txBody>
      </p:sp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SOURCES &amp;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资料来源与致谢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5F0E3"/>
                </a:solidFill>
                <a:latin typeface="Georgia"/>
              </a:rPr>
              <a:t>Everything on these slides is sourced.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48840"/>
            <a:ext cx="2194560" cy="3175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514600"/>
            <a:ext cx="11155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E8E5DC"/>
                </a:solidFill>
                <a:latin typeface="Georgia"/>
              </a:rPr>
              <a:t>Facts — Xizha canal length, 72 stone bridges, and the cross-shaped water system: public Wuzhen heritage material, cited on the project site's Image Sources &amp; Licensing page.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29000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E8E5DC"/>
                </a:solidFill>
                <a:latin typeface="Georgia"/>
              </a:rPr>
              <a:t>Images — aerial and field photographs taken on site by the group; each carries its own credit. No stock imagery.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709160"/>
            <a:ext cx="4114800" cy="2540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9834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D7AD69"/>
                </a:solidFill>
                <a:latin typeface="Georgia"/>
              </a:rPr>
              <a:t>Water connects everything.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6235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5F0E3"/>
                </a:solidFill>
                <a:latin typeface="Microsoft YaHei"/>
              </a:rPr>
              <a:t>水，把一切连接起来。  ·  谢谢 / Thank you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10 / 10</a:t>
            </a:r>
          </a:p>
        </p:txBody>
      </p:sp>
    </p:spTree>
  </p:cSld>
  <p:clrMapOvr>
    <a:masterClrMapping/>
  </p:clrMapOvr>
  <p:transition spd="med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