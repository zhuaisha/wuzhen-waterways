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00x900_hero_wuzhen-1920.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8800" b="0">
                <a:solidFill>
                  <a:srgbClr val="F5EEDF"/>
                </a:solidFill>
                <a:latin typeface="Arial"/>
              </a:rPr>
              <a:t>WUZHEN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D7AD69"/>
                </a:solidFill>
                <a:latin typeface="Arial"/>
              </a:rPr>
              <a:t>WATERWAYS &amp; BRIDGES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0">
                <a:solidFill>
                  <a:srgbClr val="8A9AA8"/>
                </a:solidFill>
                <a:latin typeface="Arial"/>
              </a:rPr>
              <a:t>Why is water the main line of the ancient town?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8A9AA8"/>
                </a:solidFill>
                <a:latin typeface="Arial"/>
              </a:rPr>
              <a:t>GROUP 907 · NINTH-GRADE ENGLISH PBL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900" b="0">
                <a:solidFill>
                  <a:srgbClr val="8A9AA8"/>
                </a:solidFill>
                <a:latin typeface="Arial"/>
              </a:rPr>
              <a:t>JIANG SHENGYI · WANG HANYU · LU ANG · ZHU ZHONGLE · SHEN YICHENG · SHEN YUCHENG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Who we are &amp; what we're recommending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3035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F5EEDF"/>
                </a:solidFill>
                <a:latin typeface="Arial"/>
              </a:rPr>
              <a:t>We are a six-person ninth-grade group working on an English project-based learning task: to recommend Wuzhen to international visitors. Our cut is the waterways and bridges that make Wuzhen a water town.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THE 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53035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F5EEDF"/>
                </a:solidFill>
                <a:latin typeface="Arial"/>
              </a:rPr>
              <a:t>Water is not just the scenery — it is the road of daily life. The canals were dug before the streets were paved, and the town has kept its shape around the water ever since.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Microsoft YaHei"/>
              </a:rPr>
              <a:t>六个人，一段乌镇。 — Six people, one journey through Wuzhen.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SIX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01  Jiang Shengyi  —  Project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02  Wang Hanyu     —  Research &amp;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03  Lu Ang         —  Web &amp;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04  Zhu Zhongle    —  Photography &amp;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05  Shen Yicheng   —  Copy &amp; fact-checking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9204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F5EEDF"/>
                </a:solidFill>
                <a:latin typeface="Arial"/>
              </a:rPr>
              <a:t>06  Shen Yucheng   —  Production &amp;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Three facts about the water system</a:t>
            </a:r>
          </a:p>
        </p:txBody>
      </p:sp>
      <p:pic>
        <p:nvPicPr>
          <p:cNvPr id="4" name="Picture 3" descr="900x1100_waterway-webp.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402336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  <a:latin typeface="Arial"/>
              </a:rPr>
              <a:t>A canal carries the whole town — the water came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920240"/>
            <a:ext cx="6400800" cy="12801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59" y="2057400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D7AD69"/>
                </a:solidFill>
                <a:latin typeface="Arial"/>
              </a:rPr>
              <a:t>≈ 10,000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5EEDF"/>
                </a:solidFill>
                <a:latin typeface="Arial"/>
              </a:rPr>
              <a:t>of waterways in Xizha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87168"/>
            <a:ext cx="42062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8A9AA8"/>
                </a:solidFill>
                <a:latin typeface="Arial"/>
              </a:rPr>
              <a:t>The canal system runs nearly ten kilometres through the old town.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337560"/>
            <a:ext cx="6400800" cy="12801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3474720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D7AD69"/>
                </a:solidFill>
                <a:latin typeface="Arial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20440"/>
            <a:ext cx="4206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5EEDF"/>
                </a:solidFill>
                <a:latin typeface="Arial"/>
              </a:rPr>
              <a:t>ancient stone bridges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04488"/>
            <a:ext cx="42062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8A9AA8"/>
                </a:solidFill>
                <a:latin typeface="Arial"/>
              </a:rPr>
              <a:t>Stone arches link the two banks; boats duck beneath them on the way through.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754880"/>
            <a:ext cx="6400800" cy="12801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4892040"/>
            <a:ext cx="17373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0">
                <a:solidFill>
                  <a:srgbClr val="D7AD69"/>
                </a:solidFill>
                <a:latin typeface="Arial"/>
              </a:rPr>
              <a:t>1st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937760"/>
            <a:ext cx="4206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5EEDF"/>
                </a:solidFill>
                <a:latin typeface="Arial"/>
              </a:rPr>
              <a:t>came the 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321808"/>
            <a:ext cx="42062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8A9AA8"/>
                </a:solidFill>
                <a:latin typeface="Arial"/>
              </a:rPr>
              <a:t>The canals were dug before the streets were paved; the town grew around the water.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Three things water did for Wuzhen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280160" cy="50292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EEDF"/>
                </a:solidFill>
                <a:latin typeface="Arial"/>
              </a:rPr>
              <a:t>WATER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1"/>
            <a:ext cx="1280160" cy="50292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EEDF"/>
                </a:solidFill>
                <a:latin typeface="Arial"/>
              </a:rPr>
              <a:t>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79" y="2194562"/>
            <a:ext cx="2286000" cy="50292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EEDF"/>
                </a:solidFill>
                <a:latin typeface="Arial"/>
              </a:rPr>
              <a:t>HOUSES · BRIDGES · STREETS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2194563"/>
            <a:ext cx="2286000" cy="50292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EEDF"/>
                </a:solidFill>
                <a:latin typeface="Arial"/>
              </a:rPr>
              <a:t>PEOPLE · BOATS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4"/>
            <a:ext cx="1280160" cy="50292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EEDF"/>
                </a:solidFill>
                <a:latin typeface="Arial"/>
              </a:rPr>
              <a:t>TRADITIONAL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194560"/>
            <a:ext cx="6400800" cy="10515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2359152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D7AD69"/>
                </a:solidFill>
                <a:latin typeface="Arial"/>
              </a:rPr>
              <a:t>It is the road.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743200"/>
            <a:ext cx="58521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F5EEDF"/>
                </a:solidFill>
                <a:latin typeface="Arial"/>
              </a:rPr>
              <a:t>Canals came before streets — the water is how the town connected.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3429000"/>
            <a:ext cx="6400800" cy="10515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3593592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D7AD69"/>
                </a:solidFill>
                <a:latin typeface="Arial"/>
              </a:rPr>
              <a:t>It is home.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3977639"/>
            <a:ext cx="58521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F5EEDF"/>
                </a:solidFill>
                <a:latin typeface="Arial"/>
              </a:rPr>
              <a:t>Laundry, trade and neighbours all happened at the water's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4663440"/>
            <a:ext cx="6400800" cy="105156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4828031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D7AD69"/>
                </a:solidFill>
                <a:latin typeface="Arial"/>
              </a:rPr>
              <a:t>It is the look.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5212079"/>
            <a:ext cx="58521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F5EEDF"/>
                </a:solidFill>
                <a:latin typeface="Arial"/>
              </a:rPr>
              <a:t>Lanterns on the water at dusk are Wuzhen's signature image.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A9AA8"/>
                </a:solidFill>
                <a:latin typeface="Microsoft YaHei"/>
              </a:rPr>
              <a:t>HOMELINK — Wuzhen shows how a town can grow around water, and keep its shape around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KEYWORDS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Seven words to follow through the town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37744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D7AD69"/>
                </a:solidFill>
                <a:latin typeface="Arial"/>
              </a:rPr>
              <a:t>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F5EEDF"/>
                </a:solidFill>
                <a:latin typeface="Arial"/>
              </a:rPr>
              <a:t>BRIDGES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37744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8A9AA8"/>
                </a:solidFill>
                <a:latin typeface="Arial"/>
              </a:rPr>
              <a:t>CANAL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F5EEDF"/>
                </a:solidFill>
                <a:latin typeface="Arial"/>
              </a:rPr>
              <a:t>BOATS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56616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8A9AA8"/>
                </a:solidFill>
                <a:latin typeface="Arial"/>
              </a:rPr>
              <a:t>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365760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D7AD69"/>
                </a:solidFill>
                <a:latin typeface="Arial"/>
              </a:rPr>
              <a:t>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54880"/>
            <a:ext cx="3657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D7AD69"/>
                </a:solidFill>
                <a:latin typeface="Arial"/>
              </a:rPr>
              <a:t>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8A9AA8"/>
                </a:solidFill>
                <a:latin typeface="Microsoft YaHei"/>
              </a:rPr>
              <a:t>水 · 桥 · 水道 · 船 · 倒影 · 生活 · 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OUR ENGLISH GUIDE · 74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The 60–80 word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6949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F5EEDF"/>
                </a:solidFill>
                <a:latin typeface="Arial"/>
              </a:rPr>
              <a:t>Wuzhen is a water town in Zhejiang, where the canals came first and the streets came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949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F5EEDF"/>
                </a:solidFill>
                <a:latin typeface="Arial"/>
              </a:rPr>
              <a:t>Boats still cross its 72 stone bridges, and houses face the water the way they did a thousand years ago.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949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F5EEDF"/>
                </a:solidFill>
                <a:latin typeface="Arial"/>
              </a:rPr>
              <a:t>Lanterns and reflections make the evening a second sightseeing 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6949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F5EEDF"/>
                </a:solidFill>
                <a:latin typeface="Arial"/>
              </a:rPr>
              <a:t>If you love quiet canals, old stone and a living old town, come — and take a boat with us.</a:t>
            </a:r>
          </a:p>
        </p:txBody>
      </p:sp>
      <p:pic>
        <p:nvPicPr>
          <p:cNvPr id="8" name="Picture 7" descr="900x600_night-webp.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20240"/>
            <a:ext cx="3749039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4526280"/>
            <a:ext cx="374903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  <a:latin typeface="Arial"/>
              </a:rPr>
              <a:t>Wuzhen at night — lanterns over the water.  Source &amp; license: see the site's Sources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949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74 words · 60–80 word requirement met · image credited.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3474720" cy="274320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2926079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D7AD69"/>
                </a:solidFill>
                <a:latin typeface="Arial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26079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F5EEDF"/>
                </a:solidFill>
                <a:latin typeface="Arial"/>
              </a:rPr>
              <a:t>Can you spot where water still runs the town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399" y="2286000"/>
            <a:ext cx="3474720" cy="274320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2514600"/>
            <a:ext cx="2926079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D7AD69"/>
                </a:solidFill>
                <a:latin typeface="Arial"/>
              </a:rPr>
              <a:t>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3108960"/>
            <a:ext cx="2926079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F5EEDF"/>
                </a:solidFill>
                <a:latin typeface="Arial"/>
              </a:rPr>
              <a:t>“Visit Wuzhen by boat — the water is the road.”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2286000"/>
            <a:ext cx="3474720" cy="274320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514600"/>
            <a:ext cx="2926079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D7AD69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08960"/>
            <a:ext cx="2926079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>
                <a:solidFill>
                  <a:srgbClr val="F5EEDF"/>
                </a:solidFill>
                <a:latin typeface="Arial"/>
              </a:rPr>
              <a:t>If the canals were blocked, what would Wuzhen lose?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>
                <a:solidFill>
                  <a:srgbClr val="8A9AA8"/>
                </a:solidFill>
                <a:latin typeface="Arial"/>
              </a:rPr>
              <a:t>907G6 · WUZHEN WATERWAYS &amp; BRIDGES · 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SHOW DAY ·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How the 5–9 minute show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463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D7AD69"/>
                </a:solidFill>
                <a:latin typeface="Arial"/>
              </a:rPr>
              <a:t>≈ 30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2024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Arial"/>
              </a:rPr>
              <a:t>OPENING · 开场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212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Arial"/>
              </a:rPr>
              <a:t>Introduce the group and the theme; issue the challenge invitation.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D7AD69"/>
                </a:solidFill>
                <a:latin typeface="Arial"/>
              </a:rPr>
              <a:t>1–2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74320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Arial"/>
              </a:rPr>
              <a:t>CULTURE DISCOVERY · 文化发现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212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Arial"/>
              </a:rPr>
              <a:t>What we studied and the most important findings.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463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D7AD69"/>
                </a:solidFill>
                <a:latin typeface="Arial"/>
              </a:rPr>
              <a:t>1–2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56616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Arial"/>
              </a:rPr>
              <a:t>WHY RECOMMEND · 推荐理由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212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Arial"/>
              </a:rPr>
              <a:t>Cultural highlights, the hometown link, and our reasons.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463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D7AD69"/>
                </a:solidFill>
                <a:latin typeface="Arial"/>
              </a:rPr>
              <a:t>1–2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38912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Arial"/>
              </a:rPr>
              <a:t>ENGLISH GUIDE · 英文导览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212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Arial"/>
              </a:rPr>
              <a:t>The 60–90 second English recommendation,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4630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D7AD69"/>
                </a:solidFill>
                <a:latin typeface="Arial"/>
              </a:rPr>
              <a:t>≈ 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21208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Arial"/>
              </a:rPr>
              <a:t>INTERACTION · 互动结展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212080"/>
            <a:ext cx="5212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9AA8"/>
                </a:solidFill>
                <a:latin typeface="Arial"/>
              </a:rPr>
              <a:t>One question — or a quick vote — then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A9AA8"/>
                </a:solidFill>
                <a:latin typeface="Microsoft YaHei"/>
              </a:rPr>
              <a:t>Face the class, never read the slide — and every member speaks.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SHOW DAY ·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Who does what on show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开场负责人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Opening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蒋盛熠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2024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02996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文化讲解员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37744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汪瀚宇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2024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2996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英文推荐员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9748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沈毅程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PPT操作员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鲁昂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38328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互动负责人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84048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沈煜程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38328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组长统筹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84048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Project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16052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蒋盛熠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5604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网站与展示制作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Web &amp;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鲁昂 · 沈煜程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84632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95604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摄影与图片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30352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Photography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62356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朱钟乐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846320"/>
            <a:ext cx="3566160" cy="1234440"/>
          </a:xfrm>
          <a:prstGeom prst="rect">
            <a:avLst/>
          </a:prstGeom>
          <a:solidFill>
            <a:srgbClr val="0C2432"/>
          </a:solidFill>
          <a:ln w="9525">
            <a:solidFill>
              <a:srgbClr val="D7AD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95604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5EEDF"/>
                </a:solidFill>
                <a:latin typeface="Microsoft YaHei"/>
              </a:rPr>
              <a:t>文案与史实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30352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D7AD69"/>
                </a:solidFill>
                <a:latin typeface="Arial"/>
              </a:rPr>
              <a:t>Copy &amp; fact-check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62356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  <a:latin typeface="Microsoft YaHei"/>
              </a:rPr>
              <a:t>沈毅程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D7AD69"/>
                </a:solidFill>
                <a:latin typeface="Arial"/>
              </a:rPr>
              <a:t>SOURCES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>
                <a:solidFill>
                  <a:srgbClr val="F5EEDF"/>
                </a:solidFill>
                <a:latin typeface="Arial"/>
              </a:rPr>
              <a:t>Where our facts &amp; images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F5EEDF"/>
                </a:solidFill>
                <a:latin typeface="Arial"/>
              </a:rPr>
              <a:t>·  Xizha waterways ≈ 10,000 m and 72 ancient stone bridges — public Wuzhen heritage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F5EEDF"/>
                </a:solidFill>
                <a:latin typeface="Arial"/>
              </a:rPr>
              <a:t>·  Canal-before-streets history — local water-town surveys referenced on the site's Sources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F5EEDF"/>
                </a:solidFill>
                <a:latin typeface="Arial"/>
              </a:rPr>
              <a:t>·  Aerial &amp; field photos — taken on site by the group; each image carries its own credit.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D7AD69"/>
                </a:solidFill>
                <a:latin typeface="Arial"/>
              </a:rPr>
              <a:t>All facts and images are sourced on the project site — see Image Sources &amp; Licensing.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0">
                <a:solidFill>
                  <a:srgbClr val="F5EEDF"/>
                </a:solidFill>
                <a:latin typeface="Microsoft YaHei"/>
              </a:rPr>
              <a:t>THANK YOU · 谢谢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8A9AA8"/>
                </a:solidFill>
                <a:latin typeface="Arial"/>
              </a:rPr>
              <a:t>WUZHEN · WATERWAYS &amp; BRIDGES · GROUP 907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00" b="0">
                <a:solidFill>
                  <a:srgbClr val="D7AD69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