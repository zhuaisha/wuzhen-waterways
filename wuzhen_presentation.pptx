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96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 'Wuzhen, a water town shaped by water.' Then ask: 'Our question is: why is water the main line of the ancient town?' Everything in this deck answers that one question. Keep it calm and slow — this is an exhibition, not a report.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research. 'We looked at Wuzhen as a water system, not just a picture. These are the three things we kept returning to.' Let the three photos speak for a moment, then read the website line once. Simple and confident.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waterway atlas. 'This is not a map. It is our attempt to trace the route: north gate to the early market.' Four nodes, no labels we invented. The line is what connects everything we saw.</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one and answer two. Why? Because water decides where houses are built, where bridges must be built, and how streets have to be laid. That is the argument. Then Facts — and only the numbers we actually have: 72 ancient stone bridges, and nearly 10,000 metres of waterway in Xizha, in a cross-shaped system. Read them slowly. We did not guess extra numbers.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Past to present. Day to night. 'In the past the waterway was transport and trade. Today it is tourism and lanterns.' Show the day photo, then the night photo, and only then move to the words on the right.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'Wuzhen, water connects everything.' Thank the team. 'Water carries the town, carries our research, and carries this project.' One breath, then stop.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jpg"/><Relationship Id="rId4" Type="http://schemas.openxmlformats.org/officeDocument/2006/relationships/image" Target="../media/image4.jp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image" Target="../media/image6.jp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image" Target="../media/image8.jpg"/><Relationship Id="rId4" Type="http://schemas.openxmlformats.org/officeDocument/2006/relationships/image" Target="../media/image9.jpg"/><Relationship Id="rId5" Type="http://schemas.openxmlformats.org/officeDocument/2006/relationships/image" Target="../media/image10.jpg"/><Relationship Id="rId6" Type="http://schemas.openxmlformats.org/officeDocument/2006/relationships/image" Target="../media/image11.jpg"/><Relationship Id="rId7" Type="http://schemas.openxmlformats.org/officeDocument/2006/relationships/image" Target="../media/image12.jpg"/><Relationship Id="rId8" Type="http://schemas.openxmlformats.org/officeDocument/2006/relationships/image" Target="../media/image13.jpg"/><Relationship Id="rId9"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pic>
        <p:nvPicPr>
          <p:cNvPr id="2" name="Picture 1" descr="cv_hero"/>
          <p:cNvPicPr>
            <a:picLocks noChangeAspect="1"/>
          </p:cNvPicPr>
          <p:nvPr/>
        </p:nvPicPr>
        <p:blipFill>
          <a:blip r:embed="rId2"/>
          <a:stretch>
            <a:fillRect/>
          </a:stretch>
        </p:blipFill>
        <p:spPr>
          <a:xfrm>
            <a:off x="0" y="0"/>
            <a:ext cx="12192000" cy="6858000"/>
          </a:xfrm>
          <a:prstGeom prst="rect">
            <a:avLst/>
          </a:prstGeom>
          <a:effectLst/>
        </p:spPr>
      </p:pic>
      <p:sp>
        <p:nvSpPr>
          <p:cNvPr id="3" name="Rectangle 2"/>
          <p:cNvSpPr/>
          <p:nvPr/>
        </p:nvSpPr>
        <p:spPr>
          <a:xfrm>
            <a:off x="0" y="0"/>
            <a:ext cx="12192000" cy="6858000"/>
          </a:xfrm>
          <a:prstGeom prst="rect">
            <a:avLst/>
          </a:prstGeom>
          <a:solidFill>
            <a:srgbClr val="1D1D1F">
              <a:alpha val="4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3556000"/>
          </a:xfrm>
          <a:prstGeom prst="rect">
            <a:avLst/>
          </a:prstGeom>
          <a:solidFill>
            <a:srgbClr val="1D1D1F">
              <a:alpha val="6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3937000"/>
            <a:ext cx="12192000" cy="2921000"/>
          </a:xfrm>
          <a:prstGeom prst="rect">
            <a:avLst/>
          </a:prstGeom>
          <a:solidFill>
            <a:srgbClr val="1D1D1F">
              <a:alpha val="7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368300"/>
            <a:ext cx="6985000" cy="190500"/>
          </a:xfrm>
          <a:prstGeom prst="rect">
            <a:avLst/>
          </a:prstGeom>
          <a:noFill/>
          <a:effectLst/>
        </p:spPr>
        <p:txBody>
          <a:bodyPr wrap="square" anchor="t" lIns="0" rIns="0" tIns="0" bIns="0">
            <a:noAutofit/>
          </a:bodyPr>
          <a:lstStyle/>
          <a:p>
            <a:pPr algn="l"/>
            <a:r>
              <a:rPr sz="1250" b="1" spc="170" kern="1200">
                <a:solidFill>
                  <a:srgbClr val="A1A1A6"/>
                </a:solidFill>
                <a:latin typeface="Helvetica Neue"/>
                <a:ea typeface="微软雅黑"/>
              </a:rPr>
              <a:t>GROUP 90706  ·  6 MEMBERS  ·  PBL PROJECT  ·  2026</a:t>
            </a:r>
          </a:p>
        </p:txBody>
      </p:sp>
      <p:sp>
        <p:nvSpPr>
          <p:cNvPr id="7" name="TextBox 6"/>
          <p:cNvSpPr txBox="1"/>
          <p:nvPr/>
        </p:nvSpPr>
        <p:spPr>
          <a:xfrm>
            <a:off x="457200" y="1727200"/>
            <a:ext cx="6985000" cy="952500"/>
          </a:xfrm>
          <a:prstGeom prst="rect">
            <a:avLst/>
          </a:prstGeom>
          <a:noFill/>
          <a:effectLst/>
        </p:spPr>
        <p:txBody>
          <a:bodyPr wrap="square" anchor="t" lIns="0" rIns="0" tIns="0" bIns="0">
            <a:noAutofit/>
          </a:bodyPr>
          <a:lstStyle/>
          <a:p>
            <a:pPr algn="l"/>
            <a:r>
              <a:rPr sz="12800" b="1" spc="-200" kern="1200">
                <a:solidFill>
                  <a:srgbClr val="FFFFFF"/>
                </a:solidFill>
                <a:latin typeface="Helvetica Neue"/>
                <a:ea typeface="微软雅黑"/>
              </a:rPr>
              <a:t>WUZHEN</a:t>
            </a:r>
          </a:p>
        </p:txBody>
      </p:sp>
      <p:sp>
        <p:nvSpPr>
          <p:cNvPr id="8" name="TextBox 7"/>
          <p:cNvSpPr txBox="1"/>
          <p:nvPr/>
        </p:nvSpPr>
        <p:spPr>
          <a:xfrm>
            <a:off x="495299" y="3213100"/>
            <a:ext cx="5715000" cy="228600"/>
          </a:xfrm>
          <a:prstGeom prst="rect">
            <a:avLst/>
          </a:prstGeom>
          <a:noFill/>
          <a:effectLst/>
        </p:spPr>
        <p:txBody>
          <a:bodyPr wrap="square" anchor="t" lIns="0" rIns="0" tIns="0" bIns="0">
            <a:noAutofit/>
          </a:bodyPr>
          <a:lstStyle/>
          <a:p>
            <a:pPr algn="l"/>
            <a:r>
              <a:rPr sz="2600" b="1" spc="230" kern="1200">
                <a:solidFill>
                  <a:srgbClr val="FFFFFF"/>
                </a:solidFill>
                <a:latin typeface="Helvetica Neue"/>
                <a:ea typeface="微软雅黑"/>
              </a:rPr>
              <a:t>WATERWAYS  &amp;  BRIDGES</a:t>
            </a:r>
          </a:p>
        </p:txBody>
      </p:sp>
      <p:sp>
        <p:nvSpPr>
          <p:cNvPr id="9" name="TextBox 8"/>
          <p:cNvSpPr txBox="1"/>
          <p:nvPr/>
        </p:nvSpPr>
        <p:spPr>
          <a:xfrm>
            <a:off x="495299" y="3606800"/>
            <a:ext cx="5715000" cy="203200"/>
          </a:xfrm>
          <a:prstGeom prst="rect">
            <a:avLst/>
          </a:prstGeom>
          <a:noFill/>
          <a:effectLst/>
        </p:spPr>
        <p:txBody>
          <a:bodyPr wrap="square" anchor="t" lIns="0" rIns="0" tIns="0" bIns="0">
            <a:noAutofit/>
          </a:bodyPr>
          <a:lstStyle/>
          <a:p>
            <a:pPr algn="l"/>
            <a:r>
              <a:rPr sz="2100" b="0" kern="1200">
                <a:solidFill>
                  <a:srgbClr val="A1A1A6"/>
                </a:solidFill>
                <a:latin typeface="Helvetica Neue"/>
                <a:ea typeface="微软雅黑"/>
              </a:rPr>
              <a:t>A water town shaped by water.</a:t>
            </a:r>
          </a:p>
        </p:txBody>
      </p:sp>
      <p:sp>
        <p:nvSpPr>
          <p:cNvPr id="10" name="Rectangle 9"/>
          <p:cNvSpPr/>
          <p:nvPr/>
        </p:nvSpPr>
        <p:spPr>
          <a:xfrm>
            <a:off x="7239000" y="4445000"/>
            <a:ext cx="571500" cy="19050"/>
          </a:xfrm>
          <a:prstGeom prst="rect">
            <a:avLst/>
          </a:prstGeom>
          <a:solidFill>
            <a:srgbClr val="66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239000" y="4660900"/>
            <a:ext cx="4495800" cy="165100"/>
          </a:xfrm>
          <a:prstGeom prst="rect">
            <a:avLst/>
          </a:prstGeom>
          <a:noFill/>
          <a:effectLst/>
        </p:spPr>
        <p:txBody>
          <a:bodyPr wrap="square" anchor="t" lIns="0" rIns="0" tIns="0" bIns="0">
            <a:noAutofit/>
          </a:bodyPr>
          <a:lstStyle/>
          <a:p>
            <a:pPr algn="l"/>
            <a:r>
              <a:rPr sz="1300" b="1" spc="230" kern="1200">
                <a:solidFill>
                  <a:srgbClr val="FFFFFF"/>
                </a:solidFill>
                <a:latin typeface="Helvetica Neue"/>
                <a:ea typeface="微软雅黑"/>
              </a:rPr>
              <a:t>OUR QUESTION</a:t>
            </a:r>
          </a:p>
        </p:txBody>
      </p:sp>
      <p:sp>
        <p:nvSpPr>
          <p:cNvPr id="12" name="TextBox 11"/>
          <p:cNvSpPr txBox="1"/>
          <p:nvPr/>
        </p:nvSpPr>
        <p:spPr>
          <a:xfrm>
            <a:off x="7239000" y="4927600"/>
            <a:ext cx="4495800" cy="1079500"/>
          </a:xfrm>
          <a:prstGeom prst="rect">
            <a:avLst/>
          </a:prstGeom>
          <a:noFill/>
          <a:effectLst/>
        </p:spPr>
        <p:txBody>
          <a:bodyPr wrap="square" anchor="t" lIns="0" rIns="0" tIns="0" bIns="0">
            <a:noAutofit/>
          </a:bodyPr>
          <a:lstStyle/>
          <a:p>
            <a:pPr algn="l">
              <a:lnSpc>
                <a:spcPct val="114000"/>
              </a:lnSpc>
            </a:pPr>
            <a:r>
              <a:rPr sz="3200" b="1" spc="-40" kern="1200">
                <a:solidFill>
                  <a:srgbClr val="FFFFFF"/>
                </a:solidFill>
                <a:latin typeface="Helvetica Neue"/>
                <a:ea typeface="微软雅黑"/>
              </a:rPr>
              <a:t>Why is water the main line</a:t>
            </a:r>
          </a:p>
          <a:p>
            <a:pPr algn="l">
              <a:lnSpc>
                <a:spcPct val="114000"/>
              </a:lnSpc>
            </a:pPr>
            <a:r>
              <a:rPr sz="3200" b="1" spc="-40" kern="1200">
                <a:solidFill>
                  <a:srgbClr val="FFFFFF"/>
                </a:solidFill>
                <a:latin typeface="Helvetica Neue"/>
                <a:ea typeface="微软雅黑"/>
              </a:rPr>
              <a:t>of the ancient town?</a:t>
            </a:r>
          </a:p>
        </p:txBody>
      </p:sp>
      <p:sp>
        <p:nvSpPr>
          <p:cNvPr id="13" name="TextBox 12"/>
          <p:cNvSpPr txBox="1"/>
          <p:nvPr/>
        </p:nvSpPr>
        <p:spPr>
          <a:xfrm>
            <a:off x="7239000" y="6007100"/>
            <a:ext cx="4495800" cy="190500"/>
          </a:xfrm>
          <a:prstGeom prst="rect">
            <a:avLst/>
          </a:prstGeom>
          <a:noFill/>
          <a:effectLst/>
        </p:spPr>
        <p:txBody>
          <a:bodyPr wrap="square" anchor="t" lIns="0" rIns="0" tIns="0" bIns="0">
            <a:noAutofit/>
          </a:bodyPr>
          <a:lstStyle/>
          <a:p>
            <a:pPr algn="l"/>
            <a:r>
              <a:rPr sz="1900" b="0" kern="1200">
                <a:solidFill>
                  <a:srgbClr val="A1A1A6"/>
                </a:solidFill>
                <a:latin typeface="Helvetica Neue"/>
                <a:ea typeface="微软雅黑"/>
              </a:rPr>
              <a:t>为什么水是古镇的主线？</a:t>
            </a:r>
          </a:p>
        </p:txBody>
      </p:sp>
      <p:sp>
        <p:nvSpPr>
          <p:cNvPr id="14" name="TextBox 13"/>
          <p:cNvSpPr txBox="1"/>
          <p:nvPr/>
        </p:nvSpPr>
        <p:spPr>
          <a:xfrm>
            <a:off x="457200" y="6350000"/>
            <a:ext cx="5715000" cy="177800"/>
          </a:xfrm>
          <a:prstGeom prst="rect">
            <a:avLst/>
          </a:prstGeom>
          <a:noFill/>
          <a:effectLst/>
        </p:spPr>
        <p:txBody>
          <a:bodyPr wrap="square" anchor="t" lIns="0" rIns="0" tIns="0" bIns="0">
            <a:noAutofit/>
          </a:bodyPr>
          <a:lstStyle/>
          <a:p>
            <a:pPr algn="l"/>
            <a:r>
              <a:rPr sz="1400" b="0" spc="60" kern="1200">
                <a:solidFill>
                  <a:srgbClr val="A1A1A6"/>
                </a:solidFill>
                <a:latin typeface="Helvetica Neue"/>
                <a:ea typeface="微软雅黑"/>
              </a:rPr>
              <a:t>Everything in this deck answers one question.</a:t>
            </a:r>
          </a:p>
        </p:txBody>
      </p:sp>
    </p:spTree>
  </p:cSld>
  <p:clrMapOvr>
    <a:masterClrMapping/>
  </p:clrMapOvr>
  <p:transition xmlns:p14="http://schemas.microsoft.com/office/powerpoint/2010/main" spd="slow">
    <p:fade thruBlk="1"/>
  </p:transition>
  <p:timing>
    <p:tnLst>
      <p:par>
        <p:cTn id="1" dur="indefinite" restart="never" nodeType="mainSeq">
          <p:childTnLst>
            <p:par>
              <p:cTn id="2" fill="hold">
                <p:stCondLst>
                  <p:cond delay="0"/>
                </p:stCondLst>
                <p:childTnLst>
                  <p:par>
                    <p:cTn id="3" presetID="10" presetClass="entr" presetSubtype="0" fill="hold" nodeType="afterEffect">
                      <p:stCondLst>
                        <p:cond delay="100"/>
                      </p:stCondLst>
                      <p:childTnLst>
                        <p:animEffect transition="in" filter="fade">
                          <p:cBhvr>
                            <p:tgtEl>
                              <p:spLst>
                                <p:spTgt spid="7"/>
                              </p:spLst>
                            </p:tgtEl>
                          </p:cBhvr>
                        </p:animEffect>
                      </p:childTnLst>
                    </p:cTn>
                  </p:par>
                  <p:par>
                    <p:cTn id="4" presetID="10" presetClass="entr" presetSubtype="0" fill="hold" nodeType="afterEffect">
                      <p:stCondLst>
                        <p:cond delay="300"/>
                      </p:stCondLst>
                      <p:childTnLst>
                        <p:animEffect transition="in" filter="fade">
                          <p:cBhvr>
                            <p:tgtEl>
                              <p:spLst>
                                <p:spTgt spid="8"/>
                              </p:spLst>
                            </p:tgtEl>
                          </p:cBhvr>
                        </p:animEffect>
                      </p:childTnLst>
                    </p:cTn>
                  </p:par>
                  <p:par>
                    <p:cTn id="5" presetID="10" presetClass="entr" presetSubtype="0" fill="hold" nodeType="afterEffect">
                      <p:stCondLst>
                        <p:cond delay="900"/>
                      </p:stCondLst>
                      <p:childTnLst>
                        <p:animEffect transition="in" filter="fade">
                          <p:cBhvr>
                            <p:tgtEl>
                              <p:spLst>
                                <p:spTgt spid="12"/>
                              </p:spLst>
                            </p:tgtEl>
                          </p:cBhvr>
                        </p:animEffect>
                      </p:childTnLst>
                    </p:cTn>
                  </p:par>
                </p:childTnLst>
              </p:cTn>
            </p:par>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55600"/>
            <a:ext cx="6985000" cy="177800"/>
          </a:xfrm>
          <a:prstGeom prst="rect">
            <a:avLst/>
          </a:prstGeom>
          <a:noFill/>
          <a:effectLst/>
        </p:spPr>
        <p:txBody>
          <a:bodyPr wrap="square" anchor="t" lIns="0" rIns="0" tIns="0" bIns="0">
            <a:noAutofit/>
          </a:bodyPr>
          <a:lstStyle/>
          <a:p>
            <a:pPr algn="l"/>
            <a:r>
              <a:rPr sz="1250" b="1" spc="230" kern="1200">
                <a:solidFill>
                  <a:srgbClr val="667F80"/>
                </a:solidFill>
                <a:latin typeface="Helvetica Neue"/>
                <a:ea typeface="微软雅黑"/>
              </a:rPr>
              <a:t>02 — WHAT WE SAW</a:t>
            </a:r>
          </a:p>
        </p:txBody>
      </p:sp>
      <p:sp>
        <p:nvSpPr>
          <p:cNvPr id="3" name="TextBox 2"/>
          <p:cNvSpPr txBox="1"/>
          <p:nvPr/>
        </p:nvSpPr>
        <p:spPr>
          <a:xfrm>
            <a:off x="457200" y="596900"/>
            <a:ext cx="11277600" cy="533400"/>
          </a:xfrm>
          <a:prstGeom prst="rect">
            <a:avLst/>
          </a:prstGeom>
          <a:noFill/>
          <a:effectLst/>
        </p:spPr>
        <p:txBody>
          <a:bodyPr wrap="square" anchor="t" lIns="0" rIns="0" tIns="0" bIns="0">
            <a:noAutofit/>
          </a:bodyPr>
          <a:lstStyle/>
          <a:p>
            <a:pPr algn="l"/>
            <a:r>
              <a:rPr sz="6000" b="1" spc="-110" kern="1200">
                <a:solidFill>
                  <a:srgbClr val="1D1D1F"/>
                </a:solidFill>
                <a:latin typeface="Helvetica Neue"/>
                <a:ea typeface="微软雅黑"/>
              </a:rPr>
              <a:t>VISUAL RESEARCH</a:t>
            </a:r>
          </a:p>
        </p:txBody>
      </p:sp>
      <p:sp>
        <p:nvSpPr>
          <p:cNvPr id="4" name="TextBox 3"/>
          <p:cNvSpPr txBox="1"/>
          <p:nvPr/>
        </p:nvSpPr>
        <p:spPr>
          <a:xfrm>
            <a:off x="457200" y="1231900"/>
            <a:ext cx="6985000" cy="190500"/>
          </a:xfrm>
          <a:prstGeom prst="rect">
            <a:avLst/>
          </a:prstGeom>
          <a:noFill/>
          <a:effectLst/>
        </p:spPr>
        <p:txBody>
          <a:bodyPr wrap="square" anchor="t" lIns="0" rIns="0" tIns="0" bIns="0">
            <a:noAutofit/>
          </a:bodyPr>
          <a:lstStyle/>
          <a:p>
            <a:pPr algn="l"/>
            <a:r>
              <a:rPr sz="2000" b="0" kern="1200">
                <a:solidFill>
                  <a:srgbClr val="6E6E73"/>
                </a:solidFill>
                <a:latin typeface="Helvetica Neue"/>
                <a:ea typeface="微软雅黑"/>
              </a:rPr>
              <a:t>Wuzhen as a water system, not just a picture.</a:t>
            </a:r>
          </a:p>
        </p:txBody>
      </p:sp>
      <p:sp>
        <p:nvSpPr>
          <p:cNvPr id="5" name="Rectangle 4"/>
          <p:cNvSpPr/>
          <p:nvPr/>
        </p:nvSpPr>
        <p:spPr>
          <a:xfrm>
            <a:off x="457200" y="1562100"/>
            <a:ext cx="11277600" cy="6350"/>
          </a:xfrm>
          <a:prstGeom prst="rect">
            <a:avLst/>
          </a:prstGeom>
          <a:solidFill>
            <a:srgbClr val="D2D2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waterway-jpg.jpg__560x336"/>
          <p:cNvPicPr>
            <a:picLocks noChangeAspect="1"/>
          </p:cNvPicPr>
          <p:nvPr/>
        </p:nvPicPr>
        <p:blipFill>
          <a:blip r:embed="rId2"/>
          <a:stretch>
            <a:fillRect/>
          </a:stretch>
        </p:blipFill>
        <p:spPr>
          <a:xfrm>
            <a:off x="457199" y="1701800"/>
            <a:ext cx="3556000" cy="2133600"/>
          </a:xfrm>
          <a:prstGeom prst="rect">
            <a:avLst/>
          </a:prstGeom>
          <a:effectLst/>
        </p:spPr>
      </p:pic>
      <p:sp>
        <p:nvSpPr>
          <p:cNvPr id="7" name="TextBox 6"/>
          <p:cNvSpPr txBox="1"/>
          <p:nvPr/>
        </p:nvSpPr>
        <p:spPr>
          <a:xfrm>
            <a:off x="457200" y="3987799"/>
            <a:ext cx="3429000" cy="165100"/>
          </a:xfrm>
          <a:prstGeom prst="rect">
            <a:avLst/>
          </a:prstGeom>
          <a:noFill/>
          <a:effectLst/>
        </p:spPr>
        <p:txBody>
          <a:bodyPr wrap="square" anchor="t" lIns="0" rIns="0" tIns="0" bIns="0">
            <a:noAutofit/>
          </a:bodyPr>
          <a:lstStyle/>
          <a:p>
            <a:pPr algn="l"/>
            <a:r>
              <a:rPr sz="1350" b="1" spc="60" kern="1200">
                <a:solidFill>
                  <a:srgbClr val="1D1D1F"/>
                </a:solidFill>
                <a:latin typeface="Helvetica Neue"/>
                <a:ea typeface="微软雅黑"/>
              </a:rPr>
              <a:t>WATER — THE CROSS-SHAPED SYSTEM</a:t>
            </a:r>
          </a:p>
        </p:txBody>
      </p:sp>
      <p:sp>
        <p:nvSpPr>
          <p:cNvPr id="8" name="TextBox 7"/>
          <p:cNvSpPr txBox="1"/>
          <p:nvPr/>
        </p:nvSpPr>
        <p:spPr>
          <a:xfrm>
            <a:off x="457200" y="4203700"/>
            <a:ext cx="3429000" cy="177800"/>
          </a:xfrm>
          <a:prstGeom prst="rect">
            <a:avLst/>
          </a:prstGeom>
          <a:noFill/>
          <a:effectLst/>
        </p:spPr>
        <p:txBody>
          <a:bodyPr wrap="square" anchor="t" lIns="0" rIns="0" tIns="0" bIns="0">
            <a:noAutofit/>
          </a:bodyPr>
          <a:lstStyle/>
          <a:p>
            <a:pPr algn="l"/>
            <a:r>
              <a:rPr sz="1500" b="0" kern="1200">
                <a:solidFill>
                  <a:srgbClr val="6E6E73"/>
                </a:solidFill>
                <a:latin typeface="Helvetica Neue"/>
                <a:ea typeface="微软雅黑"/>
              </a:rPr>
              <a:t>水：把古镇分成不同区域</a:t>
            </a:r>
          </a:p>
        </p:txBody>
      </p:sp>
      <p:pic>
        <p:nvPicPr>
          <p:cNvPr id="9" name="Picture 8" descr="bridge2-jpg.jpg__560x336"/>
          <p:cNvPicPr>
            <a:picLocks noChangeAspect="1"/>
          </p:cNvPicPr>
          <p:nvPr/>
        </p:nvPicPr>
        <p:blipFill>
          <a:blip r:embed="rId3"/>
          <a:stretch>
            <a:fillRect/>
          </a:stretch>
        </p:blipFill>
        <p:spPr>
          <a:xfrm>
            <a:off x="4318000" y="1701800"/>
            <a:ext cx="3556000" cy="2133600"/>
          </a:xfrm>
          <a:prstGeom prst="rect">
            <a:avLst/>
          </a:prstGeom>
          <a:effectLst/>
        </p:spPr>
      </p:pic>
      <p:sp>
        <p:nvSpPr>
          <p:cNvPr id="10" name="TextBox 9"/>
          <p:cNvSpPr txBox="1"/>
          <p:nvPr/>
        </p:nvSpPr>
        <p:spPr>
          <a:xfrm>
            <a:off x="4318000" y="3987799"/>
            <a:ext cx="3429000" cy="165100"/>
          </a:xfrm>
          <a:prstGeom prst="rect">
            <a:avLst/>
          </a:prstGeom>
          <a:noFill/>
          <a:effectLst/>
        </p:spPr>
        <p:txBody>
          <a:bodyPr wrap="square" anchor="t" lIns="0" rIns="0" tIns="0" bIns="0">
            <a:noAutofit/>
          </a:bodyPr>
          <a:lstStyle/>
          <a:p>
            <a:pPr algn="l"/>
            <a:r>
              <a:rPr sz="1350" b="1" spc="60" kern="1200">
                <a:solidFill>
                  <a:srgbClr val="1D1D1F"/>
                </a:solidFill>
                <a:latin typeface="Helvetica Neue"/>
                <a:ea typeface="微软雅黑"/>
              </a:rPr>
              <a:t>BRIDGES — A SHORT ARC LINKS TWO BANKS</a:t>
            </a:r>
          </a:p>
        </p:txBody>
      </p:sp>
      <p:sp>
        <p:nvSpPr>
          <p:cNvPr id="11" name="TextBox 10"/>
          <p:cNvSpPr txBox="1"/>
          <p:nvPr/>
        </p:nvSpPr>
        <p:spPr>
          <a:xfrm>
            <a:off x="4318000" y="4203700"/>
            <a:ext cx="3429000" cy="177800"/>
          </a:xfrm>
          <a:prstGeom prst="rect">
            <a:avLst/>
          </a:prstGeom>
          <a:noFill/>
          <a:effectLst/>
        </p:spPr>
        <p:txBody>
          <a:bodyPr wrap="square" anchor="t" lIns="0" rIns="0" tIns="0" bIns="0">
            <a:noAutofit/>
          </a:bodyPr>
          <a:lstStyle/>
          <a:p>
            <a:pPr algn="l"/>
            <a:r>
              <a:rPr sz="1500" b="0" kern="1200">
                <a:solidFill>
                  <a:srgbClr val="6E6E73"/>
                </a:solidFill>
                <a:latin typeface="Helvetica Neue"/>
                <a:ea typeface="微软雅黑"/>
              </a:rPr>
              <a:t>桥：一段短拱连接两岸</a:t>
            </a:r>
          </a:p>
        </p:txBody>
      </p:sp>
      <p:pic>
        <p:nvPicPr>
          <p:cNvPr id="12" name="Picture 11" descr="night-jpg.jpg__560x336"/>
          <p:cNvPicPr>
            <a:picLocks noChangeAspect="1"/>
          </p:cNvPicPr>
          <p:nvPr/>
        </p:nvPicPr>
        <p:blipFill>
          <a:blip r:embed="rId4"/>
          <a:stretch>
            <a:fillRect/>
          </a:stretch>
        </p:blipFill>
        <p:spPr>
          <a:xfrm>
            <a:off x="8178800" y="1701800"/>
            <a:ext cx="3556000" cy="2133600"/>
          </a:xfrm>
          <a:prstGeom prst="rect">
            <a:avLst/>
          </a:prstGeom>
          <a:effectLst/>
        </p:spPr>
      </p:pic>
      <p:sp>
        <p:nvSpPr>
          <p:cNvPr id="13" name="TextBox 12"/>
          <p:cNvSpPr txBox="1"/>
          <p:nvPr/>
        </p:nvSpPr>
        <p:spPr>
          <a:xfrm>
            <a:off x="8178800" y="3987799"/>
            <a:ext cx="3429000" cy="165100"/>
          </a:xfrm>
          <a:prstGeom prst="rect">
            <a:avLst/>
          </a:prstGeom>
          <a:noFill/>
          <a:effectLst/>
        </p:spPr>
        <p:txBody>
          <a:bodyPr wrap="square" anchor="t" lIns="0" rIns="0" tIns="0" bIns="0">
            <a:noAutofit/>
          </a:bodyPr>
          <a:lstStyle/>
          <a:p>
            <a:pPr algn="l"/>
            <a:r>
              <a:rPr sz="1350" b="1" spc="60" kern="1200">
                <a:solidFill>
                  <a:srgbClr val="1D1D1F"/>
                </a:solidFill>
                <a:latin typeface="Helvetica Neue"/>
                <a:ea typeface="微软雅黑"/>
              </a:rPr>
              <a:t>NIGHT — LANTERNS POUR LIGHT ONTO WATER</a:t>
            </a:r>
          </a:p>
        </p:txBody>
      </p:sp>
      <p:sp>
        <p:nvSpPr>
          <p:cNvPr id="14" name="TextBox 13"/>
          <p:cNvSpPr txBox="1"/>
          <p:nvPr/>
        </p:nvSpPr>
        <p:spPr>
          <a:xfrm>
            <a:off x="8178800" y="4203700"/>
            <a:ext cx="3429000" cy="177800"/>
          </a:xfrm>
          <a:prstGeom prst="rect">
            <a:avLst/>
          </a:prstGeom>
          <a:noFill/>
          <a:effectLst/>
        </p:spPr>
        <p:txBody>
          <a:bodyPr wrap="square" anchor="t" lIns="0" rIns="0" tIns="0" bIns="0">
            <a:noAutofit/>
          </a:bodyPr>
          <a:lstStyle/>
          <a:p>
            <a:pPr algn="l"/>
            <a:r>
              <a:rPr sz="1500" b="0" kern="1200">
                <a:solidFill>
                  <a:srgbClr val="6E6E73"/>
                </a:solidFill>
                <a:latin typeface="Helvetica Neue"/>
                <a:ea typeface="微软雅黑"/>
              </a:rPr>
              <a:t>夜晚：灯光落进水里</a:t>
            </a:r>
          </a:p>
        </p:txBody>
      </p:sp>
      <p:sp>
        <p:nvSpPr>
          <p:cNvPr id="15" name="Rectangle 14"/>
          <p:cNvSpPr/>
          <p:nvPr/>
        </p:nvSpPr>
        <p:spPr>
          <a:xfrm>
            <a:off x="457200" y="4724400"/>
            <a:ext cx="11277600" cy="163830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4724400"/>
            <a:ext cx="11277600" cy="254000"/>
          </a:xfrm>
          <a:prstGeom prst="rect">
            <a:avLst/>
          </a:prstGeom>
          <a:solidFill>
            <a:srgbClr val="D2D2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58800" y="4813300"/>
            <a:ext cx="63500" cy="63500"/>
          </a:xfrm>
          <a:prstGeom prst="rect">
            <a:avLst/>
          </a:prstGeom>
          <a:solidFill>
            <a:srgbClr val="A1A1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73100" y="4813300"/>
            <a:ext cx="63500" cy="63500"/>
          </a:xfrm>
          <a:prstGeom prst="rect">
            <a:avLst/>
          </a:prstGeom>
          <a:solidFill>
            <a:srgbClr val="A1A1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87400" y="4813300"/>
            <a:ext cx="63500" cy="63500"/>
          </a:xfrm>
          <a:prstGeom prst="rect">
            <a:avLst/>
          </a:prstGeom>
          <a:solidFill>
            <a:srgbClr val="A1A1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905000" y="4775200"/>
            <a:ext cx="10160000" cy="1143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81199" y="4781550"/>
            <a:ext cx="5715000" cy="114300"/>
          </a:xfrm>
          <a:prstGeom prst="rect">
            <a:avLst/>
          </a:prstGeom>
          <a:noFill/>
          <a:effectLst/>
        </p:spPr>
        <p:txBody>
          <a:bodyPr wrap="square" anchor="t" lIns="0" rIns="0" tIns="0" bIns="0">
            <a:noAutofit/>
          </a:bodyPr>
          <a:lstStyle/>
          <a:p>
            <a:pPr algn="l"/>
            <a:r>
              <a:rPr sz="1050" b="1" kern="1200">
                <a:solidFill>
                  <a:srgbClr val="6E6E73"/>
                </a:solidFill>
                <a:latin typeface="Helvetica Neue"/>
                <a:ea typeface="微软雅黑"/>
              </a:rPr>
              <a:t>wuzhen-project.github.io/wuzhen-waterways/</a:t>
            </a:r>
          </a:p>
        </p:txBody>
      </p:sp>
      <p:sp>
        <p:nvSpPr>
          <p:cNvPr id="22" name="TextBox 21"/>
          <p:cNvSpPr txBox="1"/>
          <p:nvPr/>
        </p:nvSpPr>
        <p:spPr>
          <a:xfrm>
            <a:off x="1905000" y="5130800"/>
            <a:ext cx="9906000" cy="228600"/>
          </a:xfrm>
          <a:prstGeom prst="rect">
            <a:avLst/>
          </a:prstGeom>
          <a:noFill/>
          <a:effectLst/>
        </p:spPr>
        <p:txBody>
          <a:bodyPr wrap="square" anchor="t" lIns="0" rIns="0" tIns="0" bIns="0">
            <a:noAutofit/>
          </a:bodyPr>
          <a:lstStyle/>
          <a:p>
            <a:pPr algn="l"/>
            <a:r>
              <a:rPr sz="2400" b="1" spc="-20" kern="1200">
                <a:solidFill>
                  <a:srgbClr val="1D1D1F"/>
                </a:solidFill>
                <a:latin typeface="Helvetica Neue"/>
                <a:ea typeface="微软雅黑"/>
              </a:rPr>
              <a:t>One website, seven chapters, every image credited.</a:t>
            </a:r>
          </a:p>
        </p:txBody>
      </p:sp>
      <p:sp>
        <p:nvSpPr>
          <p:cNvPr id="23" name="TextBox 22"/>
          <p:cNvSpPr txBox="1"/>
          <p:nvPr/>
        </p:nvSpPr>
        <p:spPr>
          <a:xfrm>
            <a:off x="1905000" y="5473700"/>
            <a:ext cx="9906000" cy="508000"/>
          </a:xfrm>
          <a:prstGeom prst="rect">
            <a:avLst/>
          </a:prstGeom>
          <a:noFill/>
          <a:effectLst/>
        </p:spPr>
        <p:txBody>
          <a:bodyPr wrap="square" anchor="t" lIns="0" rIns="0" tIns="0" bIns="0">
            <a:noAutofit/>
          </a:bodyPr>
          <a:lstStyle/>
          <a:p>
            <a:pPr algn="l">
              <a:lnSpc>
                <a:spcPct val="128000"/>
              </a:lnSpc>
            </a:pPr>
            <a:r>
              <a:rPr sz="1500" b="0" kern="1200">
                <a:solidFill>
                  <a:srgbClr val="6E6E73"/>
                </a:solidFill>
                <a:latin typeface="Helvetica Neue"/>
                <a:ea typeface="微软雅黑"/>
              </a:rPr>
              <a:t>01 Facts · 02 Gallery · 03 Keywords · 04 Why Water · 05 Timeline · 06 Sources · 07 Team</a:t>
            </a:r>
          </a:p>
          <a:p>
            <a:pPr algn="l">
              <a:lnSpc>
                <a:spcPct val="128000"/>
              </a:lnSpc>
            </a:pPr>
            <a:r>
              <a:rPr sz="1500" b="0" kern="1200">
                <a:solidFill>
                  <a:srgbClr val="6E6E73"/>
                </a:solidFill>
                <a:latin typeface="Helvetica Neue"/>
                <a:ea typeface="微软雅黑"/>
              </a:rPr>
              <a:t>The exhibition is digital, public, and browsable.</a:t>
            </a:r>
          </a:p>
          <a:p>
            <a:pPr algn="l">
              <a:lnSpc>
                <a:spcPct val="128000"/>
              </a:lnSpc>
            </a:pPr>
            <a:r>
              <a:rPr sz="1500" b="0" kern="1200">
                <a:solidFill>
                  <a:srgbClr val="6E6E73"/>
                </a:solidFill>
                <a:latin typeface="Helvetica Neue"/>
                <a:ea typeface="微软雅黑"/>
              </a:rPr>
              <a:t>Every photo carries its source and licence.</a:t>
            </a:r>
          </a:p>
        </p:txBody>
      </p:sp>
      <p:sp>
        <p:nvSpPr>
          <p:cNvPr id="24" name="TextBox 23"/>
          <p:cNvSpPr txBox="1"/>
          <p:nvPr/>
        </p:nvSpPr>
        <p:spPr>
          <a:xfrm>
            <a:off x="1905000" y="6146800"/>
            <a:ext cx="9906000" cy="152400"/>
          </a:xfrm>
          <a:prstGeom prst="rect">
            <a:avLst/>
          </a:prstGeom>
          <a:noFill/>
          <a:effectLst/>
        </p:spPr>
        <p:txBody>
          <a:bodyPr wrap="square" anchor="t" lIns="0" rIns="0" tIns="0" bIns="0">
            <a:noAutofit/>
          </a:bodyPr>
          <a:lstStyle/>
          <a:p>
            <a:pPr algn="l"/>
            <a:r>
              <a:rPr sz="1300" b="0" spc="60" kern="1200">
                <a:solidFill>
                  <a:srgbClr val="A1A1A6"/>
                </a:solidFill>
                <a:latin typeface="Helvetica Neue"/>
                <a:ea typeface="微软雅黑"/>
              </a:rPr>
              <a:t>Built for this PBL project — live and open.</a:t>
            </a:r>
          </a:p>
        </p:txBody>
      </p:sp>
    </p:spTree>
  </p:cSld>
  <p:clrMapOvr>
    <a:masterClrMapping/>
  </p:clrMapOvr>
  <p:transition xmlns:p14="http://schemas.microsoft.com/office/powerpoint/2010/main" spd="med">
    <p:fade/>
  </p:transition>
  <p:timing>
    <p:tnLst>
      <p:par>
        <p:cTn id="1" dur="indefinite" restart="never" nodeType="mainSeq">
          <p:childTnLst>
            <p:par>
              <p:cTn id="2" fill="hold">
                <p:stCondLst>
                  <p:cond delay="0"/>
                </p:stCondLst>
                <p:childTnLst>
                  <p:par>
                    <p:cTn id="3" presetID="23" presetClass="entr" presetSubtype="0" fill="hold" nodeType="afterEffect">
                      <p:stCondLst>
                        <p:cond delay="0"/>
                      </p:stCondLst>
                      <p:childTnLst>
                        <p:animEffect transition="in" filter="zoom">
                          <p:cBhvr>
                            <p:tgtEl>
                              <p:spLst>
                                <p:spTgt spid="6"/>
                              </p:spLst>
                            </p:tgtEl>
                          </p:cBhvr>
                        </p:animEffect>
                      </p:childTnLst>
                    </p:cTn>
                  </p:par>
                  <p:par>
                    <p:cTn id="4" presetID="23" presetClass="entr" presetSubtype="0" fill="hold" nodeType="afterEffect">
                      <p:stCondLst>
                        <p:cond delay="0"/>
                      </p:stCondLst>
                      <p:childTnLst>
                        <p:animEffect transition="in" filter="zoom">
                          <p:cBhvr>
                            <p:tgtEl>
                              <p:spLst>
                                <p:spTgt spid="9"/>
                              </p:spLst>
                            </p:tgtEl>
                          </p:cBhvr>
                        </p:animEffect>
                      </p:childTnLst>
                    </p:cTn>
                  </p:par>
                  <p:par>
                    <p:cTn id="5" presetID="23" presetClass="entr" presetSubtype="0" fill="hold" nodeType="afterEffect">
                      <p:stCondLst>
                        <p:cond delay="0"/>
                      </p:stCondLst>
                      <p:childTnLst>
                        <p:animEffect transition="in" filter="zoom">
                          <p:cBhvr>
                            <p:tgtEl>
                              <p:spLst>
                                <p:spTgt spid="12"/>
                              </p:spLst>
                            </p:tgtEl>
                          </p:cBhvr>
                        </p:animEffect>
                      </p:childTnLst>
                    </p:cTn>
                  </p:par>
                  <p:par>
                    <p:cTn id="6" presetID="10" presetClass="entr" presetSubtype="0" fill="hold" nodeType="afterEffect">
                      <p:stCondLst>
                        <p:cond delay="400"/>
                      </p:stCondLst>
                      <p:childTnLst>
                        <p:animEffect transition="in" filter="fade">
                          <p:cBhvr>
                            <p:tgtEl>
                              <p:spLst>
                                <p:spTgt spid="20"/>
                              </p:spLst>
                            </p:tgtEl>
                          </p:cBhvr>
                        </p:animEffect>
                      </p:childTnLst>
                    </p:cTn>
                  </p:par>
                </p:childTnLst>
              </p:cTn>
            </p:par>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457200" y="355600"/>
            <a:ext cx="6985000" cy="177800"/>
          </a:xfrm>
          <a:prstGeom prst="rect">
            <a:avLst/>
          </a:prstGeom>
          <a:noFill/>
          <a:effectLst/>
        </p:spPr>
        <p:txBody>
          <a:bodyPr wrap="square" anchor="t" lIns="0" rIns="0" tIns="0" bIns="0">
            <a:noAutofit/>
          </a:bodyPr>
          <a:lstStyle/>
          <a:p>
            <a:pPr algn="l"/>
            <a:r>
              <a:rPr sz="1250" b="1" spc="230" kern="1200">
                <a:solidFill>
                  <a:srgbClr val="667F80"/>
                </a:solidFill>
                <a:latin typeface="Helvetica Neue"/>
                <a:ea typeface="微软雅黑"/>
              </a:rPr>
              <a:t>03 — WATERWAY ATLAS</a:t>
            </a:r>
          </a:p>
        </p:txBody>
      </p:sp>
      <p:sp>
        <p:nvSpPr>
          <p:cNvPr id="3" name="TextBox 2"/>
          <p:cNvSpPr txBox="1"/>
          <p:nvPr/>
        </p:nvSpPr>
        <p:spPr>
          <a:xfrm>
            <a:off x="457200" y="596900"/>
            <a:ext cx="6985000" cy="533400"/>
          </a:xfrm>
          <a:prstGeom prst="rect">
            <a:avLst/>
          </a:prstGeom>
          <a:noFill/>
          <a:effectLst/>
        </p:spPr>
        <p:txBody>
          <a:bodyPr wrap="square" anchor="t" lIns="0" rIns="0" tIns="0" bIns="0">
            <a:noAutofit/>
          </a:bodyPr>
          <a:lstStyle/>
          <a:p>
            <a:pPr algn="l"/>
            <a:r>
              <a:rPr sz="6000" b="1" spc="-110" kern="1200">
                <a:solidFill>
                  <a:srgbClr val="FFFFFF"/>
                </a:solidFill>
                <a:latin typeface="Helvetica Neue"/>
                <a:ea typeface="微软雅黑"/>
              </a:rPr>
              <a:t>WATERWAY ATLAS</a:t>
            </a:r>
          </a:p>
        </p:txBody>
      </p:sp>
      <p:sp>
        <p:nvSpPr>
          <p:cNvPr id="4" name="TextBox 3"/>
          <p:cNvSpPr txBox="1"/>
          <p:nvPr/>
        </p:nvSpPr>
        <p:spPr>
          <a:xfrm>
            <a:off x="457200" y="1231900"/>
            <a:ext cx="6985000" cy="190500"/>
          </a:xfrm>
          <a:prstGeom prst="rect">
            <a:avLst/>
          </a:prstGeom>
          <a:noFill/>
          <a:effectLst/>
        </p:spPr>
        <p:txBody>
          <a:bodyPr wrap="square" anchor="t" lIns="0" rIns="0" tIns="0" bIns="0">
            <a:noAutofit/>
          </a:bodyPr>
          <a:lstStyle/>
          <a:p>
            <a:pPr algn="l"/>
            <a:r>
              <a:rPr sz="2000" b="0" kern="1200">
                <a:solidFill>
                  <a:srgbClr val="A1A1A6"/>
                </a:solidFill>
                <a:latin typeface="Helvetica Neue"/>
                <a:ea typeface="微软雅黑"/>
              </a:rPr>
              <a:t>Not a map. An attempt to trace the line.</a:t>
            </a:r>
          </a:p>
        </p:txBody>
      </p:sp>
      <p:sp>
        <p:nvSpPr>
          <p:cNvPr id="5" name="TextBox 4"/>
          <p:cNvSpPr txBox="1"/>
          <p:nvPr/>
        </p:nvSpPr>
        <p:spPr>
          <a:xfrm>
            <a:off x="8509000" y="1231900"/>
            <a:ext cx="3225800" cy="190500"/>
          </a:xfrm>
          <a:prstGeom prst="rect">
            <a:avLst/>
          </a:prstGeom>
          <a:noFill/>
          <a:effectLst/>
        </p:spPr>
        <p:txBody>
          <a:bodyPr wrap="square" anchor="t" lIns="0" rIns="0" tIns="0" bIns="0">
            <a:noAutofit/>
          </a:bodyPr>
          <a:lstStyle/>
          <a:p>
            <a:pPr algn="r"/>
            <a:r>
              <a:rPr sz="1250" b="1" spc="200" kern="1200">
                <a:solidFill>
                  <a:srgbClr val="667F80"/>
                </a:solidFill>
                <a:latin typeface="Helvetica Neue"/>
                <a:ea typeface="微软雅黑"/>
              </a:rPr>
              <a:t>NOT A MAP</a:t>
            </a:r>
          </a:p>
        </p:txBody>
      </p:sp>
      <p:sp>
        <p:nvSpPr>
          <p:cNvPr id="6" name="Rectangle 5"/>
          <p:cNvSpPr/>
          <p:nvPr/>
        </p:nvSpPr>
        <p:spPr>
          <a:xfrm>
            <a:off x="1587500" y="3302000"/>
            <a:ext cx="3175000" cy="12700"/>
          </a:xfrm>
          <a:prstGeom prst="rect">
            <a:avLst/>
          </a:prstGeom>
          <a:solidFill>
            <a:srgbClr val="66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749800" y="3302000"/>
            <a:ext cx="19050" cy="508000"/>
          </a:xfrm>
          <a:prstGeom prst="rect">
            <a:avLst/>
          </a:prstGeom>
          <a:solidFill>
            <a:srgbClr val="66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762500" y="3302000"/>
            <a:ext cx="3175000" cy="12700"/>
          </a:xfrm>
          <a:prstGeom prst="rect">
            <a:avLst/>
          </a:prstGeom>
          <a:solidFill>
            <a:srgbClr val="66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24799" y="3302000"/>
            <a:ext cx="19050" cy="508000"/>
          </a:xfrm>
          <a:prstGeom prst="rect">
            <a:avLst/>
          </a:prstGeom>
          <a:solidFill>
            <a:srgbClr val="66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37500" y="3302000"/>
            <a:ext cx="3175000" cy="12700"/>
          </a:xfrm>
          <a:prstGeom prst="rect">
            <a:avLst/>
          </a:prstGeom>
          <a:solidFill>
            <a:srgbClr val="66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099800" y="3302000"/>
            <a:ext cx="19050" cy="508000"/>
          </a:xfrm>
          <a:prstGeom prst="rect">
            <a:avLst/>
          </a:prstGeom>
          <a:solidFill>
            <a:srgbClr val="66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549400" y="3263900"/>
            <a:ext cx="76200" cy="76200"/>
          </a:xfrm>
          <a:prstGeom prst="rect">
            <a:avLst/>
          </a:prstGeom>
          <a:solidFill>
            <a:srgbClr val="66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84250" y="3517900"/>
            <a:ext cx="1206500" cy="139700"/>
          </a:xfrm>
          <a:prstGeom prst="rect">
            <a:avLst/>
          </a:prstGeom>
          <a:noFill/>
          <a:effectLst/>
        </p:spPr>
        <p:txBody>
          <a:bodyPr wrap="square" anchor="t" lIns="0" rIns="0" tIns="0" bIns="0">
            <a:noAutofit/>
          </a:bodyPr>
          <a:lstStyle/>
          <a:p>
            <a:pPr algn="l"/>
            <a:r>
              <a:rPr sz="1200" b="1" spc="200" kern="1200">
                <a:solidFill>
                  <a:srgbClr val="667F80"/>
                </a:solidFill>
                <a:latin typeface="Helvetica Neue"/>
                <a:ea typeface="微软雅黑"/>
              </a:rPr>
              <a:t>01</a:t>
            </a:r>
          </a:p>
        </p:txBody>
      </p:sp>
      <p:sp>
        <p:nvSpPr>
          <p:cNvPr id="14" name="TextBox 13"/>
          <p:cNvSpPr txBox="1"/>
          <p:nvPr/>
        </p:nvSpPr>
        <p:spPr>
          <a:xfrm>
            <a:off x="984250" y="3683000"/>
            <a:ext cx="1206500" cy="165100"/>
          </a:xfrm>
          <a:prstGeom prst="rect">
            <a:avLst/>
          </a:prstGeom>
          <a:noFill/>
          <a:effectLst/>
        </p:spPr>
        <p:txBody>
          <a:bodyPr wrap="square" anchor="t" lIns="0" rIns="0" tIns="0" bIns="0">
            <a:noAutofit/>
          </a:bodyPr>
          <a:lstStyle/>
          <a:p>
            <a:pPr algn="l"/>
            <a:r>
              <a:rPr sz="1200" b="1" spc="40" kern="1200">
                <a:solidFill>
                  <a:srgbClr val="FFFFFF"/>
                </a:solidFill>
                <a:latin typeface="Helvetica Neue"/>
                <a:ea typeface="微软雅黑"/>
              </a:rPr>
              <a:t>NORTH WATER GATE</a:t>
            </a:r>
          </a:p>
        </p:txBody>
      </p:sp>
      <p:sp>
        <p:nvSpPr>
          <p:cNvPr id="15" name="TextBox 14"/>
          <p:cNvSpPr txBox="1"/>
          <p:nvPr/>
        </p:nvSpPr>
        <p:spPr>
          <a:xfrm>
            <a:off x="984250" y="3873499"/>
            <a:ext cx="1206500" cy="177800"/>
          </a:xfrm>
          <a:prstGeom prst="rect">
            <a:avLst/>
          </a:prstGeom>
          <a:noFill/>
          <a:effectLst/>
        </p:spPr>
        <p:txBody>
          <a:bodyPr wrap="square" anchor="t" lIns="0" rIns="0" tIns="0" bIns="0">
            <a:noAutofit/>
          </a:bodyPr>
          <a:lstStyle/>
          <a:p>
            <a:pPr algn="l"/>
            <a:r>
              <a:rPr sz="1500" b="0" kern="1200">
                <a:solidFill>
                  <a:srgbClr val="A1A1A6"/>
                </a:solidFill>
                <a:latin typeface="Helvetica Neue"/>
                <a:ea typeface="微软雅黑"/>
              </a:rPr>
              <a:t>北栅水门</a:t>
            </a:r>
          </a:p>
        </p:txBody>
      </p:sp>
      <p:sp>
        <p:nvSpPr>
          <p:cNvPr id="16" name="Rectangle 15"/>
          <p:cNvSpPr/>
          <p:nvPr/>
        </p:nvSpPr>
        <p:spPr>
          <a:xfrm>
            <a:off x="4724400" y="3771900"/>
            <a:ext cx="76200" cy="76200"/>
          </a:xfrm>
          <a:prstGeom prst="rect">
            <a:avLst/>
          </a:prstGeom>
          <a:solidFill>
            <a:srgbClr val="66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159249" y="4025900"/>
            <a:ext cx="1206500" cy="139700"/>
          </a:xfrm>
          <a:prstGeom prst="rect">
            <a:avLst/>
          </a:prstGeom>
          <a:noFill/>
          <a:effectLst/>
        </p:spPr>
        <p:txBody>
          <a:bodyPr wrap="square" anchor="t" lIns="0" rIns="0" tIns="0" bIns="0">
            <a:noAutofit/>
          </a:bodyPr>
          <a:lstStyle/>
          <a:p>
            <a:pPr algn="l"/>
            <a:r>
              <a:rPr sz="1200" b="1" spc="200" kern="1200">
                <a:solidFill>
                  <a:srgbClr val="667F80"/>
                </a:solidFill>
                <a:latin typeface="Helvetica Neue"/>
                <a:ea typeface="微软雅黑"/>
              </a:rPr>
              <a:t>02</a:t>
            </a:r>
          </a:p>
        </p:txBody>
      </p:sp>
      <p:sp>
        <p:nvSpPr>
          <p:cNvPr id="18" name="TextBox 17"/>
          <p:cNvSpPr txBox="1"/>
          <p:nvPr/>
        </p:nvSpPr>
        <p:spPr>
          <a:xfrm>
            <a:off x="4159249" y="4190999"/>
            <a:ext cx="1206500" cy="165100"/>
          </a:xfrm>
          <a:prstGeom prst="rect">
            <a:avLst/>
          </a:prstGeom>
          <a:noFill/>
          <a:effectLst/>
        </p:spPr>
        <p:txBody>
          <a:bodyPr wrap="square" anchor="t" lIns="0" rIns="0" tIns="0" bIns="0">
            <a:noAutofit/>
          </a:bodyPr>
          <a:lstStyle/>
          <a:p>
            <a:pPr algn="l"/>
            <a:r>
              <a:rPr sz="1200" b="1" spc="40" kern="1200">
                <a:solidFill>
                  <a:srgbClr val="FFFFFF"/>
                </a:solidFill>
                <a:latin typeface="Helvetica Neue"/>
                <a:ea typeface="微软雅黑"/>
              </a:rPr>
              <a:t>XIZHA BRIDGE</a:t>
            </a:r>
          </a:p>
        </p:txBody>
      </p:sp>
      <p:sp>
        <p:nvSpPr>
          <p:cNvPr id="19" name="TextBox 18"/>
          <p:cNvSpPr txBox="1"/>
          <p:nvPr/>
        </p:nvSpPr>
        <p:spPr>
          <a:xfrm>
            <a:off x="4159249" y="4381500"/>
            <a:ext cx="1206500" cy="177800"/>
          </a:xfrm>
          <a:prstGeom prst="rect">
            <a:avLst/>
          </a:prstGeom>
          <a:noFill/>
          <a:effectLst/>
        </p:spPr>
        <p:txBody>
          <a:bodyPr wrap="square" anchor="t" lIns="0" rIns="0" tIns="0" bIns="0">
            <a:noAutofit/>
          </a:bodyPr>
          <a:lstStyle/>
          <a:p>
            <a:pPr algn="l"/>
            <a:r>
              <a:rPr sz="1500" b="0" kern="1200">
                <a:solidFill>
                  <a:srgbClr val="A1A1A6"/>
                </a:solidFill>
                <a:latin typeface="Helvetica Neue"/>
                <a:ea typeface="微软雅黑"/>
              </a:rPr>
              <a:t>西栅古桥</a:t>
            </a:r>
          </a:p>
        </p:txBody>
      </p:sp>
      <p:sp>
        <p:nvSpPr>
          <p:cNvPr id="20" name="Rectangle 19"/>
          <p:cNvSpPr/>
          <p:nvPr/>
        </p:nvSpPr>
        <p:spPr>
          <a:xfrm>
            <a:off x="7899400" y="3263900"/>
            <a:ext cx="76200" cy="76200"/>
          </a:xfrm>
          <a:prstGeom prst="rect">
            <a:avLst/>
          </a:prstGeom>
          <a:solidFill>
            <a:srgbClr val="66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34250" y="3517900"/>
            <a:ext cx="1206500" cy="139700"/>
          </a:xfrm>
          <a:prstGeom prst="rect">
            <a:avLst/>
          </a:prstGeom>
          <a:noFill/>
          <a:effectLst/>
        </p:spPr>
        <p:txBody>
          <a:bodyPr wrap="square" anchor="t" lIns="0" rIns="0" tIns="0" bIns="0">
            <a:noAutofit/>
          </a:bodyPr>
          <a:lstStyle/>
          <a:p>
            <a:pPr algn="l"/>
            <a:r>
              <a:rPr sz="1200" b="1" spc="200" kern="1200">
                <a:solidFill>
                  <a:srgbClr val="667F80"/>
                </a:solidFill>
                <a:latin typeface="Helvetica Neue"/>
                <a:ea typeface="微软雅黑"/>
              </a:rPr>
              <a:t>03</a:t>
            </a:r>
          </a:p>
        </p:txBody>
      </p:sp>
      <p:sp>
        <p:nvSpPr>
          <p:cNvPr id="22" name="TextBox 21"/>
          <p:cNvSpPr txBox="1"/>
          <p:nvPr/>
        </p:nvSpPr>
        <p:spPr>
          <a:xfrm>
            <a:off x="7334250" y="3683000"/>
            <a:ext cx="1206500" cy="165100"/>
          </a:xfrm>
          <a:prstGeom prst="rect">
            <a:avLst/>
          </a:prstGeom>
          <a:noFill/>
          <a:effectLst/>
        </p:spPr>
        <p:txBody>
          <a:bodyPr wrap="square" anchor="t" lIns="0" rIns="0" tIns="0" bIns="0">
            <a:noAutofit/>
          </a:bodyPr>
          <a:lstStyle/>
          <a:p>
            <a:pPr algn="l"/>
            <a:r>
              <a:rPr sz="1200" b="1" spc="40" kern="1200">
                <a:solidFill>
                  <a:srgbClr val="FFFFFF"/>
                </a:solidFill>
                <a:latin typeface="Helvetica Neue"/>
                <a:ea typeface="微软雅黑"/>
              </a:rPr>
              <a:t>LANTERN WHARF</a:t>
            </a:r>
          </a:p>
        </p:txBody>
      </p:sp>
      <p:sp>
        <p:nvSpPr>
          <p:cNvPr id="23" name="TextBox 22"/>
          <p:cNvSpPr txBox="1"/>
          <p:nvPr/>
        </p:nvSpPr>
        <p:spPr>
          <a:xfrm>
            <a:off x="7334250" y="3873499"/>
            <a:ext cx="1206500" cy="177800"/>
          </a:xfrm>
          <a:prstGeom prst="rect">
            <a:avLst/>
          </a:prstGeom>
          <a:noFill/>
          <a:effectLst/>
        </p:spPr>
        <p:txBody>
          <a:bodyPr wrap="square" anchor="t" lIns="0" rIns="0" tIns="0" bIns="0">
            <a:noAutofit/>
          </a:bodyPr>
          <a:lstStyle/>
          <a:p>
            <a:pPr algn="l"/>
            <a:r>
              <a:rPr sz="1500" b="0" kern="1200">
                <a:solidFill>
                  <a:srgbClr val="A1A1A6"/>
                </a:solidFill>
                <a:latin typeface="Helvetica Neue"/>
                <a:ea typeface="微软雅黑"/>
              </a:rPr>
              <a:t>灯影码头</a:t>
            </a:r>
          </a:p>
        </p:txBody>
      </p:sp>
      <p:sp>
        <p:nvSpPr>
          <p:cNvPr id="24" name="Rectangle 23"/>
          <p:cNvSpPr/>
          <p:nvPr/>
        </p:nvSpPr>
        <p:spPr>
          <a:xfrm>
            <a:off x="11074400" y="3771900"/>
            <a:ext cx="76200" cy="76200"/>
          </a:xfrm>
          <a:prstGeom prst="rect">
            <a:avLst/>
          </a:prstGeom>
          <a:solidFill>
            <a:srgbClr val="66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509250" y="4025900"/>
            <a:ext cx="1206500" cy="139700"/>
          </a:xfrm>
          <a:prstGeom prst="rect">
            <a:avLst/>
          </a:prstGeom>
          <a:noFill/>
          <a:effectLst/>
        </p:spPr>
        <p:txBody>
          <a:bodyPr wrap="square" anchor="t" lIns="0" rIns="0" tIns="0" bIns="0">
            <a:noAutofit/>
          </a:bodyPr>
          <a:lstStyle/>
          <a:p>
            <a:pPr algn="l"/>
            <a:r>
              <a:rPr sz="1200" b="1" spc="200" kern="1200">
                <a:solidFill>
                  <a:srgbClr val="667F80"/>
                </a:solidFill>
                <a:latin typeface="Helvetica Neue"/>
                <a:ea typeface="微软雅黑"/>
              </a:rPr>
              <a:t>04</a:t>
            </a:r>
          </a:p>
        </p:txBody>
      </p:sp>
      <p:sp>
        <p:nvSpPr>
          <p:cNvPr id="26" name="TextBox 25"/>
          <p:cNvSpPr txBox="1"/>
          <p:nvPr/>
        </p:nvSpPr>
        <p:spPr>
          <a:xfrm>
            <a:off x="10509250" y="4190999"/>
            <a:ext cx="1206500" cy="165100"/>
          </a:xfrm>
          <a:prstGeom prst="rect">
            <a:avLst/>
          </a:prstGeom>
          <a:noFill/>
          <a:effectLst/>
        </p:spPr>
        <p:txBody>
          <a:bodyPr wrap="square" anchor="t" lIns="0" rIns="0" tIns="0" bIns="0">
            <a:noAutofit/>
          </a:bodyPr>
          <a:lstStyle/>
          <a:p>
            <a:pPr algn="l"/>
            <a:r>
              <a:rPr sz="1200" b="1" spc="40" kern="1200">
                <a:solidFill>
                  <a:srgbClr val="FFFFFF"/>
                </a:solidFill>
                <a:latin typeface="Helvetica Neue"/>
                <a:ea typeface="微软雅黑"/>
              </a:rPr>
              <a:t>MORNING MARKET</a:t>
            </a:r>
          </a:p>
        </p:txBody>
      </p:sp>
      <p:sp>
        <p:nvSpPr>
          <p:cNvPr id="27" name="TextBox 26"/>
          <p:cNvSpPr txBox="1"/>
          <p:nvPr/>
        </p:nvSpPr>
        <p:spPr>
          <a:xfrm>
            <a:off x="10509250" y="4381500"/>
            <a:ext cx="1206500" cy="177800"/>
          </a:xfrm>
          <a:prstGeom prst="rect">
            <a:avLst/>
          </a:prstGeom>
          <a:noFill/>
          <a:effectLst/>
        </p:spPr>
        <p:txBody>
          <a:bodyPr wrap="square" anchor="t" lIns="0" rIns="0" tIns="0" bIns="0">
            <a:noAutofit/>
          </a:bodyPr>
          <a:lstStyle/>
          <a:p>
            <a:pPr algn="l"/>
            <a:r>
              <a:rPr sz="1500" b="0" kern="1200">
                <a:solidFill>
                  <a:srgbClr val="A1A1A6"/>
                </a:solidFill>
                <a:latin typeface="Helvetica Neue"/>
                <a:ea typeface="微软雅黑"/>
              </a:rPr>
              <a:t>清晨市集</a:t>
            </a:r>
          </a:p>
        </p:txBody>
      </p:sp>
      <p:sp>
        <p:nvSpPr>
          <p:cNvPr id="28" name="Rectangle 27"/>
          <p:cNvSpPr/>
          <p:nvPr/>
        </p:nvSpPr>
        <p:spPr>
          <a:xfrm>
            <a:off x="457200" y="5410200"/>
            <a:ext cx="11277600" cy="12700"/>
          </a:xfrm>
          <a:prstGeom prst="rect">
            <a:avLst/>
          </a:prstGeom>
          <a:solidFill>
            <a:srgbClr val="2436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7200" y="5638800"/>
            <a:ext cx="11277600" cy="228600"/>
          </a:xfrm>
          <a:prstGeom prst="rect">
            <a:avLst/>
          </a:prstGeom>
          <a:noFill/>
          <a:effectLst/>
        </p:spPr>
        <p:txBody>
          <a:bodyPr wrap="square" anchor="t" lIns="0" rIns="0" tIns="0" bIns="0">
            <a:noAutofit/>
          </a:bodyPr>
          <a:lstStyle/>
          <a:p>
            <a:pPr algn="l"/>
            <a:r>
              <a:rPr sz="2400" b="1" spc="-20" kern="1200">
                <a:solidFill>
                  <a:srgbClr val="FFFFFF"/>
                </a:solidFill>
                <a:latin typeface="Helvetica Neue"/>
                <a:ea typeface="微软雅黑"/>
              </a:rPr>
              <a:t>Water is the route. Houses, bridges and streets follow it.</a:t>
            </a:r>
          </a:p>
        </p:txBody>
      </p:sp>
      <p:sp>
        <p:nvSpPr>
          <p:cNvPr id="30" name="TextBox 29"/>
          <p:cNvSpPr txBox="1"/>
          <p:nvPr/>
        </p:nvSpPr>
        <p:spPr>
          <a:xfrm>
            <a:off x="457200" y="6007100"/>
            <a:ext cx="11277600" cy="177800"/>
          </a:xfrm>
          <a:prstGeom prst="rect">
            <a:avLst/>
          </a:prstGeom>
          <a:noFill/>
          <a:effectLst/>
        </p:spPr>
        <p:txBody>
          <a:bodyPr wrap="square" anchor="t" lIns="0" rIns="0" tIns="0" bIns="0">
            <a:noAutofit/>
          </a:bodyPr>
          <a:lstStyle/>
          <a:p>
            <a:pPr algn="l"/>
            <a:r>
              <a:rPr sz="1400" b="0" spc="60" kern="1200">
                <a:solidFill>
                  <a:srgbClr val="A1A1A6"/>
                </a:solidFill>
                <a:latin typeface="Helvetica Neue"/>
                <a:ea typeface="微软雅黑"/>
              </a:rPr>
              <a:t>This line is our research attempt, not an official map.</a:t>
            </a:r>
          </a:p>
        </p:txBody>
      </p:sp>
    </p:spTree>
  </p:cSld>
  <p:clrMapOvr>
    <a:masterClrMapping/>
  </p:clrMapOvr>
  <p:transition xmlns:p14="http://schemas.microsoft.com/office/powerpoint/2010/main" spd="med">
    <p:fade/>
  </p:transition>
  <p:timing>
    <p:tnLst>
      <p:par>
        <p:cTn id="1" dur="indefinite" restart="never" nodeType="mainSeq">
          <p:childTnLst>
            <p:par>
              <p:cTn id="2" fill="hold">
                <p:stCondLst>
                  <p:cond delay="0"/>
                </p:stCondLst>
                <p:childTnLst>
                  <p:par>
                    <p:cTn id="3" presetID="10" presetClass="entr" presetSubtype="0" fill="hold" nodeType="afterEffect">
                      <p:stCondLst>
                        <p:cond delay="0"/>
                      </p:stCondLst>
                      <p:childTnLst>
                        <p:animEffect transition="in" filter="fade">
                          <p:cBhvr>
                            <p:tgtEl>
                              <p:spLst>
                                <p:spTgt spid="3"/>
                              </p:spLst>
                            </p:tgtEl>
                          </p:cBhvr>
                        </p:animEffect>
                      </p:childTnLst>
                    </p:cTn>
                  </p:par>
                  <p:par>
                    <p:cTn id="4" presetID="10" presetClass="entr" presetSubtype="0" fill="hold" nodeType="afterEffect">
                      <p:stCondLst>
                        <p:cond delay="0"/>
                      </p:stCondLst>
                      <p:childTnLst>
                        <p:animEffect transition="in" filter="fade">
                          <p:cBhvr>
                            <p:tgtEl>
                              <p:spLst>
                                <p:spTgt spid="4"/>
                              </p:spLst>
                            </p:tgtEl>
                          </p:cBhvr>
                        </p:animEffect>
                      </p:childTnLst>
                    </p:cTn>
                  </p:par>
                  <p:par>
                    <p:cTn id="5" presetID="10" presetClass="entr" presetSubtype="0" fill="hold" nodeType="afterEffect">
                      <p:stCondLst>
                        <p:cond delay="0"/>
                      </p:stCondLst>
                      <p:childTnLst>
                        <p:animEffect transition="in" filter="fade">
                          <p:cBhvr>
                            <p:tgtEl>
                              <p:spLst>
                                <p:spTgt spid="28"/>
                              </p:spLst>
                            </p:tgtEl>
                          </p:cBhvr>
                        </p:animEffect>
                      </p:childTnLst>
                    </p:cTn>
                  </p:par>
                  <p:par>
                    <p:cTn id="6" presetID="10" presetClass="entr" presetSubtype="0" fill="hold" nodeType="afterEffect">
                      <p:stCondLst>
                        <p:cond delay="0"/>
                      </p:stCondLst>
                      <p:childTnLst>
                        <p:animEffect transition="in" filter="fade">
                          <p:cBhvr>
                            <p:tgtEl>
                              <p:spLst>
                                <p:spTgt spid="29"/>
                              </p:spLst>
                            </p:tgtEl>
                          </p:cBhvr>
                        </p:animEffect>
                      </p:childTnLst>
                    </p:cTn>
                  </p:par>
                </p:childTnLst>
              </p:cTn>
            </p:par>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5F7"/>
        </a:solidFill>
        <a:effectLst/>
      </p:bgPr>
    </p:bg>
    <p:spTree>
      <p:nvGrpSpPr>
        <p:cNvPr id="1" name=""/>
        <p:cNvGrpSpPr/>
        <p:nvPr/>
      </p:nvGrpSpPr>
      <p:grpSpPr/>
      <p:sp>
        <p:nvSpPr>
          <p:cNvPr id="2" name="TextBox 1"/>
          <p:cNvSpPr txBox="1"/>
          <p:nvPr/>
        </p:nvSpPr>
        <p:spPr>
          <a:xfrm>
            <a:off x="457200" y="355600"/>
            <a:ext cx="6985000" cy="177800"/>
          </a:xfrm>
          <a:prstGeom prst="rect">
            <a:avLst/>
          </a:prstGeom>
          <a:noFill/>
          <a:effectLst/>
        </p:spPr>
        <p:txBody>
          <a:bodyPr wrap="square" anchor="t" lIns="0" rIns="0" tIns="0" bIns="0">
            <a:noAutofit/>
          </a:bodyPr>
          <a:lstStyle/>
          <a:p>
            <a:pPr algn="l"/>
            <a:r>
              <a:rPr sz="1250" b="1" spc="230" kern="1200">
                <a:solidFill>
                  <a:srgbClr val="667F80"/>
                </a:solidFill>
                <a:latin typeface="Helvetica Neue"/>
                <a:ea typeface="微软雅黑"/>
              </a:rPr>
              <a:t>04 — WHY WATER?   /   THE ANSWER</a:t>
            </a:r>
          </a:p>
        </p:txBody>
      </p:sp>
      <p:sp>
        <p:nvSpPr>
          <p:cNvPr id="3" name="TextBox 2"/>
          <p:cNvSpPr txBox="1"/>
          <p:nvPr/>
        </p:nvSpPr>
        <p:spPr>
          <a:xfrm>
            <a:off x="457200" y="596900"/>
            <a:ext cx="6985000" cy="533400"/>
          </a:xfrm>
          <a:prstGeom prst="rect">
            <a:avLst/>
          </a:prstGeom>
          <a:noFill/>
          <a:effectLst/>
        </p:spPr>
        <p:txBody>
          <a:bodyPr wrap="square" anchor="t" lIns="0" rIns="0" tIns="0" bIns="0">
            <a:noAutofit/>
          </a:bodyPr>
          <a:lstStyle/>
          <a:p>
            <a:pPr algn="l"/>
            <a:r>
              <a:rPr sz="6000" b="1" spc="-110" kern="1200">
                <a:solidFill>
                  <a:srgbClr val="1D1D1F"/>
                </a:solidFill>
                <a:latin typeface="Helvetica Neue"/>
                <a:ea typeface="微软雅黑"/>
              </a:rPr>
              <a:t>WHY WATER?</a:t>
            </a:r>
          </a:p>
        </p:txBody>
      </p:sp>
      <p:sp>
        <p:nvSpPr>
          <p:cNvPr id="4" name="Rectangle 3"/>
          <p:cNvSpPr/>
          <p:nvPr/>
        </p:nvSpPr>
        <p:spPr>
          <a:xfrm>
            <a:off x="457200" y="1346200"/>
            <a:ext cx="2286000" cy="393700"/>
          </a:xfrm>
          <a:prstGeom prst="rect">
            <a:avLst/>
          </a:prstGeom>
          <a:solidFill>
            <a:srgbClr val="1D1D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435100"/>
            <a:ext cx="2286000" cy="228600"/>
          </a:xfrm>
          <a:prstGeom prst="rect">
            <a:avLst/>
          </a:prstGeom>
          <a:noFill/>
          <a:effectLst/>
        </p:spPr>
        <p:txBody>
          <a:bodyPr wrap="square" anchor="t" lIns="0" rIns="0" tIns="0" bIns="0">
            <a:noAutofit/>
          </a:bodyPr>
          <a:lstStyle/>
          <a:p>
            <a:pPr algn="ctr"/>
            <a:r>
              <a:rPr sz="2600" b="1" spc="180" kern="1200">
                <a:solidFill>
                  <a:srgbClr val="FFFFFF"/>
                </a:solidFill>
                <a:latin typeface="Helvetica Neue"/>
                <a:ea typeface="微软雅黑"/>
              </a:rPr>
              <a:t>WATER</a:t>
            </a:r>
          </a:p>
        </p:txBody>
      </p:sp>
      <p:sp>
        <p:nvSpPr>
          <p:cNvPr id="6" name="Rectangle 5"/>
          <p:cNvSpPr/>
          <p:nvPr/>
        </p:nvSpPr>
        <p:spPr>
          <a:xfrm>
            <a:off x="2870200" y="1346200"/>
            <a:ext cx="1778000" cy="393700"/>
          </a:xfrm>
          <a:prstGeom prst="rect">
            <a:avLst/>
          </a:prstGeom>
          <a:solidFill>
            <a:srgbClr val="D2D2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870200" y="1460500"/>
            <a:ext cx="1778000" cy="177800"/>
          </a:xfrm>
          <a:prstGeom prst="rect">
            <a:avLst/>
          </a:prstGeom>
          <a:noFill/>
          <a:effectLst/>
        </p:spPr>
        <p:txBody>
          <a:bodyPr wrap="square" anchor="t" lIns="0" rIns="0" tIns="0" bIns="0">
            <a:noAutofit/>
          </a:bodyPr>
          <a:lstStyle/>
          <a:p>
            <a:pPr algn="ctr"/>
            <a:r>
              <a:rPr sz="1500" b="1" spc="130" kern="1200">
                <a:solidFill>
                  <a:srgbClr val="1D1D1F"/>
                </a:solidFill>
                <a:latin typeface="Helvetica Neue"/>
                <a:ea typeface="微软雅黑"/>
              </a:rPr>
              <a:t>DECIDES</a:t>
            </a:r>
          </a:p>
        </p:txBody>
      </p:sp>
      <p:sp>
        <p:nvSpPr>
          <p:cNvPr id="8" name="Rectangle 7"/>
          <p:cNvSpPr/>
          <p:nvPr/>
        </p:nvSpPr>
        <p:spPr>
          <a:xfrm>
            <a:off x="4775200" y="1346200"/>
            <a:ext cx="6959600" cy="393700"/>
          </a:xfrm>
          <a:prstGeom prst="rect">
            <a:avLst/>
          </a:prstGeom>
          <a:solidFill>
            <a:srgbClr val="1D1D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75200" y="1460500"/>
            <a:ext cx="6959600" cy="177800"/>
          </a:xfrm>
          <a:prstGeom prst="rect">
            <a:avLst/>
          </a:prstGeom>
          <a:noFill/>
          <a:effectLst/>
        </p:spPr>
        <p:txBody>
          <a:bodyPr wrap="square" anchor="t" lIns="0" rIns="0" tIns="0" bIns="0">
            <a:noAutofit/>
          </a:bodyPr>
          <a:lstStyle/>
          <a:p>
            <a:pPr algn="ctr"/>
            <a:r>
              <a:rPr sz="1500" b="1" spc="70" kern="1200">
                <a:solidFill>
                  <a:srgbClr val="FFFFFF"/>
                </a:solidFill>
                <a:latin typeface="Helvetica Neue"/>
                <a:ea typeface="微软雅黑"/>
              </a:rPr>
              <a:t>HOUSE PLACES  ·  BRIDGE PLACES  ·  STREET LINES  ·  TRADITIONAL LIFE</a:t>
            </a:r>
          </a:p>
        </p:txBody>
      </p:sp>
      <p:sp>
        <p:nvSpPr>
          <p:cNvPr id="10" name="TextBox 9"/>
          <p:cNvSpPr txBox="1"/>
          <p:nvPr/>
        </p:nvSpPr>
        <p:spPr>
          <a:xfrm>
            <a:off x="457200" y="2019300"/>
            <a:ext cx="11277600" cy="228600"/>
          </a:xfrm>
          <a:prstGeom prst="rect">
            <a:avLst/>
          </a:prstGeom>
          <a:noFill/>
          <a:effectLst/>
        </p:spPr>
        <p:txBody>
          <a:bodyPr wrap="square" anchor="t" lIns="0" rIns="0" tIns="0" bIns="0">
            <a:noAutofit/>
          </a:bodyPr>
          <a:lstStyle/>
          <a:p>
            <a:pPr algn="l"/>
            <a:r>
              <a:rPr sz="2200" b="1" spc="-10" kern="1200">
                <a:solidFill>
                  <a:srgbClr val="1D1D1F"/>
                </a:solidFill>
                <a:latin typeface="Helvetica Neue"/>
                <a:ea typeface="微软雅黑"/>
              </a:rPr>
              <a:t>Because water comes first, everything else has to follow it.</a:t>
            </a:r>
          </a:p>
        </p:txBody>
      </p:sp>
      <p:sp>
        <p:nvSpPr>
          <p:cNvPr id="11" name="TextBox 10"/>
          <p:cNvSpPr txBox="1"/>
          <p:nvPr/>
        </p:nvSpPr>
        <p:spPr>
          <a:xfrm>
            <a:off x="457200" y="2324100"/>
            <a:ext cx="11277600" cy="177800"/>
          </a:xfrm>
          <a:prstGeom prst="rect">
            <a:avLst/>
          </a:prstGeom>
          <a:noFill/>
          <a:effectLst/>
        </p:spPr>
        <p:txBody>
          <a:bodyPr wrap="square" anchor="t" lIns="0" rIns="0" tIns="0" bIns="0">
            <a:noAutofit/>
          </a:bodyPr>
          <a:lstStyle/>
          <a:p>
            <a:pPr algn="l"/>
            <a:r>
              <a:rPr sz="1600" b="0" kern="1200">
                <a:solidFill>
                  <a:srgbClr val="6E6E73"/>
                </a:solidFill>
                <a:latin typeface="Helvetica Neue"/>
                <a:ea typeface="微软雅黑"/>
              </a:rPr>
              <a:t>水先存在，所以房屋、桥梁和街道都必须沿着它安排。</a:t>
            </a:r>
          </a:p>
        </p:txBody>
      </p:sp>
      <p:sp>
        <p:nvSpPr>
          <p:cNvPr id="12" name="Rectangle 11"/>
          <p:cNvSpPr/>
          <p:nvPr/>
        </p:nvSpPr>
        <p:spPr>
          <a:xfrm>
            <a:off x="457200" y="2844800"/>
            <a:ext cx="11277600" cy="6350"/>
          </a:xfrm>
          <a:prstGeom prst="rect">
            <a:avLst/>
          </a:prstGeom>
          <a:solidFill>
            <a:srgbClr val="D2D2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035300"/>
            <a:ext cx="6985000" cy="177800"/>
          </a:xfrm>
          <a:prstGeom prst="rect">
            <a:avLst/>
          </a:prstGeom>
          <a:noFill/>
          <a:effectLst/>
        </p:spPr>
        <p:txBody>
          <a:bodyPr wrap="square" anchor="t" lIns="0" rIns="0" tIns="0" bIns="0">
            <a:noAutofit/>
          </a:bodyPr>
          <a:lstStyle/>
          <a:p>
            <a:pPr algn="l"/>
            <a:r>
              <a:rPr sz="1300" b="1" spc="230" kern="1200">
                <a:solidFill>
                  <a:srgbClr val="667F80"/>
                </a:solidFill>
                <a:latin typeface="Helvetica Neue"/>
                <a:ea typeface="微软雅黑"/>
              </a:rPr>
              <a:t>FACTS</a:t>
            </a:r>
          </a:p>
        </p:txBody>
      </p:sp>
      <p:sp>
        <p:nvSpPr>
          <p:cNvPr id="14" name="TextBox 13"/>
          <p:cNvSpPr txBox="1"/>
          <p:nvPr/>
        </p:nvSpPr>
        <p:spPr>
          <a:xfrm>
            <a:off x="457200" y="3429000"/>
            <a:ext cx="5270500" cy="762000"/>
          </a:xfrm>
          <a:prstGeom prst="rect">
            <a:avLst/>
          </a:prstGeom>
          <a:noFill/>
          <a:effectLst/>
        </p:spPr>
        <p:txBody>
          <a:bodyPr wrap="square" anchor="t" lIns="0" rIns="0" tIns="0" bIns="0">
            <a:noAutofit/>
          </a:bodyPr>
          <a:lstStyle/>
          <a:p>
            <a:pPr algn="l"/>
            <a:r>
              <a:rPr sz="12000" b="1" spc="-200" kern="1200">
                <a:solidFill>
                  <a:srgbClr val="1D1D1F"/>
                </a:solidFill>
                <a:latin typeface="Helvetica Neue"/>
                <a:ea typeface="微软雅黑"/>
              </a:rPr>
              <a:t>72</a:t>
            </a:r>
          </a:p>
        </p:txBody>
      </p:sp>
      <p:sp>
        <p:nvSpPr>
          <p:cNvPr id="15" name="TextBox 14"/>
          <p:cNvSpPr txBox="1"/>
          <p:nvPr/>
        </p:nvSpPr>
        <p:spPr>
          <a:xfrm>
            <a:off x="457200" y="4406900"/>
            <a:ext cx="5270500" cy="177800"/>
          </a:xfrm>
          <a:prstGeom prst="rect">
            <a:avLst/>
          </a:prstGeom>
          <a:noFill/>
          <a:effectLst/>
        </p:spPr>
        <p:txBody>
          <a:bodyPr wrap="square" anchor="t" lIns="0" rIns="0" tIns="0" bIns="0">
            <a:noAutofit/>
          </a:bodyPr>
          <a:lstStyle/>
          <a:p>
            <a:pPr algn="l"/>
            <a:r>
              <a:rPr sz="1350" b="1" spc="100" kern="1200">
                <a:solidFill>
                  <a:srgbClr val="6E6E73"/>
                </a:solidFill>
                <a:latin typeface="Helvetica Neue"/>
                <a:ea typeface="微软雅黑"/>
              </a:rPr>
              <a:t>ANCIENT STONE BRIDGES</a:t>
            </a:r>
          </a:p>
        </p:txBody>
      </p:sp>
      <p:sp>
        <p:nvSpPr>
          <p:cNvPr id="16" name="TextBox 15"/>
          <p:cNvSpPr txBox="1"/>
          <p:nvPr/>
        </p:nvSpPr>
        <p:spPr>
          <a:xfrm>
            <a:off x="457200" y="4622800"/>
            <a:ext cx="5270500" cy="190500"/>
          </a:xfrm>
          <a:prstGeom prst="rect">
            <a:avLst/>
          </a:prstGeom>
          <a:noFill/>
          <a:effectLst/>
        </p:spPr>
        <p:txBody>
          <a:bodyPr wrap="square" anchor="t" lIns="0" rIns="0" tIns="0" bIns="0">
            <a:noAutofit/>
          </a:bodyPr>
          <a:lstStyle/>
          <a:p>
            <a:pPr algn="l"/>
            <a:r>
              <a:rPr sz="1500" b="0" kern="1200">
                <a:solidFill>
                  <a:srgbClr val="6E6E73"/>
                </a:solidFill>
                <a:latin typeface="Helvetica Neue"/>
                <a:ea typeface="微软雅黑"/>
              </a:rPr>
              <a:t>现存古石桥，位于西栅</a:t>
            </a:r>
          </a:p>
        </p:txBody>
      </p:sp>
      <p:sp>
        <p:nvSpPr>
          <p:cNvPr id="17" name="Rectangle 16"/>
          <p:cNvSpPr/>
          <p:nvPr/>
        </p:nvSpPr>
        <p:spPr>
          <a:xfrm>
            <a:off x="6261100" y="3429000"/>
            <a:ext cx="12700" cy="1384300"/>
          </a:xfrm>
          <a:prstGeom prst="rect">
            <a:avLst/>
          </a:prstGeom>
          <a:solidFill>
            <a:srgbClr val="D2D2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40500" y="3429000"/>
            <a:ext cx="5194300" cy="762000"/>
          </a:xfrm>
          <a:prstGeom prst="rect">
            <a:avLst/>
          </a:prstGeom>
          <a:noFill/>
          <a:effectLst/>
        </p:spPr>
        <p:txBody>
          <a:bodyPr wrap="square" anchor="t" lIns="0" rIns="0" tIns="0" bIns="0">
            <a:noAutofit/>
          </a:bodyPr>
          <a:lstStyle/>
          <a:p>
            <a:pPr algn="l"/>
            <a:r>
              <a:rPr sz="8000" b="1" spc="-200" kern="1200">
                <a:solidFill>
                  <a:srgbClr val="1D1D1F"/>
                </a:solidFill>
                <a:latin typeface="Helvetica Neue"/>
                <a:ea typeface="微软雅黑"/>
              </a:rPr>
              <a:t>10,000</a:t>
            </a:r>
          </a:p>
        </p:txBody>
      </p:sp>
      <p:sp>
        <p:nvSpPr>
          <p:cNvPr id="19" name="TextBox 18"/>
          <p:cNvSpPr txBox="1"/>
          <p:nvPr/>
        </p:nvSpPr>
        <p:spPr>
          <a:xfrm>
            <a:off x="6540500" y="4406900"/>
            <a:ext cx="5194300" cy="177800"/>
          </a:xfrm>
          <a:prstGeom prst="rect">
            <a:avLst/>
          </a:prstGeom>
          <a:noFill/>
          <a:effectLst/>
        </p:spPr>
        <p:txBody>
          <a:bodyPr wrap="square" anchor="t" lIns="0" rIns="0" tIns="0" bIns="0">
            <a:noAutofit/>
          </a:bodyPr>
          <a:lstStyle/>
          <a:p>
            <a:pPr algn="l"/>
            <a:r>
              <a:rPr sz="1350" b="1" spc="100" kern="1200">
                <a:solidFill>
                  <a:srgbClr val="6E6E73"/>
                </a:solidFill>
                <a:latin typeface="Helvetica Neue"/>
                <a:ea typeface="微软雅黑"/>
              </a:rPr>
              <a:t>METRES OF WATERWAYS</a:t>
            </a:r>
          </a:p>
        </p:txBody>
      </p:sp>
      <p:sp>
        <p:nvSpPr>
          <p:cNvPr id="20" name="TextBox 19"/>
          <p:cNvSpPr txBox="1"/>
          <p:nvPr/>
        </p:nvSpPr>
        <p:spPr>
          <a:xfrm>
            <a:off x="6540500" y="4622800"/>
            <a:ext cx="5194300" cy="190500"/>
          </a:xfrm>
          <a:prstGeom prst="rect">
            <a:avLst/>
          </a:prstGeom>
          <a:noFill/>
          <a:effectLst/>
        </p:spPr>
        <p:txBody>
          <a:bodyPr wrap="square" anchor="t" lIns="0" rIns="0" tIns="0" bIns="0">
            <a:noAutofit/>
          </a:bodyPr>
          <a:lstStyle/>
          <a:p>
            <a:pPr algn="l"/>
            <a:r>
              <a:rPr sz="1500" b="0" kern="1200">
                <a:solidFill>
                  <a:srgbClr val="6E6E73"/>
                </a:solidFill>
                <a:latin typeface="Helvetica Neue"/>
                <a:ea typeface="微软雅黑"/>
              </a:rPr>
              <a:t>近万米河道，内河水系呈十字形</a:t>
            </a:r>
          </a:p>
        </p:txBody>
      </p:sp>
      <p:sp>
        <p:nvSpPr>
          <p:cNvPr id="21" name="Rectangle 20"/>
          <p:cNvSpPr/>
          <p:nvPr/>
        </p:nvSpPr>
        <p:spPr>
          <a:xfrm>
            <a:off x="457200" y="5080000"/>
            <a:ext cx="11277600" cy="6350"/>
          </a:xfrm>
          <a:prstGeom prst="rect">
            <a:avLst/>
          </a:prstGeom>
          <a:solidFill>
            <a:srgbClr val="D2D2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 y="5334000"/>
            <a:ext cx="11277600" cy="228600"/>
          </a:xfrm>
          <a:prstGeom prst="rect">
            <a:avLst/>
          </a:prstGeom>
          <a:noFill/>
          <a:effectLst/>
        </p:spPr>
        <p:txBody>
          <a:bodyPr wrap="square" anchor="t" lIns="0" rIns="0" tIns="0" bIns="0">
            <a:noAutofit/>
          </a:bodyPr>
          <a:lstStyle/>
          <a:p>
            <a:pPr algn="l"/>
            <a:r>
              <a:rPr sz="2400" b="1" spc="-10" kern="1200">
                <a:solidFill>
                  <a:srgbClr val="1D1D1F"/>
                </a:solidFill>
                <a:latin typeface="Helvetica Neue"/>
                <a:ea typeface="微软雅黑"/>
              </a:rPr>
              <a:t>Water divides the town into zones — and connects it too.</a:t>
            </a:r>
          </a:p>
        </p:txBody>
      </p:sp>
      <p:sp>
        <p:nvSpPr>
          <p:cNvPr id="23" name="TextBox 22"/>
          <p:cNvSpPr txBox="1"/>
          <p:nvPr/>
        </p:nvSpPr>
        <p:spPr>
          <a:xfrm>
            <a:off x="457200" y="5702300"/>
            <a:ext cx="11277600" cy="177800"/>
          </a:xfrm>
          <a:prstGeom prst="rect">
            <a:avLst/>
          </a:prstGeom>
          <a:noFill/>
          <a:effectLst/>
        </p:spPr>
        <p:txBody>
          <a:bodyPr wrap="square" anchor="t" lIns="0" rIns="0" tIns="0" bIns="0">
            <a:noAutofit/>
          </a:bodyPr>
          <a:lstStyle/>
          <a:p>
            <a:pPr algn="l"/>
            <a:r>
              <a:rPr sz="1400" b="0" spc="60" kern="1200">
                <a:solidFill>
                  <a:srgbClr val="A1A1A6"/>
                </a:solidFill>
                <a:latin typeface="Helvetica Neue"/>
                <a:ea typeface="微软雅黑"/>
              </a:rPr>
              <a:t>Numbers from our field research and the project website.</a:t>
            </a:r>
          </a:p>
        </p:txBody>
      </p:sp>
    </p:spTree>
  </p:cSld>
  <p:clrMapOvr>
    <a:masterClrMapping/>
  </p:clrMapOvr>
  <p:transition xmlns:p14="http://schemas.microsoft.com/office/powerpoint/2010/main" spd="med">
    <p:fade/>
  </p:transition>
  <p:timing>
    <p:tnLst>
      <p:par>
        <p:cTn id="1" dur="indefinite" restart="never" nodeType="mainSeq">
          <p:childTnLst>
            <p:par>
              <p:cTn id="2" fill="hold">
                <p:stCondLst>
                  <p:cond delay="0"/>
                </p:stCondLst>
                <p:childTnLst>
                  <p:par>
                    <p:cTn id="3" presetID="10" presetClass="entr" presetSubtype="0" fill="hold" nodeType="afterEffect">
                      <p:stCondLst>
                        <p:cond delay="0"/>
                      </p:stCondLst>
                      <p:childTnLst>
                        <p:animEffect transition="in" filter="fade">
                          <p:cBhvr>
                            <p:tgtEl>
                              <p:spLst>
                                <p:spTgt spid="3"/>
                              </p:spLst>
                            </p:tgtEl>
                          </p:cBhvr>
                        </p:animEffect>
                      </p:childTnLst>
                    </p:cTn>
                  </p:par>
                  <p:par>
                    <p:cTn id="4" presetID="10" presetClass="entr" presetSubtype="0" fill="hold" nodeType="afterEffect">
                      <p:stCondLst>
                        <p:cond delay="0"/>
                      </p:stCondLst>
                      <p:childTnLst>
                        <p:animEffect transition="in" filter="fade">
                          <p:cBhvr>
                            <p:tgtEl>
                              <p:spLst>
                                <p:spTgt spid="4"/>
                              </p:spLst>
                            </p:tgtEl>
                          </p:cBhvr>
                        </p:animEffect>
                      </p:childTnLst>
                    </p:cTn>
                  </p:par>
                  <p:par>
                    <p:cTn id="5" presetID="10" presetClass="entr" presetSubtype="0" fill="hold" nodeType="afterEffect">
                      <p:stCondLst>
                        <p:cond delay="0"/>
                      </p:stCondLst>
                      <p:childTnLst>
                        <p:animEffect transition="in" filter="fade">
                          <p:cBhvr>
                            <p:tgtEl>
                              <p:spLst>
                                <p:spTgt spid="8"/>
                              </p:spLst>
                            </p:tgtEl>
                          </p:cBhvr>
                        </p:animEffect>
                      </p:childTnLst>
                    </p:cTn>
                  </p:par>
                  <p:par>
                    <p:cTn id="6" presetID="10" presetClass="entr" presetSubtype="0" fill="hold" nodeType="afterEffect">
                      <p:stCondLst>
                        <p:cond delay="0"/>
                      </p:stCondLst>
                      <p:childTnLst>
                        <p:animEffect transition="in" filter="fade">
                          <p:cBhvr>
                            <p:tgtEl>
                              <p:spLst>
                                <p:spTgt spid="10"/>
                              </p:spLst>
                            </p:tgtEl>
                          </p:cBhvr>
                        </p:animEffect>
                      </p:childTnLst>
                    </p:cTn>
                  </p:par>
                  <p:par>
                    <p:cTn id="7" presetID="23" presetClass="entr" presetSubtype="0" fill="hold" nodeType="afterEffect">
                      <p:stCondLst>
                        <p:cond delay="0"/>
                      </p:stCondLst>
                      <p:childTnLst>
                        <p:animEffect transition="in" filter="zoom">
                          <p:cBhvr>
                            <p:tgtEl>
                              <p:spLst>
                                <p:spTgt spid="14"/>
                              </p:spLst>
                            </p:tgtEl>
                          </p:cBhvr>
                        </p:animEffect>
                      </p:childTnLst>
                    </p:cTn>
                  </p:par>
                  <p:par>
                    <p:cTn id="8" presetID="23" presetClass="entr" presetSubtype="0" fill="hold" nodeType="afterEffect">
                      <p:stCondLst>
                        <p:cond delay="0"/>
                      </p:stCondLst>
                      <p:childTnLst>
                        <p:animEffect transition="in" filter="zoom">
                          <p:cBhvr>
                            <p:tgtEl>
                              <p:spLst>
                                <p:spTgt spid="18"/>
                              </p:spLst>
                            </p:tgtEl>
                          </p:cBhvr>
                        </p:animEffect>
                      </p:childTnLst>
                    </p:cTn>
                  </p:par>
                </p:childTnLst>
              </p:cTn>
            </p:par>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pic>
        <p:nvPicPr>
          <p:cNvPr id="2" name="Picture 1" descr="day_crop"/>
          <p:cNvPicPr>
            <a:picLocks noChangeAspect="1"/>
          </p:cNvPicPr>
          <p:nvPr/>
        </p:nvPicPr>
        <p:blipFill>
          <a:blip r:embed="rId2"/>
          <a:stretch>
            <a:fillRect/>
          </a:stretch>
        </p:blipFill>
        <p:spPr>
          <a:xfrm>
            <a:off x="0" y="0"/>
            <a:ext cx="7302500" cy="3429000"/>
          </a:xfrm>
          <a:prstGeom prst="rect">
            <a:avLst/>
          </a:prstGeom>
          <a:effectLst/>
        </p:spPr>
      </p:pic>
      <p:pic>
        <p:nvPicPr>
          <p:cNvPr id="3" name="Picture 2" descr="night_crop"/>
          <p:cNvPicPr>
            <a:picLocks noChangeAspect="1"/>
          </p:cNvPicPr>
          <p:nvPr/>
        </p:nvPicPr>
        <p:blipFill>
          <a:blip r:embed="rId3"/>
          <a:stretch>
            <a:fillRect/>
          </a:stretch>
        </p:blipFill>
        <p:spPr>
          <a:xfrm>
            <a:off x="0" y="3429000"/>
            <a:ext cx="7302500" cy="3429000"/>
          </a:xfrm>
          <a:prstGeom prst="rect">
            <a:avLst/>
          </a:prstGeom>
          <a:effectLst/>
        </p:spPr>
      </p:pic>
      <p:sp>
        <p:nvSpPr>
          <p:cNvPr id="4" name="Rectangle 3"/>
          <p:cNvSpPr/>
          <p:nvPr/>
        </p:nvSpPr>
        <p:spPr>
          <a:xfrm>
            <a:off x="0" y="0"/>
            <a:ext cx="7302500" cy="2667000"/>
          </a:xfrm>
          <a:prstGeom prst="rect">
            <a:avLst/>
          </a:prstGeom>
          <a:solidFill>
            <a:srgbClr val="1D1D1F">
              <a:alpha val="58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3429000"/>
            <a:ext cx="7302500" cy="2667000"/>
          </a:xfrm>
          <a:prstGeom prst="rect">
            <a:avLst/>
          </a:prstGeom>
          <a:solidFill>
            <a:srgbClr val="1D1D1F">
              <a:alpha val="62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3422650"/>
            <a:ext cx="7302500" cy="25400"/>
          </a:xfrm>
          <a:prstGeom prst="rect">
            <a:avLst/>
          </a:prstGeom>
          <a:solidFill>
            <a:srgbClr val="1D1D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55600" y="927100"/>
            <a:ext cx="6604000" cy="228600"/>
          </a:xfrm>
          <a:prstGeom prst="rect">
            <a:avLst/>
          </a:prstGeom>
          <a:noFill/>
          <a:effectLst/>
        </p:spPr>
        <p:txBody>
          <a:bodyPr wrap="square" anchor="t" lIns="0" rIns="0" tIns="0" bIns="0">
            <a:noAutofit/>
          </a:bodyPr>
          <a:lstStyle/>
          <a:p>
            <a:pPr algn="l"/>
            <a:r>
              <a:rPr sz="1500" b="1" spc="100" kern="1200">
                <a:solidFill>
                  <a:srgbClr val="FFFFFF"/>
                </a:solidFill>
                <a:latin typeface="Helvetica Neue"/>
                <a:ea typeface="微软雅黑"/>
              </a:rPr>
              <a:t>BY DAY — TRAVEL · TRANSPORTATION · TRADE</a:t>
            </a:r>
          </a:p>
        </p:txBody>
      </p:sp>
      <p:sp>
        <p:nvSpPr>
          <p:cNvPr id="8" name="TextBox 7"/>
          <p:cNvSpPr txBox="1"/>
          <p:nvPr/>
        </p:nvSpPr>
        <p:spPr>
          <a:xfrm>
            <a:off x="355600" y="3759199"/>
            <a:ext cx="6604000" cy="228600"/>
          </a:xfrm>
          <a:prstGeom prst="rect">
            <a:avLst/>
          </a:prstGeom>
          <a:noFill/>
          <a:effectLst/>
        </p:spPr>
        <p:txBody>
          <a:bodyPr wrap="square" anchor="t" lIns="0" rIns="0" tIns="0" bIns="0">
            <a:noAutofit/>
          </a:bodyPr>
          <a:lstStyle/>
          <a:p>
            <a:pPr algn="l"/>
            <a:r>
              <a:rPr sz="1500" b="1" spc="100" kern="1200">
                <a:solidFill>
                  <a:srgbClr val="FFFFFF"/>
                </a:solidFill>
                <a:latin typeface="Helvetica Neue"/>
                <a:ea typeface="微软雅黑"/>
              </a:rPr>
              <a:t>BY NIGHT — LANTERNS POUR LIGHT ONTO THE WATER</a:t>
            </a:r>
          </a:p>
        </p:txBody>
      </p:sp>
      <p:sp>
        <p:nvSpPr>
          <p:cNvPr id="9" name="TextBox 8"/>
          <p:cNvSpPr txBox="1"/>
          <p:nvPr/>
        </p:nvSpPr>
        <p:spPr>
          <a:xfrm>
            <a:off x="7683500" y="457200"/>
            <a:ext cx="4190999" cy="177800"/>
          </a:xfrm>
          <a:prstGeom prst="rect">
            <a:avLst/>
          </a:prstGeom>
          <a:noFill/>
          <a:effectLst/>
        </p:spPr>
        <p:txBody>
          <a:bodyPr wrap="square" anchor="t" lIns="0" rIns="0" tIns="0" bIns="0">
            <a:noAutofit/>
          </a:bodyPr>
          <a:lstStyle/>
          <a:p>
            <a:pPr algn="l"/>
            <a:r>
              <a:rPr sz="1250" b="1" spc="230" kern="1200">
                <a:solidFill>
                  <a:srgbClr val="667F80"/>
                </a:solidFill>
                <a:latin typeface="Helvetica Neue"/>
                <a:ea typeface="微软雅黑"/>
              </a:rPr>
              <a:t>05 — HISTORY</a:t>
            </a:r>
          </a:p>
        </p:txBody>
      </p:sp>
      <p:sp>
        <p:nvSpPr>
          <p:cNvPr id="10" name="TextBox 9"/>
          <p:cNvSpPr txBox="1"/>
          <p:nvPr/>
        </p:nvSpPr>
        <p:spPr>
          <a:xfrm>
            <a:off x="7683500" y="711200"/>
            <a:ext cx="4190999" cy="889000"/>
          </a:xfrm>
          <a:prstGeom prst="rect">
            <a:avLst/>
          </a:prstGeom>
          <a:noFill/>
          <a:effectLst/>
        </p:spPr>
        <p:txBody>
          <a:bodyPr wrap="square" anchor="t" lIns="0" rIns="0" tIns="0" bIns="0">
            <a:noAutofit/>
          </a:bodyPr>
          <a:lstStyle/>
          <a:p>
            <a:pPr algn="l">
              <a:lnSpc>
                <a:spcPct val="110000"/>
              </a:lnSpc>
            </a:pPr>
            <a:r>
              <a:rPr sz="4400" b="1" spc="-70" kern="1200">
                <a:solidFill>
                  <a:srgbClr val="FFFFFF"/>
                </a:solidFill>
                <a:latin typeface="Helvetica Neue"/>
                <a:ea typeface="微软雅黑"/>
              </a:rPr>
              <a:t>PAST  →</a:t>
            </a:r>
          </a:p>
          <a:p>
            <a:pPr algn="l">
              <a:lnSpc>
                <a:spcPct val="110000"/>
              </a:lnSpc>
            </a:pPr>
            <a:r>
              <a:rPr sz="4400" b="1" spc="-70" kern="1200">
                <a:solidFill>
                  <a:srgbClr val="FFFFFF"/>
                </a:solidFill>
                <a:latin typeface="Helvetica Neue"/>
                <a:ea typeface="微软雅黑"/>
              </a:rPr>
              <a:t>PRESENT</a:t>
            </a:r>
          </a:p>
        </p:txBody>
      </p:sp>
      <p:sp>
        <p:nvSpPr>
          <p:cNvPr id="11" name="Rectangle 10"/>
          <p:cNvSpPr/>
          <p:nvPr/>
        </p:nvSpPr>
        <p:spPr>
          <a:xfrm>
            <a:off x="7683500" y="1905000"/>
            <a:ext cx="4190999" cy="12700"/>
          </a:xfrm>
          <a:prstGeom prst="rect">
            <a:avLst/>
          </a:prstGeom>
          <a:solidFill>
            <a:srgbClr val="2436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3500" y="2184400"/>
            <a:ext cx="4190999" cy="165100"/>
          </a:xfrm>
          <a:prstGeom prst="rect">
            <a:avLst/>
          </a:prstGeom>
          <a:noFill/>
          <a:effectLst/>
        </p:spPr>
        <p:txBody>
          <a:bodyPr wrap="square" anchor="t" lIns="0" rIns="0" tIns="0" bIns="0">
            <a:noAutofit/>
          </a:bodyPr>
          <a:lstStyle/>
          <a:p>
            <a:pPr algn="l"/>
            <a:r>
              <a:rPr sz="1400" b="1" spc="200" kern="1200">
                <a:solidFill>
                  <a:srgbClr val="667F80"/>
                </a:solidFill>
                <a:latin typeface="Helvetica Neue"/>
                <a:ea typeface="微软雅黑"/>
              </a:rPr>
              <a:t>PAST</a:t>
            </a:r>
          </a:p>
        </p:txBody>
      </p:sp>
      <p:sp>
        <p:nvSpPr>
          <p:cNvPr id="13" name="TextBox 12"/>
          <p:cNvSpPr txBox="1"/>
          <p:nvPr/>
        </p:nvSpPr>
        <p:spPr>
          <a:xfrm>
            <a:off x="7683500" y="2425700"/>
            <a:ext cx="4190999" cy="698500"/>
          </a:xfrm>
          <a:prstGeom prst="rect">
            <a:avLst/>
          </a:prstGeom>
          <a:noFill/>
          <a:effectLst/>
        </p:spPr>
        <p:txBody>
          <a:bodyPr wrap="square" anchor="t" lIns="0" rIns="0" tIns="0" bIns="0">
            <a:noAutofit/>
          </a:bodyPr>
          <a:lstStyle/>
          <a:p>
            <a:pPr algn="l">
              <a:lnSpc>
                <a:spcPct val="120000"/>
              </a:lnSpc>
            </a:pPr>
            <a:r>
              <a:rPr sz="2000" b="1" spc="-10" kern="1200">
                <a:solidFill>
                  <a:srgbClr val="FFFFFF"/>
                </a:solidFill>
                <a:latin typeface="Helvetica Neue"/>
                <a:ea typeface="微软雅黑"/>
              </a:rPr>
              <a:t>The waterway was travel, transport and trade.</a:t>
            </a:r>
          </a:p>
          <a:p>
            <a:pPr algn="l">
              <a:lnSpc>
                <a:spcPct val="120000"/>
              </a:lnSpc>
            </a:pPr>
            <a:r>
              <a:rPr sz="1500" b="0" kern="1200">
                <a:solidFill>
                  <a:srgbClr val="A1A1A6"/>
                </a:solidFill>
                <a:latin typeface="Helvetica Neue"/>
                <a:ea typeface="微软雅黑"/>
              </a:rPr>
              <a:t>船是路，水是交通。</a:t>
            </a:r>
          </a:p>
        </p:txBody>
      </p:sp>
      <p:sp>
        <p:nvSpPr>
          <p:cNvPr id="14" name="TextBox 13"/>
          <p:cNvSpPr txBox="1"/>
          <p:nvPr/>
        </p:nvSpPr>
        <p:spPr>
          <a:xfrm>
            <a:off x="7683500" y="3276600"/>
            <a:ext cx="4190999" cy="190500"/>
          </a:xfrm>
          <a:prstGeom prst="rect">
            <a:avLst/>
          </a:prstGeom>
          <a:noFill/>
          <a:effectLst/>
        </p:spPr>
        <p:txBody>
          <a:bodyPr wrap="square" anchor="t" lIns="0" rIns="0" tIns="0" bIns="0">
            <a:noAutofit/>
          </a:bodyPr>
          <a:lstStyle/>
          <a:p>
            <a:pPr algn="l"/>
            <a:r>
              <a:rPr sz="1500" b="1" spc="200" kern="1200">
                <a:solidFill>
                  <a:srgbClr val="667F80"/>
                </a:solidFill>
                <a:latin typeface="Helvetica Neue"/>
                <a:ea typeface="微软雅黑"/>
              </a:rPr>
              <a:t>→  WATER</a:t>
            </a:r>
          </a:p>
        </p:txBody>
      </p:sp>
      <p:sp>
        <p:nvSpPr>
          <p:cNvPr id="15" name="TextBox 14"/>
          <p:cNvSpPr txBox="1"/>
          <p:nvPr/>
        </p:nvSpPr>
        <p:spPr>
          <a:xfrm>
            <a:off x="7683500" y="3619500"/>
            <a:ext cx="4190999" cy="165100"/>
          </a:xfrm>
          <a:prstGeom prst="rect">
            <a:avLst/>
          </a:prstGeom>
          <a:noFill/>
          <a:effectLst/>
        </p:spPr>
        <p:txBody>
          <a:bodyPr wrap="square" anchor="t" lIns="0" rIns="0" tIns="0" bIns="0">
            <a:noAutofit/>
          </a:bodyPr>
          <a:lstStyle/>
          <a:p>
            <a:pPr algn="l"/>
            <a:r>
              <a:rPr sz="1400" b="1" spc="200" kern="1200">
                <a:solidFill>
                  <a:srgbClr val="667F80"/>
                </a:solidFill>
                <a:latin typeface="Helvetica Neue"/>
                <a:ea typeface="微软雅黑"/>
              </a:rPr>
              <a:t>PRESENT</a:t>
            </a:r>
          </a:p>
        </p:txBody>
      </p:sp>
      <p:sp>
        <p:nvSpPr>
          <p:cNvPr id="16" name="TextBox 15"/>
          <p:cNvSpPr txBox="1"/>
          <p:nvPr/>
        </p:nvSpPr>
        <p:spPr>
          <a:xfrm>
            <a:off x="7683500" y="3860800"/>
            <a:ext cx="4190999" cy="698500"/>
          </a:xfrm>
          <a:prstGeom prst="rect">
            <a:avLst/>
          </a:prstGeom>
          <a:noFill/>
          <a:effectLst/>
        </p:spPr>
        <p:txBody>
          <a:bodyPr wrap="square" anchor="t" lIns="0" rIns="0" tIns="0" bIns="0">
            <a:noAutofit/>
          </a:bodyPr>
          <a:lstStyle/>
          <a:p>
            <a:pPr algn="l">
              <a:lnSpc>
                <a:spcPct val="120000"/>
              </a:lnSpc>
            </a:pPr>
            <a:r>
              <a:rPr sz="2000" b="1" spc="-10" kern="1200">
                <a:solidFill>
                  <a:srgbClr val="FFFFFF"/>
                </a:solidFill>
                <a:latin typeface="Helvetica Neue"/>
                <a:ea typeface="微软雅黑"/>
              </a:rPr>
              <a:t>Today it is tourism and lanterns.</a:t>
            </a:r>
          </a:p>
          <a:p>
            <a:pPr algn="l">
              <a:lnSpc>
                <a:spcPct val="120000"/>
              </a:lnSpc>
            </a:pPr>
            <a:r>
              <a:rPr sz="1500" b="0" kern="1200">
                <a:solidFill>
                  <a:srgbClr val="A1A1A6"/>
                </a:solidFill>
                <a:latin typeface="Helvetica Neue"/>
                <a:ea typeface="微软雅黑"/>
              </a:rPr>
              <a:t>今天，它变成旅游和夜晚的灯。</a:t>
            </a:r>
          </a:p>
        </p:txBody>
      </p:sp>
      <p:sp>
        <p:nvSpPr>
          <p:cNvPr id="17" name="TextBox 16"/>
          <p:cNvSpPr txBox="1"/>
          <p:nvPr/>
        </p:nvSpPr>
        <p:spPr>
          <a:xfrm>
            <a:off x="7683500" y="5041900"/>
            <a:ext cx="4190999" cy="825500"/>
          </a:xfrm>
          <a:prstGeom prst="rect">
            <a:avLst/>
          </a:prstGeom>
          <a:noFill/>
          <a:effectLst/>
        </p:spPr>
        <p:txBody>
          <a:bodyPr wrap="square" anchor="t" lIns="0" rIns="0" tIns="0" bIns="0">
            <a:noAutofit/>
          </a:bodyPr>
          <a:lstStyle/>
          <a:p>
            <a:pPr algn="l">
              <a:lnSpc>
                <a:spcPct val="130000"/>
              </a:lnSpc>
            </a:pPr>
            <a:r>
              <a:rPr sz="1700" b="0" kern="1200">
                <a:solidFill>
                  <a:srgbClr val="A1A1A6"/>
                </a:solidFill>
                <a:latin typeface="Helvetica Neue"/>
                <a:ea typeface="微软雅黑"/>
              </a:rPr>
              <a:t>Water has always been the main line — only the role changed.</a:t>
            </a:r>
          </a:p>
        </p:txBody>
      </p:sp>
    </p:spTree>
  </p:cSld>
  <p:clrMapOvr>
    <a:masterClrMapping/>
  </p:clrMapOvr>
  <p:transition xmlns:p14="http://schemas.microsoft.com/office/powerpoint/2010/main" spd="med">
    <p:fade/>
  </p:transition>
  <p:timing>
    <p:tnLst>
      <p:par>
        <p:cTn id="1" dur="indefinite" restart="never" nodeType="mainSeq">
          <p:childTnLst>
            <p:par>
              <p:cTn id="2" fill="hold">
                <p:stCondLst>
                  <p:cond delay="0"/>
                </p:stCondLst>
                <p:childTnLst>
                  <p:par>
                    <p:cTn id="3" presetID="10" presetClass="entr" presetSubtype="0" fill="hold" nodeType="afterEffect">
                      <p:stCondLst>
                        <p:cond delay="0"/>
                      </p:stCondLst>
                      <p:childTnLst>
                        <p:animEffect transition="in" filter="fade">
                          <p:cBhvr>
                            <p:tgtEl>
                              <p:spLst>
                                <p:spTgt spid="2"/>
                              </p:spLst>
                            </p:tgtEl>
                          </p:cBhvr>
                        </p:animEffect>
                      </p:childTnLst>
                    </p:cTn>
                  </p:par>
                  <p:par>
                    <p:cTn id="4" presetID="10" presetClass="entr" presetSubtype="0" fill="hold" nodeType="afterEffect">
                      <p:stCondLst>
                        <p:cond delay="0"/>
                      </p:stCondLst>
                      <p:childTnLst>
                        <p:animEffect transition="in" filter="fade">
                          <p:cBhvr>
                            <p:tgtEl>
                              <p:spLst>
                                <p:spTgt spid="3"/>
                              </p:spLst>
                            </p:tgtEl>
                          </p:cBhvr>
                        </p:animEffect>
                      </p:childTnLst>
                    </p:cTn>
                  </p:par>
                  <p:par>
                    <p:cTn id="5" presetID="10" presetClass="entr" presetSubtype="0" fill="hold" nodeType="afterEffect">
                      <p:stCondLst>
                        <p:cond delay="0"/>
                      </p:stCondLst>
                      <p:childTnLst>
                        <p:animEffect transition="in" filter="fade">
                          <p:cBhvr>
                            <p:tgtEl>
                              <p:spLst>
                                <p:spTgt spid="7"/>
                              </p:spLst>
                            </p:tgtEl>
                          </p:cBhvr>
                        </p:animEffect>
                      </p:childTnLst>
                    </p:cTn>
                  </p:par>
                  <p:par>
                    <p:cTn id="6" presetID="10" presetClass="entr" presetSubtype="0" fill="hold" nodeType="afterEffect">
                      <p:stCondLst>
                        <p:cond delay="0"/>
                      </p:stCondLst>
                      <p:childTnLst>
                        <p:animEffect transition="in" filter="fade">
                          <p:cBhvr>
                            <p:tgtEl>
                              <p:spLst>
                                <p:spTgt spid="8"/>
                              </p:spLst>
                            </p:tgtEl>
                          </p:cBhvr>
                        </p:animEffect>
                      </p:childTnLst>
                    </p:cTn>
                  </p:par>
                  <p:par>
                    <p:cTn id="7" presetID="10" presetClass="entr" presetSubtype="0" fill="hold" nodeType="afterEffect">
                      <p:stCondLst>
                        <p:cond delay="300"/>
                      </p:stCondLst>
                      <p:childTnLst>
                        <p:animEffect transition="in" filter="fade">
                          <p:cBhvr>
                            <p:tgtEl>
                              <p:spLst>
                                <p:spTgt spid="10"/>
                              </p:spLst>
                            </p:tgtEl>
                          </p:cBhvr>
                        </p:animEffect>
                      </p:childTnLst>
                    </p:cTn>
                  </p:par>
                  <p:par>
                    <p:cTn id="8" presetID="10" presetClass="entr" presetSubtype="0" fill="hold" nodeType="afterEffect">
                      <p:stCondLst>
                        <p:cond delay="0"/>
                      </p:stCondLst>
                      <p:childTnLst>
                        <p:animEffect transition="in" filter="fade">
                          <p:cBhvr>
                            <p:tgtEl>
                              <p:spLst>
                                <p:spTgt spid="13"/>
                              </p:spLst>
                            </p:tgtEl>
                          </p:cBhvr>
                        </p:animEffect>
                      </p:childTnLst>
                    </p:cTn>
                  </p:par>
                  <p:par>
                    <p:cTn id="9" presetID="10" presetClass="entr" presetSubtype="0" fill="hold" nodeType="afterEffect">
                      <p:stCondLst>
                        <p:cond delay="0"/>
                      </p:stCondLst>
                      <p:childTnLst>
                        <p:animEffect transition="in" filter="fade">
                          <p:cBhvr>
                            <p:tgtEl>
                              <p:spLst>
                                <p:spTgt spid="14"/>
                              </p:spLst>
                            </p:tgtEl>
                          </p:cBhvr>
                        </p:animEffect>
                      </p:childTnLst>
                    </p:cTn>
                  </p:par>
                  <p:par>
                    <p:cTn id="10" presetID="10" presetClass="entr" presetSubtype="0" fill="hold" nodeType="afterEffect">
                      <p:stCondLst>
                        <p:cond delay="0"/>
                      </p:stCondLst>
                      <p:childTnLst>
                        <p:animEffect transition="in" filter="fade">
                          <p:cBhvr>
                            <p:tgtEl>
                              <p:spLst>
                                <p:spTgt spid="16"/>
                              </p:spLst>
                            </p:tgtEl>
                          </p:cBhvr>
                        </p:animEffect>
                      </p:childTnLst>
                    </p:cTn>
                  </p:par>
                </p:childTnLst>
              </p:cTn>
            </p:par>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457200" y="355600"/>
            <a:ext cx="6985000" cy="177800"/>
          </a:xfrm>
          <a:prstGeom prst="rect">
            <a:avLst/>
          </a:prstGeom>
          <a:noFill/>
          <a:effectLst/>
        </p:spPr>
        <p:txBody>
          <a:bodyPr wrap="square" anchor="t" lIns="0" rIns="0" tIns="0" bIns="0">
            <a:noAutofit/>
          </a:bodyPr>
          <a:lstStyle/>
          <a:p>
            <a:pPr algn="l"/>
            <a:r>
              <a:rPr sz="1250" b="1" spc="230" kern="1200">
                <a:solidFill>
                  <a:srgbClr val="667F80"/>
                </a:solidFill>
                <a:latin typeface="Helvetica Neue"/>
                <a:ea typeface="微软雅黑"/>
              </a:rPr>
              <a:t>06 — OUR TEAM   /   CONCLUSION</a:t>
            </a:r>
          </a:p>
        </p:txBody>
      </p:sp>
      <p:sp>
        <p:nvSpPr>
          <p:cNvPr id="3" name="TextBox 2"/>
          <p:cNvSpPr txBox="1"/>
          <p:nvPr/>
        </p:nvSpPr>
        <p:spPr>
          <a:xfrm>
            <a:off x="7620000" y="355600"/>
            <a:ext cx="4114800" cy="177800"/>
          </a:xfrm>
          <a:prstGeom prst="rect">
            <a:avLst/>
          </a:prstGeom>
          <a:noFill/>
          <a:effectLst/>
        </p:spPr>
        <p:txBody>
          <a:bodyPr wrap="square" anchor="t" lIns="0" rIns="0" tIns="0" bIns="0">
            <a:noAutofit/>
          </a:bodyPr>
          <a:lstStyle/>
          <a:p>
            <a:pPr algn="r"/>
            <a:r>
              <a:rPr sz="1300" b="0" spc="100" kern="1200">
                <a:solidFill>
                  <a:srgbClr val="A1A1A6"/>
                </a:solidFill>
                <a:latin typeface="Helvetica Neue"/>
                <a:ea typeface="微软雅黑"/>
              </a:rPr>
              <a:t>Team members: six</a:t>
            </a:r>
          </a:p>
        </p:txBody>
      </p:sp>
      <p:pic>
        <p:nvPicPr>
          <p:cNvPr id="4" name="Picture 3" descr="team_crop"/>
          <p:cNvPicPr>
            <a:picLocks noChangeAspect="1"/>
          </p:cNvPicPr>
          <p:nvPr/>
        </p:nvPicPr>
        <p:blipFill>
          <a:blip r:embed="rId2"/>
          <a:stretch>
            <a:fillRect/>
          </a:stretch>
        </p:blipFill>
        <p:spPr>
          <a:xfrm>
            <a:off x="457200" y="673100"/>
            <a:ext cx="11277600" cy="1638300"/>
          </a:xfrm>
          <a:prstGeom prst="rect">
            <a:avLst/>
          </a:prstGeom>
          <a:effectLst/>
        </p:spPr>
      </p:pic>
      <p:sp>
        <p:nvSpPr>
          <p:cNvPr id="5" name="Rectangle 4"/>
          <p:cNvSpPr/>
          <p:nvPr/>
        </p:nvSpPr>
        <p:spPr>
          <a:xfrm>
            <a:off x="457200" y="673100"/>
            <a:ext cx="11277600" cy="1638300"/>
          </a:xfrm>
          <a:prstGeom prst="rect">
            <a:avLst/>
          </a:prstGeom>
          <a:solidFill>
            <a:srgbClr val="1D1D1F">
              <a:alpha val="52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eam-m2-av-200x200-jpg.jpg__100x100"/>
          <p:cNvPicPr>
            <a:picLocks noChangeAspect="1"/>
          </p:cNvPicPr>
          <p:nvPr/>
        </p:nvPicPr>
        <p:blipFill>
          <a:blip r:embed="rId3"/>
          <a:stretch>
            <a:fillRect/>
          </a:stretch>
        </p:blipFill>
        <p:spPr>
          <a:xfrm>
            <a:off x="457200" y="2578100"/>
            <a:ext cx="635000" cy="635000"/>
          </a:xfrm>
          <a:prstGeom prst="rect">
            <a:avLst/>
          </a:prstGeom>
          <a:effectLst/>
        </p:spPr>
      </p:pic>
      <p:sp>
        <p:nvSpPr>
          <p:cNvPr id="7" name="TextBox 6"/>
          <p:cNvSpPr txBox="1"/>
          <p:nvPr/>
        </p:nvSpPr>
        <p:spPr>
          <a:xfrm>
            <a:off x="457200" y="3340100"/>
            <a:ext cx="1727200" cy="190500"/>
          </a:xfrm>
          <a:prstGeom prst="rect">
            <a:avLst/>
          </a:prstGeom>
          <a:noFill/>
          <a:effectLst/>
        </p:spPr>
        <p:txBody>
          <a:bodyPr wrap="square" anchor="t" lIns="0" rIns="0" tIns="0" bIns="0">
            <a:noAutofit/>
          </a:bodyPr>
          <a:lstStyle/>
          <a:p>
            <a:pPr algn="l"/>
            <a:r>
              <a:rPr sz="2100" b="1" kern="1200">
                <a:solidFill>
                  <a:srgbClr val="FFFFFF"/>
                </a:solidFill>
                <a:latin typeface="Helvetica Neue"/>
                <a:ea typeface="微软雅黑"/>
              </a:rPr>
              <a:t>蒋盛熠</a:t>
            </a:r>
          </a:p>
        </p:txBody>
      </p:sp>
      <p:sp>
        <p:nvSpPr>
          <p:cNvPr id="8" name="TextBox 7"/>
          <p:cNvSpPr txBox="1"/>
          <p:nvPr/>
        </p:nvSpPr>
        <p:spPr>
          <a:xfrm>
            <a:off x="457200" y="3568700"/>
            <a:ext cx="1727200" cy="152400"/>
          </a:xfrm>
          <a:prstGeom prst="rect">
            <a:avLst/>
          </a:prstGeom>
          <a:noFill/>
          <a:effectLst/>
        </p:spPr>
        <p:txBody>
          <a:bodyPr wrap="square" anchor="t" lIns="0" rIns="0" tIns="0" bIns="0">
            <a:noAutofit/>
          </a:bodyPr>
          <a:lstStyle/>
          <a:p>
            <a:pPr algn="l"/>
            <a:r>
              <a:rPr sz="1200" b="1" spc="90" kern="1200">
                <a:solidFill>
                  <a:srgbClr val="A1A1A6"/>
                </a:solidFill>
                <a:latin typeface="Helvetica Neue"/>
                <a:ea typeface="微软雅黑"/>
              </a:rPr>
              <a:t>JIANG SHENGYI</a:t>
            </a:r>
          </a:p>
        </p:txBody>
      </p:sp>
      <p:sp>
        <p:nvSpPr>
          <p:cNvPr id="9" name="TextBox 8"/>
          <p:cNvSpPr txBox="1"/>
          <p:nvPr/>
        </p:nvSpPr>
        <p:spPr>
          <a:xfrm>
            <a:off x="457200" y="3759199"/>
            <a:ext cx="1727200" cy="177800"/>
          </a:xfrm>
          <a:prstGeom prst="rect">
            <a:avLst/>
          </a:prstGeom>
          <a:noFill/>
          <a:effectLst/>
        </p:spPr>
        <p:txBody>
          <a:bodyPr wrap="square" anchor="t" lIns="0" rIns="0" tIns="0" bIns="0">
            <a:noAutofit/>
          </a:bodyPr>
          <a:lstStyle/>
          <a:p>
            <a:pPr algn="l">
              <a:lnSpc>
                <a:spcPct val="110000"/>
              </a:lnSpc>
            </a:pPr>
            <a:r>
              <a:rPr sz="1400" b="1" kern="1200">
                <a:solidFill>
                  <a:srgbClr val="FFFFFF"/>
                </a:solidFill>
                <a:latin typeface="Helvetica Neue"/>
                <a:ea typeface="微软雅黑"/>
              </a:rPr>
              <a:t>Project lead</a:t>
            </a:r>
          </a:p>
        </p:txBody>
      </p:sp>
      <p:sp>
        <p:nvSpPr>
          <p:cNvPr id="10" name="TextBox 9"/>
          <p:cNvSpPr txBox="1"/>
          <p:nvPr/>
        </p:nvSpPr>
        <p:spPr>
          <a:xfrm>
            <a:off x="457200" y="3949700"/>
            <a:ext cx="1727200" cy="711200"/>
          </a:xfrm>
          <a:prstGeom prst="rect">
            <a:avLst/>
          </a:prstGeom>
          <a:noFill/>
          <a:effectLst/>
        </p:spPr>
        <p:txBody>
          <a:bodyPr wrap="square" anchor="t" lIns="0" rIns="0" tIns="0" bIns="0">
            <a:noAutofit/>
          </a:bodyPr>
          <a:lstStyle/>
          <a:p>
            <a:pPr algn="l">
              <a:lnSpc>
                <a:spcPct val="122000"/>
              </a:lnSpc>
            </a:pPr>
            <a:r>
              <a:rPr sz="1000" b="0" kern="1200">
                <a:solidFill>
                  <a:srgbClr val="A1A1A6"/>
                </a:solidFill>
                <a:latin typeface="Helvetica Neue"/>
                <a:ea typeface="微软雅黑"/>
              </a:rPr>
              <a:t>Coordinated the four-week plan, kept the group on schedule, and led the final presentation.</a:t>
            </a:r>
          </a:p>
        </p:txBody>
      </p:sp>
      <p:pic>
        <p:nvPicPr>
          <p:cNvPr id="11" name="Picture 10" descr="team-m1-av-200x200-jpg.jpg__100x100"/>
          <p:cNvPicPr>
            <a:picLocks noChangeAspect="1"/>
          </p:cNvPicPr>
          <p:nvPr/>
        </p:nvPicPr>
        <p:blipFill>
          <a:blip r:embed="rId4"/>
          <a:stretch>
            <a:fillRect/>
          </a:stretch>
        </p:blipFill>
        <p:spPr>
          <a:xfrm>
            <a:off x="2343150" y="2578100"/>
            <a:ext cx="635000" cy="635000"/>
          </a:xfrm>
          <a:prstGeom prst="rect">
            <a:avLst/>
          </a:prstGeom>
          <a:effectLst/>
        </p:spPr>
      </p:pic>
      <p:sp>
        <p:nvSpPr>
          <p:cNvPr id="12" name="TextBox 11"/>
          <p:cNvSpPr txBox="1"/>
          <p:nvPr/>
        </p:nvSpPr>
        <p:spPr>
          <a:xfrm>
            <a:off x="2343150" y="3340100"/>
            <a:ext cx="1727200" cy="190500"/>
          </a:xfrm>
          <a:prstGeom prst="rect">
            <a:avLst/>
          </a:prstGeom>
          <a:noFill/>
          <a:effectLst/>
        </p:spPr>
        <p:txBody>
          <a:bodyPr wrap="square" anchor="t" lIns="0" rIns="0" tIns="0" bIns="0">
            <a:noAutofit/>
          </a:bodyPr>
          <a:lstStyle/>
          <a:p>
            <a:pPr algn="l"/>
            <a:r>
              <a:rPr sz="2100" b="1" kern="1200">
                <a:solidFill>
                  <a:srgbClr val="FFFFFF"/>
                </a:solidFill>
                <a:latin typeface="Helvetica Neue"/>
                <a:ea typeface="微软雅黑"/>
              </a:rPr>
              <a:t>汪瀚宇</a:t>
            </a:r>
          </a:p>
        </p:txBody>
      </p:sp>
      <p:sp>
        <p:nvSpPr>
          <p:cNvPr id="13" name="TextBox 12"/>
          <p:cNvSpPr txBox="1"/>
          <p:nvPr/>
        </p:nvSpPr>
        <p:spPr>
          <a:xfrm>
            <a:off x="2343150" y="3568700"/>
            <a:ext cx="1727200" cy="152400"/>
          </a:xfrm>
          <a:prstGeom prst="rect">
            <a:avLst/>
          </a:prstGeom>
          <a:noFill/>
          <a:effectLst/>
        </p:spPr>
        <p:txBody>
          <a:bodyPr wrap="square" anchor="t" lIns="0" rIns="0" tIns="0" bIns="0">
            <a:noAutofit/>
          </a:bodyPr>
          <a:lstStyle/>
          <a:p>
            <a:pPr algn="l"/>
            <a:r>
              <a:rPr sz="1200" b="1" spc="90" kern="1200">
                <a:solidFill>
                  <a:srgbClr val="A1A1A6"/>
                </a:solidFill>
                <a:latin typeface="Helvetica Neue"/>
                <a:ea typeface="微软雅黑"/>
              </a:rPr>
              <a:t>WANG HANYU</a:t>
            </a:r>
          </a:p>
        </p:txBody>
      </p:sp>
      <p:sp>
        <p:nvSpPr>
          <p:cNvPr id="14" name="TextBox 13"/>
          <p:cNvSpPr txBox="1"/>
          <p:nvPr/>
        </p:nvSpPr>
        <p:spPr>
          <a:xfrm>
            <a:off x="2343150" y="3759199"/>
            <a:ext cx="1727200" cy="177800"/>
          </a:xfrm>
          <a:prstGeom prst="rect">
            <a:avLst/>
          </a:prstGeom>
          <a:noFill/>
          <a:effectLst/>
        </p:spPr>
        <p:txBody>
          <a:bodyPr wrap="square" anchor="t" lIns="0" rIns="0" tIns="0" bIns="0">
            <a:noAutofit/>
          </a:bodyPr>
          <a:lstStyle/>
          <a:p>
            <a:pPr algn="l">
              <a:lnSpc>
                <a:spcPct val="110000"/>
              </a:lnSpc>
            </a:pPr>
            <a:r>
              <a:rPr sz="1400" b="1" kern="1200">
                <a:solidFill>
                  <a:srgbClr val="FFFFFF"/>
                </a:solidFill>
                <a:latin typeface="Helvetica Neue"/>
                <a:ea typeface="微软雅黑"/>
              </a:rPr>
              <a:t>Research &amp; mapping</a:t>
            </a:r>
          </a:p>
        </p:txBody>
      </p:sp>
      <p:sp>
        <p:nvSpPr>
          <p:cNvPr id="15" name="TextBox 14"/>
          <p:cNvSpPr txBox="1"/>
          <p:nvPr/>
        </p:nvSpPr>
        <p:spPr>
          <a:xfrm>
            <a:off x="2343150" y="3949700"/>
            <a:ext cx="1727200" cy="711200"/>
          </a:xfrm>
          <a:prstGeom prst="rect">
            <a:avLst/>
          </a:prstGeom>
          <a:noFill/>
          <a:effectLst/>
        </p:spPr>
        <p:txBody>
          <a:bodyPr wrap="square" anchor="t" lIns="0" rIns="0" tIns="0" bIns="0">
            <a:noAutofit/>
          </a:bodyPr>
          <a:lstStyle/>
          <a:p>
            <a:pPr algn="l">
              <a:lnSpc>
                <a:spcPct val="122000"/>
              </a:lnSpc>
            </a:pPr>
            <a:r>
              <a:rPr sz="1000" b="0" kern="1200">
                <a:solidFill>
                  <a:srgbClr val="A1A1A6"/>
                </a:solidFill>
                <a:latin typeface="Helvetica Neue"/>
                <a:ea typeface="微软雅黑"/>
              </a:rPr>
              <a:t>Traced the canal routes and surveyed the bridges, mapping how the waterways connect.</a:t>
            </a:r>
          </a:p>
        </p:txBody>
      </p:sp>
      <p:pic>
        <p:nvPicPr>
          <p:cNvPr id="16" name="Picture 15" descr="team-m3-av-200x200-jpg.jpg__100x100"/>
          <p:cNvPicPr>
            <a:picLocks noChangeAspect="1"/>
          </p:cNvPicPr>
          <p:nvPr/>
        </p:nvPicPr>
        <p:blipFill>
          <a:blip r:embed="rId5"/>
          <a:stretch>
            <a:fillRect/>
          </a:stretch>
        </p:blipFill>
        <p:spPr>
          <a:xfrm>
            <a:off x="4229100" y="2578100"/>
            <a:ext cx="635000" cy="635000"/>
          </a:xfrm>
          <a:prstGeom prst="rect">
            <a:avLst/>
          </a:prstGeom>
          <a:effectLst/>
        </p:spPr>
      </p:pic>
      <p:sp>
        <p:nvSpPr>
          <p:cNvPr id="17" name="TextBox 16"/>
          <p:cNvSpPr txBox="1"/>
          <p:nvPr/>
        </p:nvSpPr>
        <p:spPr>
          <a:xfrm>
            <a:off x="4229100" y="3340100"/>
            <a:ext cx="1727200" cy="190500"/>
          </a:xfrm>
          <a:prstGeom prst="rect">
            <a:avLst/>
          </a:prstGeom>
          <a:noFill/>
          <a:effectLst/>
        </p:spPr>
        <p:txBody>
          <a:bodyPr wrap="square" anchor="t" lIns="0" rIns="0" tIns="0" bIns="0">
            <a:noAutofit/>
          </a:bodyPr>
          <a:lstStyle/>
          <a:p>
            <a:pPr algn="l"/>
            <a:r>
              <a:rPr sz="2100" b="1" kern="1200">
                <a:solidFill>
                  <a:srgbClr val="FFFFFF"/>
                </a:solidFill>
                <a:latin typeface="Helvetica Neue"/>
                <a:ea typeface="微软雅黑"/>
              </a:rPr>
              <a:t>鲁昂</a:t>
            </a:r>
          </a:p>
        </p:txBody>
      </p:sp>
      <p:sp>
        <p:nvSpPr>
          <p:cNvPr id="18" name="TextBox 17"/>
          <p:cNvSpPr txBox="1"/>
          <p:nvPr/>
        </p:nvSpPr>
        <p:spPr>
          <a:xfrm>
            <a:off x="4229100" y="3568700"/>
            <a:ext cx="1727200" cy="152400"/>
          </a:xfrm>
          <a:prstGeom prst="rect">
            <a:avLst/>
          </a:prstGeom>
          <a:noFill/>
          <a:effectLst/>
        </p:spPr>
        <p:txBody>
          <a:bodyPr wrap="square" anchor="t" lIns="0" rIns="0" tIns="0" bIns="0">
            <a:noAutofit/>
          </a:bodyPr>
          <a:lstStyle/>
          <a:p>
            <a:pPr algn="l"/>
            <a:r>
              <a:rPr sz="1200" b="1" spc="90" kern="1200">
                <a:solidFill>
                  <a:srgbClr val="A1A1A6"/>
                </a:solidFill>
                <a:latin typeface="Helvetica Neue"/>
                <a:ea typeface="微软雅黑"/>
              </a:rPr>
              <a:t>LU ANG</a:t>
            </a:r>
          </a:p>
        </p:txBody>
      </p:sp>
      <p:sp>
        <p:nvSpPr>
          <p:cNvPr id="19" name="TextBox 18"/>
          <p:cNvSpPr txBox="1"/>
          <p:nvPr/>
        </p:nvSpPr>
        <p:spPr>
          <a:xfrm>
            <a:off x="4229100" y="3759199"/>
            <a:ext cx="1727200" cy="177800"/>
          </a:xfrm>
          <a:prstGeom prst="rect">
            <a:avLst/>
          </a:prstGeom>
          <a:noFill/>
          <a:effectLst/>
        </p:spPr>
        <p:txBody>
          <a:bodyPr wrap="square" anchor="t" lIns="0" rIns="0" tIns="0" bIns="0">
            <a:noAutofit/>
          </a:bodyPr>
          <a:lstStyle/>
          <a:p>
            <a:pPr algn="l">
              <a:lnSpc>
                <a:spcPct val="110000"/>
              </a:lnSpc>
            </a:pPr>
            <a:r>
              <a:rPr sz="1400" b="1" kern="1200">
                <a:solidFill>
                  <a:srgbClr val="FFFFFF"/>
                </a:solidFill>
                <a:latin typeface="Helvetica Neue"/>
                <a:ea typeface="微软雅黑"/>
              </a:rPr>
              <a:t>Design &amp; web</a:t>
            </a:r>
          </a:p>
        </p:txBody>
      </p:sp>
      <p:sp>
        <p:nvSpPr>
          <p:cNvPr id="20" name="TextBox 19"/>
          <p:cNvSpPr txBox="1"/>
          <p:nvPr/>
        </p:nvSpPr>
        <p:spPr>
          <a:xfrm>
            <a:off x="4229100" y="3949700"/>
            <a:ext cx="1727200" cy="711200"/>
          </a:xfrm>
          <a:prstGeom prst="rect">
            <a:avLst/>
          </a:prstGeom>
          <a:noFill/>
          <a:effectLst/>
        </p:spPr>
        <p:txBody>
          <a:bodyPr wrap="square" anchor="t" lIns="0" rIns="0" tIns="0" bIns="0">
            <a:noAutofit/>
          </a:bodyPr>
          <a:lstStyle/>
          <a:p>
            <a:pPr algn="l">
              <a:lnSpc>
                <a:spcPct val="122000"/>
              </a:lnSpc>
            </a:pPr>
            <a:r>
              <a:rPr sz="1000" b="0" kern="1200">
                <a:solidFill>
                  <a:srgbClr val="A1A1A6"/>
                </a:solidFill>
                <a:latin typeface="Helvetica Neue"/>
                <a:ea typeface="微软雅黑"/>
              </a:rPr>
              <a:t>Built the interactive site — layout, motion and the visual story — and managed the image assets.</a:t>
            </a:r>
          </a:p>
        </p:txBody>
      </p:sp>
      <p:pic>
        <p:nvPicPr>
          <p:cNvPr id="21" name="Picture 20" descr="team-m4-av-200x200-jpg.jpg__100x100"/>
          <p:cNvPicPr>
            <a:picLocks noChangeAspect="1"/>
          </p:cNvPicPr>
          <p:nvPr/>
        </p:nvPicPr>
        <p:blipFill>
          <a:blip r:embed="rId6"/>
          <a:stretch>
            <a:fillRect/>
          </a:stretch>
        </p:blipFill>
        <p:spPr>
          <a:xfrm>
            <a:off x="6115050" y="2578100"/>
            <a:ext cx="635000" cy="635000"/>
          </a:xfrm>
          <a:prstGeom prst="rect">
            <a:avLst/>
          </a:prstGeom>
          <a:effectLst/>
        </p:spPr>
      </p:pic>
      <p:sp>
        <p:nvSpPr>
          <p:cNvPr id="22" name="TextBox 21"/>
          <p:cNvSpPr txBox="1"/>
          <p:nvPr/>
        </p:nvSpPr>
        <p:spPr>
          <a:xfrm>
            <a:off x="6115050" y="3340100"/>
            <a:ext cx="1727200" cy="190500"/>
          </a:xfrm>
          <a:prstGeom prst="rect">
            <a:avLst/>
          </a:prstGeom>
          <a:noFill/>
          <a:effectLst/>
        </p:spPr>
        <p:txBody>
          <a:bodyPr wrap="square" anchor="t" lIns="0" rIns="0" tIns="0" bIns="0">
            <a:noAutofit/>
          </a:bodyPr>
          <a:lstStyle/>
          <a:p>
            <a:pPr algn="l"/>
            <a:r>
              <a:rPr sz="2100" b="1" kern="1200">
                <a:solidFill>
                  <a:srgbClr val="FFFFFF"/>
                </a:solidFill>
                <a:latin typeface="Helvetica Neue"/>
                <a:ea typeface="微软雅黑"/>
              </a:rPr>
              <a:t>朱钟乐</a:t>
            </a:r>
          </a:p>
        </p:txBody>
      </p:sp>
      <p:sp>
        <p:nvSpPr>
          <p:cNvPr id="23" name="TextBox 22"/>
          <p:cNvSpPr txBox="1"/>
          <p:nvPr/>
        </p:nvSpPr>
        <p:spPr>
          <a:xfrm>
            <a:off x="6115050" y="3568700"/>
            <a:ext cx="1727200" cy="152400"/>
          </a:xfrm>
          <a:prstGeom prst="rect">
            <a:avLst/>
          </a:prstGeom>
          <a:noFill/>
          <a:effectLst/>
        </p:spPr>
        <p:txBody>
          <a:bodyPr wrap="square" anchor="t" lIns="0" rIns="0" tIns="0" bIns="0">
            <a:noAutofit/>
          </a:bodyPr>
          <a:lstStyle/>
          <a:p>
            <a:pPr algn="l"/>
            <a:r>
              <a:rPr sz="1200" b="1" spc="90" kern="1200">
                <a:solidFill>
                  <a:srgbClr val="A1A1A6"/>
                </a:solidFill>
                <a:latin typeface="Helvetica Neue"/>
                <a:ea typeface="微软雅黑"/>
              </a:rPr>
              <a:t>ZHU ZHONGLE</a:t>
            </a:r>
          </a:p>
        </p:txBody>
      </p:sp>
      <p:sp>
        <p:nvSpPr>
          <p:cNvPr id="24" name="TextBox 23"/>
          <p:cNvSpPr txBox="1"/>
          <p:nvPr/>
        </p:nvSpPr>
        <p:spPr>
          <a:xfrm>
            <a:off x="6115050" y="3759199"/>
            <a:ext cx="1727200" cy="177800"/>
          </a:xfrm>
          <a:prstGeom prst="rect">
            <a:avLst/>
          </a:prstGeom>
          <a:noFill/>
          <a:effectLst/>
        </p:spPr>
        <p:txBody>
          <a:bodyPr wrap="square" anchor="t" lIns="0" rIns="0" tIns="0" bIns="0">
            <a:noAutofit/>
          </a:bodyPr>
          <a:lstStyle/>
          <a:p>
            <a:pPr algn="l">
              <a:lnSpc>
                <a:spcPct val="110000"/>
              </a:lnSpc>
            </a:pPr>
            <a:r>
              <a:rPr sz="1400" b="1" kern="1200">
                <a:solidFill>
                  <a:srgbClr val="FFFFFF"/>
                </a:solidFill>
                <a:latin typeface="Helvetica Neue"/>
                <a:ea typeface="微软雅黑"/>
              </a:rPr>
              <a:t>Photography</a:t>
            </a:r>
          </a:p>
        </p:txBody>
      </p:sp>
      <p:sp>
        <p:nvSpPr>
          <p:cNvPr id="25" name="TextBox 24"/>
          <p:cNvSpPr txBox="1"/>
          <p:nvPr/>
        </p:nvSpPr>
        <p:spPr>
          <a:xfrm>
            <a:off x="6115050" y="3949700"/>
            <a:ext cx="1727200" cy="711200"/>
          </a:xfrm>
          <a:prstGeom prst="rect">
            <a:avLst/>
          </a:prstGeom>
          <a:noFill/>
          <a:effectLst/>
        </p:spPr>
        <p:txBody>
          <a:bodyPr wrap="square" anchor="t" lIns="0" rIns="0" tIns="0" bIns="0">
            <a:noAutofit/>
          </a:bodyPr>
          <a:lstStyle/>
          <a:p>
            <a:pPr algn="l">
              <a:lnSpc>
                <a:spcPct val="122000"/>
              </a:lnSpc>
            </a:pPr>
            <a:r>
              <a:rPr sz="1000" b="0" kern="1200">
                <a:solidFill>
                  <a:srgbClr val="A1A1A6"/>
                </a:solidFill>
                <a:latin typeface="Helvetica Neue"/>
                <a:ea typeface="微软雅黑"/>
              </a:rPr>
              <a:t>Shot the on-site photo tour of the canals and bridges, and sourced the images.</a:t>
            </a:r>
          </a:p>
        </p:txBody>
      </p:sp>
      <p:pic>
        <p:nvPicPr>
          <p:cNvPr id="26" name="Picture 25" descr="team-m5-av-200x200-jpg.jpg__100x100"/>
          <p:cNvPicPr>
            <a:picLocks noChangeAspect="1"/>
          </p:cNvPicPr>
          <p:nvPr/>
        </p:nvPicPr>
        <p:blipFill>
          <a:blip r:embed="rId7"/>
          <a:stretch>
            <a:fillRect/>
          </a:stretch>
        </p:blipFill>
        <p:spPr>
          <a:xfrm>
            <a:off x="8001000" y="2578100"/>
            <a:ext cx="635000" cy="635000"/>
          </a:xfrm>
          <a:prstGeom prst="rect">
            <a:avLst/>
          </a:prstGeom>
          <a:effectLst/>
        </p:spPr>
      </p:pic>
      <p:sp>
        <p:nvSpPr>
          <p:cNvPr id="27" name="TextBox 26"/>
          <p:cNvSpPr txBox="1"/>
          <p:nvPr/>
        </p:nvSpPr>
        <p:spPr>
          <a:xfrm>
            <a:off x="8001000" y="3340100"/>
            <a:ext cx="1727200" cy="190500"/>
          </a:xfrm>
          <a:prstGeom prst="rect">
            <a:avLst/>
          </a:prstGeom>
          <a:noFill/>
          <a:effectLst/>
        </p:spPr>
        <p:txBody>
          <a:bodyPr wrap="square" anchor="t" lIns="0" rIns="0" tIns="0" bIns="0">
            <a:noAutofit/>
          </a:bodyPr>
          <a:lstStyle/>
          <a:p>
            <a:pPr algn="l"/>
            <a:r>
              <a:rPr sz="2100" b="1" kern="1200">
                <a:solidFill>
                  <a:srgbClr val="FFFFFF"/>
                </a:solidFill>
                <a:latin typeface="Helvetica Neue"/>
                <a:ea typeface="微软雅黑"/>
              </a:rPr>
              <a:t>沈毅程</a:t>
            </a:r>
          </a:p>
        </p:txBody>
      </p:sp>
      <p:sp>
        <p:nvSpPr>
          <p:cNvPr id="28" name="TextBox 27"/>
          <p:cNvSpPr txBox="1"/>
          <p:nvPr/>
        </p:nvSpPr>
        <p:spPr>
          <a:xfrm>
            <a:off x="8001000" y="3568700"/>
            <a:ext cx="1727200" cy="152400"/>
          </a:xfrm>
          <a:prstGeom prst="rect">
            <a:avLst/>
          </a:prstGeom>
          <a:noFill/>
          <a:effectLst/>
        </p:spPr>
        <p:txBody>
          <a:bodyPr wrap="square" anchor="t" lIns="0" rIns="0" tIns="0" bIns="0">
            <a:noAutofit/>
          </a:bodyPr>
          <a:lstStyle/>
          <a:p>
            <a:pPr algn="l"/>
            <a:r>
              <a:rPr sz="1200" b="1" spc="90" kern="1200">
                <a:solidFill>
                  <a:srgbClr val="A1A1A6"/>
                </a:solidFill>
                <a:latin typeface="Helvetica Neue"/>
                <a:ea typeface="微软雅黑"/>
              </a:rPr>
              <a:t>SHEN YICHENG</a:t>
            </a:r>
          </a:p>
        </p:txBody>
      </p:sp>
      <p:sp>
        <p:nvSpPr>
          <p:cNvPr id="29" name="TextBox 28"/>
          <p:cNvSpPr txBox="1"/>
          <p:nvPr/>
        </p:nvSpPr>
        <p:spPr>
          <a:xfrm>
            <a:off x="8001000" y="3759199"/>
            <a:ext cx="1727200" cy="177800"/>
          </a:xfrm>
          <a:prstGeom prst="rect">
            <a:avLst/>
          </a:prstGeom>
          <a:noFill/>
          <a:effectLst/>
        </p:spPr>
        <p:txBody>
          <a:bodyPr wrap="square" anchor="t" lIns="0" rIns="0" tIns="0" bIns="0">
            <a:noAutofit/>
          </a:bodyPr>
          <a:lstStyle/>
          <a:p>
            <a:pPr algn="l">
              <a:lnSpc>
                <a:spcPct val="110000"/>
              </a:lnSpc>
            </a:pPr>
            <a:r>
              <a:rPr sz="1400" b="1" kern="1200">
                <a:solidFill>
                  <a:srgbClr val="FFFFFF"/>
                </a:solidFill>
                <a:latin typeface="Helvetica Neue"/>
                <a:ea typeface="微软雅黑"/>
              </a:rPr>
              <a:t>Copy &amp; research</a:t>
            </a:r>
          </a:p>
        </p:txBody>
      </p:sp>
      <p:sp>
        <p:nvSpPr>
          <p:cNvPr id="30" name="TextBox 29"/>
          <p:cNvSpPr txBox="1"/>
          <p:nvPr/>
        </p:nvSpPr>
        <p:spPr>
          <a:xfrm>
            <a:off x="8001000" y="3949700"/>
            <a:ext cx="1727200" cy="711200"/>
          </a:xfrm>
          <a:prstGeom prst="rect">
            <a:avLst/>
          </a:prstGeom>
          <a:noFill/>
          <a:effectLst/>
        </p:spPr>
        <p:txBody>
          <a:bodyPr wrap="square" anchor="t" lIns="0" rIns="0" tIns="0" bIns="0">
            <a:noAutofit/>
          </a:bodyPr>
          <a:lstStyle/>
          <a:p>
            <a:pPr algn="l">
              <a:lnSpc>
                <a:spcPct val="122000"/>
              </a:lnSpc>
            </a:pPr>
            <a:r>
              <a:rPr sz="1000" b="0" kern="1200">
                <a:solidFill>
                  <a:srgbClr val="A1A1A6"/>
                </a:solidFill>
                <a:latin typeface="Helvetica Neue"/>
                <a:ea typeface="微软雅黑"/>
              </a:rPr>
              <a:t>Wrote the on-screen text, checked the bridge facts and history, and kept the story accurate.</a:t>
            </a:r>
          </a:p>
        </p:txBody>
      </p:sp>
      <p:pic>
        <p:nvPicPr>
          <p:cNvPr id="31" name="Picture 30" descr="team-m6-av-200x200-jpg.jpg__100x100"/>
          <p:cNvPicPr>
            <a:picLocks noChangeAspect="1"/>
          </p:cNvPicPr>
          <p:nvPr/>
        </p:nvPicPr>
        <p:blipFill>
          <a:blip r:embed="rId8"/>
          <a:stretch>
            <a:fillRect/>
          </a:stretch>
        </p:blipFill>
        <p:spPr>
          <a:xfrm>
            <a:off x="9886950" y="2578100"/>
            <a:ext cx="635000" cy="635000"/>
          </a:xfrm>
          <a:prstGeom prst="rect">
            <a:avLst/>
          </a:prstGeom>
          <a:effectLst/>
        </p:spPr>
      </p:pic>
      <p:sp>
        <p:nvSpPr>
          <p:cNvPr id="32" name="TextBox 31"/>
          <p:cNvSpPr txBox="1"/>
          <p:nvPr/>
        </p:nvSpPr>
        <p:spPr>
          <a:xfrm>
            <a:off x="9886950" y="3340100"/>
            <a:ext cx="1727200" cy="190500"/>
          </a:xfrm>
          <a:prstGeom prst="rect">
            <a:avLst/>
          </a:prstGeom>
          <a:noFill/>
          <a:effectLst/>
        </p:spPr>
        <p:txBody>
          <a:bodyPr wrap="square" anchor="t" lIns="0" rIns="0" tIns="0" bIns="0">
            <a:noAutofit/>
          </a:bodyPr>
          <a:lstStyle/>
          <a:p>
            <a:pPr algn="l"/>
            <a:r>
              <a:rPr sz="2100" b="1" kern="1200">
                <a:solidFill>
                  <a:srgbClr val="FFFFFF"/>
                </a:solidFill>
                <a:latin typeface="Helvetica Neue"/>
                <a:ea typeface="微软雅黑"/>
              </a:rPr>
              <a:t>沈煜程</a:t>
            </a:r>
          </a:p>
        </p:txBody>
      </p:sp>
      <p:sp>
        <p:nvSpPr>
          <p:cNvPr id="33" name="TextBox 32"/>
          <p:cNvSpPr txBox="1"/>
          <p:nvPr/>
        </p:nvSpPr>
        <p:spPr>
          <a:xfrm>
            <a:off x="9886950" y="3568700"/>
            <a:ext cx="1727200" cy="152400"/>
          </a:xfrm>
          <a:prstGeom prst="rect">
            <a:avLst/>
          </a:prstGeom>
          <a:noFill/>
          <a:effectLst/>
        </p:spPr>
        <p:txBody>
          <a:bodyPr wrap="square" anchor="t" lIns="0" rIns="0" tIns="0" bIns="0">
            <a:noAutofit/>
          </a:bodyPr>
          <a:lstStyle/>
          <a:p>
            <a:pPr algn="l"/>
            <a:r>
              <a:rPr sz="1200" b="1" spc="90" kern="1200">
                <a:solidFill>
                  <a:srgbClr val="A1A1A6"/>
                </a:solidFill>
                <a:latin typeface="Helvetica Neue"/>
                <a:ea typeface="微软雅黑"/>
              </a:rPr>
              <a:t>SHEN YUCHENG</a:t>
            </a:r>
          </a:p>
        </p:txBody>
      </p:sp>
      <p:sp>
        <p:nvSpPr>
          <p:cNvPr id="34" name="TextBox 33"/>
          <p:cNvSpPr txBox="1"/>
          <p:nvPr/>
        </p:nvSpPr>
        <p:spPr>
          <a:xfrm>
            <a:off x="9886950" y="3759199"/>
            <a:ext cx="1727200" cy="177800"/>
          </a:xfrm>
          <a:prstGeom prst="rect">
            <a:avLst/>
          </a:prstGeom>
          <a:noFill/>
          <a:effectLst/>
        </p:spPr>
        <p:txBody>
          <a:bodyPr wrap="square" anchor="t" lIns="0" rIns="0" tIns="0" bIns="0">
            <a:noAutofit/>
          </a:bodyPr>
          <a:lstStyle/>
          <a:p>
            <a:pPr algn="l">
              <a:lnSpc>
                <a:spcPct val="110000"/>
              </a:lnSpc>
            </a:pPr>
            <a:r>
              <a:rPr sz="1400" b="1" kern="1200">
                <a:solidFill>
                  <a:srgbClr val="FFFFFF"/>
                </a:solidFill>
                <a:latin typeface="Helvetica Neue"/>
                <a:ea typeface="微软雅黑"/>
              </a:rPr>
              <a:t>Production &amp; final review</a:t>
            </a:r>
          </a:p>
        </p:txBody>
      </p:sp>
      <p:sp>
        <p:nvSpPr>
          <p:cNvPr id="35" name="TextBox 34"/>
          <p:cNvSpPr txBox="1"/>
          <p:nvPr/>
        </p:nvSpPr>
        <p:spPr>
          <a:xfrm>
            <a:off x="9886950" y="3949700"/>
            <a:ext cx="1727200" cy="711200"/>
          </a:xfrm>
          <a:prstGeom prst="rect">
            <a:avLst/>
          </a:prstGeom>
          <a:noFill/>
          <a:effectLst/>
        </p:spPr>
        <p:txBody>
          <a:bodyPr wrap="square" anchor="t" lIns="0" rIns="0" tIns="0" bIns="0">
            <a:noAutofit/>
          </a:bodyPr>
          <a:lstStyle/>
          <a:p>
            <a:pPr algn="l">
              <a:lnSpc>
                <a:spcPct val="122000"/>
              </a:lnSpc>
            </a:pPr>
            <a:r>
              <a:rPr sz="1000" b="0" kern="1200">
                <a:solidFill>
                  <a:srgbClr val="A1A1A6"/>
                </a:solidFill>
                <a:latin typeface="Helvetica Neue"/>
                <a:ea typeface="微软雅黑"/>
              </a:rPr>
              <a:t>Ran the weekly checklists, prepared the slides and materials, and did the final self-review.</a:t>
            </a:r>
          </a:p>
        </p:txBody>
      </p:sp>
      <p:sp>
        <p:nvSpPr>
          <p:cNvPr id="36" name="Rectangle 35"/>
          <p:cNvSpPr/>
          <p:nvPr/>
        </p:nvSpPr>
        <p:spPr>
          <a:xfrm>
            <a:off x="0" y="4711700"/>
            <a:ext cx="12192000" cy="12700"/>
          </a:xfrm>
          <a:prstGeom prst="rect">
            <a:avLst/>
          </a:prstGeom>
          <a:solidFill>
            <a:srgbClr val="2436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57200" y="5003800"/>
            <a:ext cx="6985000" cy="635000"/>
          </a:xfrm>
          <a:prstGeom prst="rect">
            <a:avLst/>
          </a:prstGeom>
          <a:noFill/>
          <a:effectLst/>
        </p:spPr>
        <p:txBody>
          <a:bodyPr wrap="square" anchor="t" lIns="0" rIns="0" tIns="0" bIns="0">
            <a:noAutofit/>
          </a:bodyPr>
          <a:lstStyle/>
          <a:p>
            <a:pPr algn="l"/>
            <a:r>
              <a:rPr sz="8800" b="1" spc="-160" kern="1200">
                <a:solidFill>
                  <a:srgbClr val="FFFFFF"/>
                </a:solidFill>
                <a:latin typeface="Helvetica Neue"/>
                <a:ea typeface="微软雅黑"/>
              </a:rPr>
              <a:t>WUZHEN</a:t>
            </a:r>
          </a:p>
        </p:txBody>
      </p:sp>
      <p:sp>
        <p:nvSpPr>
          <p:cNvPr id="38" name="TextBox 37"/>
          <p:cNvSpPr txBox="1"/>
          <p:nvPr/>
        </p:nvSpPr>
        <p:spPr>
          <a:xfrm>
            <a:off x="495299" y="5765800"/>
            <a:ext cx="6985000" cy="228600"/>
          </a:xfrm>
          <a:prstGeom prst="rect">
            <a:avLst/>
          </a:prstGeom>
          <a:noFill/>
          <a:effectLst/>
        </p:spPr>
        <p:txBody>
          <a:bodyPr wrap="square" anchor="t" lIns="0" rIns="0" tIns="0" bIns="0">
            <a:noAutofit/>
          </a:bodyPr>
          <a:lstStyle/>
          <a:p>
            <a:pPr algn="l"/>
            <a:r>
              <a:rPr sz="2600" b="1" spc="-10" kern="1200">
                <a:solidFill>
                  <a:srgbClr val="FFFFFF"/>
                </a:solidFill>
                <a:latin typeface="Helvetica Neue"/>
                <a:ea typeface="微软雅黑"/>
              </a:rPr>
              <a:t>Water connects everything.</a:t>
            </a:r>
          </a:p>
        </p:txBody>
      </p:sp>
      <p:sp>
        <p:nvSpPr>
          <p:cNvPr id="39" name="TextBox 38"/>
          <p:cNvSpPr txBox="1"/>
          <p:nvPr/>
        </p:nvSpPr>
        <p:spPr>
          <a:xfrm>
            <a:off x="495299" y="6083300"/>
            <a:ext cx="6985000" cy="381000"/>
          </a:xfrm>
          <a:prstGeom prst="rect">
            <a:avLst/>
          </a:prstGeom>
          <a:noFill/>
          <a:effectLst/>
        </p:spPr>
        <p:txBody>
          <a:bodyPr wrap="square" anchor="t" lIns="0" rIns="0" tIns="0" bIns="0">
            <a:noAutofit/>
          </a:bodyPr>
          <a:lstStyle/>
          <a:p>
            <a:pPr algn="l">
              <a:lnSpc>
                <a:spcPct val="130000"/>
              </a:lnSpc>
            </a:pPr>
            <a:r>
              <a:rPr sz="1400" b="0" kern="1200">
                <a:solidFill>
                  <a:srgbClr val="A1A1A6"/>
                </a:solidFill>
                <a:latin typeface="Helvetica Neue"/>
                <a:ea typeface="微软雅黑"/>
              </a:rPr>
              <a:t>Water carries the town, carries our research, and carries this project.</a:t>
            </a:r>
          </a:p>
        </p:txBody>
      </p:sp>
      <p:sp>
        <p:nvSpPr>
          <p:cNvPr id="40" name="TextBox 39"/>
          <p:cNvSpPr txBox="1"/>
          <p:nvPr/>
        </p:nvSpPr>
        <p:spPr>
          <a:xfrm>
            <a:off x="7620000" y="5080000"/>
            <a:ext cx="4114800" cy="165100"/>
          </a:xfrm>
          <a:prstGeom prst="rect">
            <a:avLst/>
          </a:prstGeom>
          <a:noFill/>
          <a:effectLst/>
        </p:spPr>
        <p:txBody>
          <a:bodyPr wrap="square" anchor="t" lIns="0" rIns="0" tIns="0" bIns="0">
            <a:noAutofit/>
          </a:bodyPr>
          <a:lstStyle/>
          <a:p>
            <a:pPr algn="r"/>
            <a:r>
              <a:rPr sz="1150" b="1" spc="150" kern="1200">
                <a:solidFill>
                  <a:srgbClr val="6E6E73"/>
                </a:solidFill>
                <a:latin typeface="Helvetica Neue"/>
                <a:ea typeface="微软雅黑"/>
              </a:rPr>
              <a:t>WATERWAYS &amp; BRIDGES  ·  GROUP 90706  ·  PBL 2026</a:t>
            </a:r>
          </a:p>
        </p:txBody>
      </p:sp>
      <p:sp>
        <p:nvSpPr>
          <p:cNvPr id="41" name="TextBox 40"/>
          <p:cNvSpPr txBox="1"/>
          <p:nvPr/>
        </p:nvSpPr>
        <p:spPr>
          <a:xfrm>
            <a:off x="7620000" y="5346700"/>
            <a:ext cx="4114800" cy="609600"/>
          </a:xfrm>
          <a:prstGeom prst="rect">
            <a:avLst/>
          </a:prstGeom>
          <a:noFill/>
          <a:effectLst/>
        </p:spPr>
        <p:txBody>
          <a:bodyPr wrap="square" anchor="t" lIns="0" rIns="0" tIns="0" bIns="0">
            <a:noAutofit/>
          </a:bodyPr>
          <a:lstStyle/>
          <a:p>
            <a:pPr algn="r">
              <a:lnSpc>
                <a:spcPct val="134000"/>
              </a:lnSpc>
            </a:pPr>
            <a:r>
              <a:rPr sz="1050" b="0" kern="1200">
                <a:solidFill>
                  <a:srgbClr val="6E6E73"/>
                </a:solidFill>
                <a:latin typeface="Helvetica Neue"/>
                <a:ea typeface="微软雅黑"/>
              </a:rPr>
              <a:t>Image sources — Wikimedia Commons (韩笃一, Immanuel Giel, Jakub</a:t>
            </a:r>
          </a:p>
          <a:p>
            <a:pPr algn="r">
              <a:lnSpc>
                <a:spcPct val="134000"/>
              </a:lnSpc>
            </a:pPr>
            <a:r>
              <a:rPr sz="1050" b="0" kern="1200">
                <a:solidFill>
                  <a:srgbClr val="6E6E73"/>
                </a:solidFill>
                <a:latin typeface="Helvetica Neue"/>
                <a:ea typeface="微软雅黑"/>
              </a:rPr>
              <a:t>Hałun, Gerbil, Nico le terrible, Sastognuti, N509FZ,</a:t>
            </a:r>
          </a:p>
          <a:p>
            <a:pPr algn="r">
              <a:lnSpc>
                <a:spcPct val="134000"/>
              </a:lnSpc>
            </a:pPr>
            <a:r>
              <a:rPr sz="1050" b="0" kern="1200">
                <a:solidFill>
                  <a:srgbClr val="6E6E73"/>
                </a:solidFill>
                <a:latin typeface="Helvetica Neue"/>
                <a:ea typeface="微软雅黑"/>
              </a:rPr>
              <a:t>ChinaUli2010; CC0 / CC BY / CC BY-SA)</a:t>
            </a:r>
          </a:p>
        </p:txBody>
      </p:sp>
      <p:sp>
        <p:nvSpPr>
          <p:cNvPr id="42" name="TextBox 41"/>
          <p:cNvSpPr txBox="1"/>
          <p:nvPr/>
        </p:nvSpPr>
        <p:spPr>
          <a:xfrm>
            <a:off x="7620000" y="6045200"/>
            <a:ext cx="4114800" cy="165100"/>
          </a:xfrm>
          <a:prstGeom prst="rect">
            <a:avLst/>
          </a:prstGeom>
          <a:noFill/>
          <a:effectLst/>
        </p:spPr>
        <p:txBody>
          <a:bodyPr wrap="square" anchor="t" lIns="0" rIns="0" tIns="0" bIns="0">
            <a:noAutofit/>
          </a:bodyPr>
          <a:lstStyle/>
          <a:p>
            <a:pPr algn="r"/>
            <a:r>
              <a:rPr sz="1100" b="0" spc="60" kern="1200">
                <a:solidFill>
                  <a:srgbClr val="A1A1A6"/>
                </a:solidFill>
                <a:latin typeface="Helvetica Neue"/>
                <a:ea typeface="微软雅黑"/>
              </a:rPr>
              <a:t>Full credits live on the project website, in Sources.</a:t>
            </a:r>
          </a:p>
        </p:txBody>
      </p:sp>
    </p:spTree>
  </p:cSld>
  <p:clrMapOvr>
    <a:masterClrMapping/>
  </p:clrMapOvr>
  <p:transition xmlns:p14="http://schemas.microsoft.com/office/powerpoint/2010/main" spd="slow">
    <p:fade thruBlk="1"/>
  </p:transition>
  <p:timing>
    <p:tnLst>
      <p:par>
        <p:cTn id="1" dur="indefinite" restart="never" nodeType="mainSeq">
          <p:childTnLst>
            <p:par>
              <p:cTn id="2" fill="hold">
                <p:stCondLst>
                  <p:cond delay="0"/>
                </p:stCondLst>
                <p:childTnLst>
                  <p:par>
                    <p:cTn id="3" presetID="23" presetClass="entr" presetSubtype="0" fill="hold" nodeType="afterEffect">
                      <p:stCondLst>
                        <p:cond delay="0"/>
                      </p:stCondLst>
                      <p:childTnLst>
                        <p:animEffect transition="in" filter="zoom">
                          <p:cBhvr>
                            <p:tgtEl>
                              <p:spLst>
                                <p:spTgt spid="4"/>
                              </p:spLst>
                            </p:tgtEl>
                          </p:cBhvr>
                        </p:animEffect>
                      </p:childTnLst>
                    </p:cTn>
                  </p:par>
                  <p:par>
                    <p:cTn id="4" presetID="10" presetClass="entr" presetSubtype="0" fill="hold" nodeType="afterEffect">
                      <p:stCondLst>
                        <p:cond delay="500"/>
                      </p:stCondLst>
                      <p:childTnLst>
                        <p:animEffect transition="in" filter="fade">
                          <p:cBhvr>
                            <p:tgtEl>
                              <p:spLst>
                                <p:spTgt spid="37"/>
                              </p:spLst>
                            </p:tgtEl>
                          </p:cBhvr>
                        </p:animEffect>
                      </p:childTnLst>
                    </p:cTn>
                  </p:par>
                  <p:par>
                    <p:cTn id="5" presetID="10" presetClass="entr" presetSubtype="0" fill="hold" nodeType="afterEffect">
                      <p:stCondLst>
                        <p:cond delay="0"/>
                      </p:stCondLst>
                      <p:childTnLst>
                        <p:animEffect transition="in" filter="fade">
                          <p:cBhvr>
                            <p:tgtEl>
                              <p:spLst>
                                <p:spTgt spid="38"/>
                              </p:spLst>
                            </p:tgtEl>
                          </p:cBhvr>
                        </p:animEffect>
                      </p:childTnLst>
                    </p:cTn>
                  </p:par>
                </p:childTnLst>
              </p:cTn>
            </p:par>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