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This is our project about Wuzhen. Wuzhen is a water town in Jiangnan, China. For four weeks we studied its waterways and bridges, and we built a website to tell the story. Today we show you what we found and how we made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project starts with a question. Ours is: why is water the main line of the ancient town? We wanted to understand how water connects the town, its people and its history. The next slides are what we saw when we looked at the canals, the bridges and the boats.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is the heart of Wuzhen. Canals run through the town and connect many places. In the past, people used the water as a road for travel and trade. That is why water is not only beautiful, but also important to daily life.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Wuzhen is criss-crossed by stone bridges. They connect the two sides of the canals. A boat ducks under a bridge, and a person climbing the steps looks down onto still water. Xizha alone has 72 ancient stone bridges — more numbers in the facts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boat is more than transport. The black-canopied wupeng is the slowest and most patient way to move through Wuzhen. It slips under the low arches and turns the corner. Watching a boat, you read the town like a sentence.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Life happens at the water's edge. By day, the canals are roads — for travel, transport, trade and washing. When evening falls, Wuzhen changes its colour: the stone cools to blue and the lanterns take over, pouring warm light onto the water and back into reflections.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visual research. Three photos: the canal, the stone arch, and a boat on the water. And look below — we turned this research into a real website: a hero section, a story, a gallery, a waterway atlas, a timeline and a team page. One idea, two places: this deck, and the web.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walk the canals blindly. We picked four stops: the north water gate, Xizha bridge, lantern wharf after dusk, and the morning market. This abstract waterway shows where we looked — a field route, not a map, because we wanted to keep it honest.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answer. Water connects everything — houses, bridges, streets, people and boats. Together they make traditional life. So water is not just scenery. It is the line that holds the whole town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facts. First, the water system is cross-shaped: water divides the town into zones and also connects them. Second, nearly ten thousand metres of waterways. Third, 72 ancient stone bridges. These numbers come from our own research, not from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role of water changes, but it never stops connecting. In the past, water meant boats, transport, trade and daily life. Today it means tourism, sightseeing and cultural experience. The water still connects the two eras.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team — six people, one project. Jiang Shengyi led the plan and the final presentation. Wang Hanyu mapped the canals and bridges. Lu Ang built the website. Zhu Zhongle took the photos. Shen Yicheng wrote the text and checked the facts. Shen Yucheng ran the final review. One project, six hands.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Water connects the town, supports traditional life, and gives Wuzhen its character. We studied it, we photographed it, and we built a website to share it. Thank you for listening — we would love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cover_1080.jpg"/>
          <p:cNvPicPr>
            <a:picLocks noChangeAspect="1"/>
          </p:cNvPicPr>
          <p:nvPr/>
        </p:nvPicPr>
        <p:blipFill>
          <a:blip r:embed="rId2"/>
          <a:stretch>
            <a:fillRect/>
          </a:stretch>
        </p:blipFill>
        <p:spPr>
          <a:xfrm>
            <a:off x="0" y="0"/>
            <a:ext cx="12192000" cy="6858000"/>
          </a:xfrm>
          <a:prstGeom prst="rect">
            <a:avLst/>
          </a:prstGeom>
          <a:effectLst/>
        </p:spPr>
      </p:pic>
      <p:sp>
        <p:nvSpPr>
          <p:cNvPr id="3" name="Rectangle 2"/>
          <p:cNvSpPr/>
          <p:nvPr/>
        </p:nvSpPr>
        <p:spPr>
          <a:xfrm>
            <a:off x="0" y="0"/>
            <a:ext cx="12191695" cy="6858000"/>
          </a:xfrm>
          <a:prstGeom prst="rect">
            <a:avLst/>
          </a:prstGeom>
          <a:solidFill>
            <a:srgbClr val="1D1D1F">
              <a:alpha val="52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2730500"/>
            <a:ext cx="10668000" cy="1905000"/>
          </a:xfrm>
          <a:prstGeom prst="rect">
            <a:avLst/>
          </a:prstGeom>
          <a:noFill/>
          <a:effectLst/>
        </p:spPr>
        <p:txBody>
          <a:bodyPr wrap="square" anchor="ctr" lIns="0" rIns="0" tIns="0" bIns="0">
            <a:spAutoFit/>
          </a:bodyPr>
          <a:lstStyle/>
          <a:p>
            <a:pPr algn="l"/>
            <a:r>
              <a:rPr sz="15000" b="0" spc="-1200" kern="1200">
                <a:solidFill>
                  <a:srgbClr val="FFFFFF"/>
                </a:solidFill>
                <a:latin typeface="Helvetica Neue"/>
                <a:ea typeface="微软雅黑"/>
              </a:rPr>
              <a:t>WUZHEN</a:t>
            </a:r>
          </a:p>
        </p:txBody>
      </p:sp>
      <p:sp>
        <p:nvSpPr>
          <p:cNvPr id="5" name="TextBox 4"/>
          <p:cNvSpPr txBox="1"/>
          <p:nvPr/>
        </p:nvSpPr>
        <p:spPr>
          <a:xfrm>
            <a:off x="762000" y="4445000"/>
            <a:ext cx="7620000" cy="279400"/>
          </a:xfrm>
          <a:prstGeom prst="rect">
            <a:avLst/>
          </a:prstGeom>
          <a:noFill/>
          <a:effectLst/>
        </p:spPr>
        <p:txBody>
          <a:bodyPr wrap="square" anchor="t" lIns="0" rIns="0" tIns="0" bIns="0">
            <a:spAutoFit/>
          </a:bodyPr>
          <a:lstStyle/>
          <a:p>
            <a:pPr algn="l"/>
            <a:r>
              <a:rPr sz="2200" b="0" spc="560" kern="1200">
                <a:solidFill>
                  <a:srgbClr val="FFFFFF"/>
                </a:solidFill>
                <a:latin typeface="Helvetica Neue"/>
                <a:ea typeface="微软雅黑"/>
              </a:rPr>
              <a:t>WATERWAYS &amp; BRIDGES</a:t>
            </a:r>
          </a:p>
        </p:txBody>
      </p:sp>
      <p:sp>
        <p:nvSpPr>
          <p:cNvPr id="6" name="TextBox 5"/>
          <p:cNvSpPr txBox="1"/>
          <p:nvPr/>
        </p:nvSpPr>
        <p:spPr>
          <a:xfrm>
            <a:off x="762000" y="4800600"/>
            <a:ext cx="7620000" cy="228600"/>
          </a:xfrm>
          <a:prstGeom prst="rect">
            <a:avLst/>
          </a:prstGeom>
          <a:noFill/>
          <a:effectLst/>
        </p:spPr>
        <p:txBody>
          <a:bodyPr wrap="square" anchor="t" lIns="0" rIns="0" tIns="0" bIns="0">
            <a:spAutoFit/>
          </a:bodyPr>
          <a:lstStyle/>
          <a:p>
            <a:pPr algn="l"/>
            <a:r>
              <a:rPr sz="1500" b="0" kern="1200">
                <a:solidFill>
                  <a:srgbClr val="FFFFFF"/>
                </a:solidFill>
                <a:latin typeface="Helvetica Neue"/>
                <a:ea typeface="微软雅黑"/>
              </a:rPr>
              <a:t>A water town shaped by water.</a:t>
            </a:r>
          </a:p>
        </p:txBody>
      </p:sp>
      <p:sp>
        <p:nvSpPr>
          <p:cNvPr id="7" name="TextBox 6"/>
          <p:cNvSpPr txBox="1"/>
          <p:nvPr/>
        </p:nvSpPr>
        <p:spPr>
          <a:xfrm>
            <a:off x="762000" y="6286500"/>
            <a:ext cx="6985000" cy="190500"/>
          </a:xfrm>
          <a:prstGeom prst="rect">
            <a:avLst/>
          </a:prstGeom>
          <a:noFill/>
          <a:effectLst/>
        </p:spPr>
        <p:txBody>
          <a:bodyPr wrap="square" anchor="t" lIns="0" rIns="0" tIns="0" bIns="0">
            <a:spAutoFit/>
          </a:bodyPr>
          <a:lstStyle/>
          <a:p>
            <a:pPr algn="l"/>
            <a:r>
              <a:rPr sz="1100" b="0" spc="380" kern="1200">
                <a:solidFill>
                  <a:srgbClr val="A1A1A6"/>
                </a:solidFill>
                <a:latin typeface="Helvetica Neue"/>
                <a:ea typeface="微软雅黑"/>
              </a:rPr>
              <a:t>GROUP 90706   ·   6 MEMBERS   ·   PBL PROJECT 2026</a:t>
            </a:r>
          </a:p>
        </p:txBody>
      </p:sp>
      <p:cxnSp>
        <p:nvCxnSpPr>
          <p:cNvPr id="8" name="Connector 7"/>
          <p:cNvCxnSpPr/>
          <p:nvPr/>
        </p:nvCxnSpPr>
        <p:spPr>
          <a:xfrm>
            <a:off x="109728000" y="859536000"/>
            <a:ext cx="1536192000" cy="0"/>
          </a:xfrm>
          <a:prstGeom prst="line">
            <a:avLst/>
          </a:prstGeom>
          <a:ln w="6350">
            <a:solidFill>
              <a:srgbClr val="D2D2D7">
                <a:alpha val="250"/>
              </a:srgbClr>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23" presetClass="entr" presetSubtype="0" fill="hold" nodeType="afterEffect">
                      <p:stCondLst>
                        <p:cond delay="0"/>
                      </p:stCondLst>
                      <p:childTnLst>
                        <p:animEffect transition="in" filter="zoom">
                          <p:cBhvr>
                            <p:tgtEl>
                              <p:spLst>
                                <p:spTgt spid="4"/>
                              </p:spLst>
                            </p:tgtEl>
                          </p:cBhvr>
                        </p:animEffect>
                      </p:childTnLst>
                    </p:cTn>
                  </p:par>
                  <p:par>
                    <p:cTn id="4" presetID="10" presetClass="entr" presetSubtype="0" fill="hold" nodeType="afterEffect">
                      <p:stCondLst>
                        <p:cond delay="550"/>
                      </p:stCondLst>
                      <p:childTnLst>
                        <p:animEffect transition="in" filter="fade">
                          <p:cBhvr>
                            <p:tgtEl>
                              <p:spLst>
                                <p:spTgt spid="5"/>
                              </p:spLst>
                            </p:tgtEl>
                          </p:cBhvr>
                        </p:animEffect>
                      </p:childTnLst>
                    </p:cTn>
                  </p:par>
                  <p:par>
                    <p:cTn id="5" presetID="10" presetClass="entr" presetSubtype="0" fill="hold" nodeType="afterEffect">
                      <p:stCondLst>
                        <p:cond delay="950"/>
                      </p:stCondLst>
                      <p:childTnLst>
                        <p:animEffect transition="in" filter="fade">
                          <p:cBhvr>
                            <p:tgtEl>
                              <p:spLst>
                                <p:spTgt spid="6"/>
                              </p:spLst>
                            </p:tgtEl>
                          </p:cBhvr>
                        </p:animEffect>
                      </p:childTnLst>
                    </p:cTn>
                  </p:par>
                  <p:par>
                    <p:cTn id="6" presetID="10" presetClass="entr" presetSubtype="0" fill="hold" nodeType="afterEffect">
                      <p:stCondLst>
                        <p:cond delay="1500"/>
                      </p:stCondLst>
                      <p:childTnLst>
                        <p:animEffect transition="in" filter="fade">
                          <p:cBhvr>
                            <p:tgtEl>
                              <p:spLst>
                                <p:spTgt spid="7"/>
                              </p:spLst>
                            </p:tgtEl>
                          </p:cBhvr>
                        </p:animEffect>
                      </p:childTnLst>
                    </p:cTn>
                  </p:par>
                  <p:par>
                    <p:cTn id="7" presetID="10" presetClass="entr" presetSubtype="0" fill="hold" nodeType="afterEffect">
                      <p:stCondLst>
                        <p:cond delay="2100"/>
                      </p:stCondLst>
                      <p:childTnLst>
                        <p:animEffect transition="in" filter="fade">
                          <p:cBhvr>
                            <p:tgtEl>
                              <p:spLst>
                                <p:spTgt spid="8"/>
                              </p:spLst>
                            </p:tgtEl>
                          </p:cBhvr>
                        </p:animEffect>
                      </p:childTnLst>
                    </p:cTn>
                  </p:par>
                </p:childTnLst>
              </p:cTn>
            </p:par>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017000" y="254000"/>
            <a:ext cx="3175000" cy="6223000"/>
          </a:xfrm>
          <a:prstGeom prst="rect">
            <a:avLst/>
          </a:prstGeom>
          <a:noFill/>
          <a:effectLst/>
        </p:spPr>
        <p:txBody>
          <a:bodyPr wrap="square" anchor="t" lIns="0" rIns="0" tIns="0" bIns="0">
            <a:spAutoFit/>
          </a:bodyPr>
          <a:lstStyle/>
          <a:p>
            <a:pPr algn="ctr"/>
            <a:r>
              <a:rPr sz="32000" b="0" kern="1200">
                <a:solidFill>
                  <a:srgbClr val="F5F5F7"/>
                </a:solidFill>
                <a:latin typeface="Helvetica Neue"/>
                <a:ea typeface="微软雅黑"/>
              </a:rPr>
              <a:t>Q</a:t>
            </a:r>
          </a:p>
        </p:txBody>
      </p:sp>
      <p:sp>
        <p:nvSpPr>
          <p:cNvPr id="3" name="TextBox 2"/>
          <p:cNvSpPr txBox="1"/>
          <p:nvPr/>
        </p:nvSpPr>
        <p:spPr>
          <a:xfrm>
            <a:off x="762000" y="2730500"/>
            <a:ext cx="9398000" cy="889000"/>
          </a:xfrm>
          <a:prstGeom prst="rect">
            <a:avLst/>
          </a:prstGeom>
          <a:noFill/>
          <a:effectLst/>
        </p:spPr>
        <p:txBody>
          <a:bodyPr wrap="square" anchor="t" lIns="0" rIns="0" tIns="0" bIns="0">
            <a:spAutoFit/>
          </a:bodyPr>
          <a:lstStyle/>
          <a:p>
            <a:pPr algn="l"/>
            <a:r>
              <a:rPr sz="6400" b="1" spc="-100" kern="1200">
                <a:solidFill>
                  <a:srgbClr val="1D1D1F"/>
                </a:solidFill>
                <a:latin typeface="Helvetica Neue"/>
                <a:ea typeface="微软雅黑"/>
              </a:rPr>
              <a:t>WHY IS WATER</a:t>
            </a:r>
          </a:p>
        </p:txBody>
      </p:sp>
      <p:sp>
        <p:nvSpPr>
          <p:cNvPr id="4" name="TextBox 3"/>
          <p:cNvSpPr txBox="1"/>
          <p:nvPr/>
        </p:nvSpPr>
        <p:spPr>
          <a:xfrm>
            <a:off x="762000" y="3556000"/>
            <a:ext cx="9398000" cy="889000"/>
          </a:xfrm>
          <a:prstGeom prst="rect">
            <a:avLst/>
          </a:prstGeom>
          <a:noFill/>
          <a:effectLst/>
        </p:spPr>
        <p:txBody>
          <a:bodyPr wrap="square" anchor="t" lIns="0" rIns="0" tIns="0" bIns="0">
            <a:spAutoFit/>
          </a:bodyPr>
          <a:lstStyle/>
          <a:p>
            <a:pPr algn="l"/>
            <a:r>
              <a:rPr sz="6400" b="1" spc="-100" kern="1200">
                <a:solidFill>
                  <a:srgbClr val="1D1D1F"/>
                </a:solidFill>
                <a:latin typeface="Helvetica Neue"/>
                <a:ea typeface="微软雅黑"/>
              </a:rPr>
              <a:t>THE MAIN LINE OF</a:t>
            </a:r>
          </a:p>
        </p:txBody>
      </p:sp>
      <p:sp>
        <p:nvSpPr>
          <p:cNvPr id="5" name="TextBox 4"/>
          <p:cNvSpPr txBox="1"/>
          <p:nvPr/>
        </p:nvSpPr>
        <p:spPr>
          <a:xfrm>
            <a:off x="762000" y="4381500"/>
            <a:ext cx="9398000" cy="889000"/>
          </a:xfrm>
          <a:prstGeom prst="rect">
            <a:avLst/>
          </a:prstGeom>
          <a:noFill/>
          <a:effectLst/>
        </p:spPr>
        <p:txBody>
          <a:bodyPr wrap="square" anchor="t" lIns="0" rIns="0" tIns="0" bIns="0">
            <a:spAutoFit/>
          </a:bodyPr>
          <a:lstStyle/>
          <a:p>
            <a:pPr algn="l"/>
            <a:r>
              <a:rPr sz="6400" b="1" spc="-100" kern="1200">
                <a:solidFill>
                  <a:srgbClr val="1D1D1F"/>
                </a:solidFill>
                <a:latin typeface="Helvetica Neue"/>
                <a:ea typeface="微软雅黑"/>
              </a:rPr>
              <a:t>THE ANCIENT TOWN?</a:t>
            </a:r>
          </a:p>
        </p:txBody>
      </p:sp>
      <p:sp>
        <p:nvSpPr>
          <p:cNvPr id="6" name="TextBox 5"/>
          <p:cNvSpPr txBox="1"/>
          <p:nvPr/>
        </p:nvSpPr>
        <p:spPr>
          <a:xfrm>
            <a:off x="762000" y="5397500"/>
            <a:ext cx="5080000" cy="215900"/>
          </a:xfrm>
          <a:prstGeom prst="rect">
            <a:avLst/>
          </a:prstGeom>
          <a:noFill/>
          <a:effectLst/>
        </p:spPr>
        <p:txBody>
          <a:bodyPr wrap="square" anchor="t" lIns="0" rIns="0" tIns="0" bIns="0">
            <a:spAutoFit/>
          </a:bodyPr>
          <a:lstStyle/>
          <a:p>
            <a:pPr algn="l"/>
            <a:r>
              <a:rPr sz="1400" b="0" kern="1200">
                <a:solidFill>
                  <a:srgbClr val="6E6E73"/>
                </a:solidFill>
                <a:latin typeface="Helvetica Neue"/>
                <a:ea typeface="微软雅黑"/>
              </a:rPr>
              <a:t>为什么水会成为古镇最重要的主线？</a:t>
            </a:r>
          </a:p>
        </p:txBody>
      </p:sp>
      <p:sp>
        <p:nvSpPr>
          <p:cNvPr id="7" name="TextBox 6"/>
          <p:cNvSpPr txBox="1"/>
          <p:nvPr/>
        </p:nvSpPr>
        <p:spPr>
          <a:xfrm>
            <a:off x="762000" y="6096000"/>
            <a:ext cx="6858000" cy="444500"/>
          </a:xfrm>
          <a:prstGeom prst="rect">
            <a:avLst/>
          </a:prstGeom>
          <a:noFill/>
          <a:effectLst/>
        </p:spPr>
        <p:txBody>
          <a:bodyPr wrap="square" anchor="t" lIns="0" rIns="0" tIns="0" bIns="0">
            <a:spAutoFit/>
          </a:bodyPr>
          <a:lstStyle/>
          <a:p>
            <a:pPr algn="l"/>
            <a:r>
              <a:rPr sz="1500" b="0" kern="1200">
                <a:solidFill>
                  <a:srgbClr val="6E6E73"/>
                </a:solidFill>
                <a:latin typeface="Helvetica Neue"/>
                <a:ea typeface="微软雅黑"/>
              </a:rPr>
              <a:t>We wanted to understand how water connects the town, its people and its history.</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10" presetClass="entr" presetSubtype="0" fill="hold" nodeType="afterEffect">
                      <p:stCondLst>
                        <p:cond delay="700"/>
                      </p:stCondLst>
                      <p:childTnLst>
                        <p:animEffect transition="in" filter="fade">
                          <p:cBhvr>
                            <p:tgtEl>
                              <p:spLst>
                                <p:spTgt spid="3"/>
                              </p:spLst>
                            </p:tgtEl>
                          </p:cBhvr>
                        </p:animEffect>
                      </p:childTnLst>
                    </p:cTn>
                  </p:par>
                  <p:par>
                    <p:cTn id="5" presetID="10" presetClass="entr" presetSubtype="0" fill="hold" nodeType="afterEffect">
                      <p:stCondLst>
                        <p:cond delay="1000"/>
                      </p:stCondLst>
                      <p:childTnLst>
                        <p:animEffect transition="in" filter="fade">
                          <p:cBhvr>
                            <p:tgtEl>
                              <p:spLst>
                                <p:spTgt spid="4"/>
                              </p:spLst>
                            </p:tgtEl>
                          </p:cBhvr>
                        </p:animEffect>
                      </p:childTnLst>
                    </p:cTn>
                  </p:par>
                  <p:par>
                    <p:cTn id="6" presetID="10" presetClass="entr" presetSubtype="0" fill="hold" nodeType="afterEffect">
                      <p:stCondLst>
                        <p:cond delay="1300"/>
                      </p:stCondLst>
                      <p:childTnLst>
                        <p:animEffect transition="in" filter="fade">
                          <p:cBhvr>
                            <p:tgtEl>
                              <p:spLst>
                                <p:spTgt spid="5"/>
                              </p:spLst>
                            </p:tgtEl>
                          </p:cBhvr>
                        </p:animEffect>
                      </p:childTnLst>
                    </p:cTn>
                  </p:par>
                  <p:par>
                    <p:cTn id="7" presetID="10" presetClass="entr" presetSubtype="0" fill="hold" nodeType="afterEffect">
                      <p:stCondLst>
                        <p:cond delay="2100"/>
                      </p:stCondLst>
                      <p:childTnLst>
                        <p:animEffect transition="in" filter="fade">
                          <p:cBhvr>
                            <p:tgtEl>
                              <p:spLst>
                                <p:spTgt spid="6"/>
                              </p:spLst>
                            </p:tgtEl>
                          </p:cBhvr>
                        </p:animEffect>
                      </p:childTnLst>
                    </p:cTn>
                  </p:par>
                  <p:par>
                    <p:cTn id="8" presetID="10" presetClass="entr" presetSubtype="0" fill="hold" nodeType="afterEffect">
                      <p:stCondLst>
                        <p:cond delay="2300"/>
                      </p:stCondLst>
                      <p:childTnLst>
                        <p:animEffect transition="in" filter="fade">
                          <p:cBhvr>
                            <p:tgtEl>
                              <p:spLst>
                                <p:spTgt spid="7"/>
                              </p:spLst>
                            </p:tgtEl>
                          </p:cBhvr>
                        </p:animEffect>
                      </p:childTnLst>
                    </p:cTn>
                  </p:par>
                </p:childTnLst>
              </p:cTn>
            </p:par>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water_full.jpg"/>
          <p:cNvPicPr>
            <a:picLocks noChangeAspect="1"/>
          </p:cNvPicPr>
          <p:nvPr/>
        </p:nvPicPr>
        <p:blipFill>
          <a:blip r:embed="rId2"/>
          <a:stretch>
            <a:fillRect/>
          </a:stretch>
        </p:blipFill>
        <p:spPr>
          <a:xfrm>
            <a:off x="0" y="0"/>
            <a:ext cx="12192000" cy="6858000"/>
          </a:xfrm>
          <a:prstGeom prst="rect">
            <a:avLst/>
          </a:prstGeom>
          <a:effectLst/>
        </p:spPr>
      </p:pic>
      <p:sp>
        <p:nvSpPr>
          <p:cNvPr id="3" name="Rectangle 2"/>
          <p:cNvSpPr/>
          <p:nvPr/>
        </p:nvSpPr>
        <p:spPr>
          <a:xfrm>
            <a:off x="0" y="3556000"/>
            <a:ext cx="12191695" cy="3302000"/>
          </a:xfrm>
          <a:prstGeom prst="rect">
            <a:avLst/>
          </a:prstGeom>
          <a:solidFill>
            <a:srgbClr val="1D1D1F">
              <a:alpha val="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5016500"/>
            <a:ext cx="5715000" cy="508000"/>
          </a:xfrm>
          <a:prstGeom prst="rect">
            <a:avLst/>
          </a:prstGeom>
          <a:noFill/>
          <a:effectLst/>
        </p:spPr>
        <p:txBody>
          <a:bodyPr wrap="square" anchor="t" lIns="0" rIns="0" tIns="0" bIns="0">
            <a:spAutoFit/>
          </a:bodyPr>
          <a:lstStyle/>
          <a:p>
            <a:pPr algn="l"/>
            <a:r>
              <a:rPr sz="6000" b="1" spc="-80" kern="1200">
                <a:solidFill>
                  <a:srgbClr val="FFFFFF"/>
                </a:solidFill>
                <a:latin typeface="Helvetica Neue"/>
                <a:ea typeface="微软雅黑"/>
              </a:rPr>
              <a:t>WATER</a:t>
            </a:r>
          </a:p>
        </p:txBody>
      </p:sp>
      <p:sp>
        <p:nvSpPr>
          <p:cNvPr id="5" name="TextBox 4"/>
          <p:cNvSpPr txBox="1"/>
          <p:nvPr/>
        </p:nvSpPr>
        <p:spPr>
          <a:xfrm>
            <a:off x="762000" y="5588000"/>
            <a:ext cx="5715000" cy="254000"/>
          </a:xfrm>
          <a:prstGeom prst="rect">
            <a:avLst/>
          </a:prstGeom>
          <a:noFill/>
          <a:effectLst/>
        </p:spPr>
        <p:txBody>
          <a:bodyPr wrap="square" anchor="t" lIns="0" rIns="0" tIns="0" bIns="0">
            <a:spAutoFit/>
          </a:bodyPr>
          <a:lstStyle/>
          <a:p>
            <a:pPr algn="l"/>
            <a:r>
              <a:rPr sz="2000" b="0" kern="1200">
                <a:solidFill>
                  <a:srgbClr val="FFFFFF"/>
                </a:solidFill>
                <a:latin typeface="Helvetica Neue"/>
                <a:ea typeface="微软雅黑"/>
              </a:rPr>
              <a:t>Water shapes Wuzhen.</a:t>
            </a:r>
          </a:p>
        </p:txBody>
      </p:sp>
      <p:sp>
        <p:nvSpPr>
          <p:cNvPr id="6" name="TextBox 5"/>
          <p:cNvSpPr txBox="1"/>
          <p:nvPr/>
        </p:nvSpPr>
        <p:spPr>
          <a:xfrm>
            <a:off x="762000" y="5905500"/>
            <a:ext cx="7620000" cy="381000"/>
          </a:xfrm>
          <a:prstGeom prst="rect">
            <a:avLst/>
          </a:prstGeom>
          <a:noFill/>
          <a:effectLst/>
        </p:spPr>
        <p:txBody>
          <a:bodyPr wrap="square" anchor="t" lIns="0" rIns="0" tIns="0" bIns="0">
            <a:spAutoFit/>
          </a:bodyPr>
          <a:lstStyle/>
          <a:p>
            <a:pPr algn="l"/>
            <a:r>
              <a:rPr sz="1400" b="0" kern="1200">
                <a:solidFill>
                  <a:srgbClr val="A1A1A6"/>
                </a:solidFill>
                <a:latin typeface="Helvetica Neue"/>
                <a:ea typeface="微软雅黑"/>
              </a:rPr>
              <a:t>The canals came first. Houses grew up facing them, and water stayed the town's road.</a:t>
            </a:r>
          </a:p>
        </p:txBody>
      </p:sp>
      <p:sp>
        <p:nvSpPr>
          <p:cNvPr id="7" name="TextBox 6"/>
          <p:cNvSpPr txBox="1"/>
          <p:nvPr/>
        </p:nvSpPr>
        <p:spPr>
          <a:xfrm>
            <a:off x="762000" y="6477000"/>
            <a:ext cx="2540000" cy="165100"/>
          </a:xfrm>
          <a:prstGeom prst="rect">
            <a:avLst/>
          </a:prstGeom>
          <a:noFill/>
          <a:effectLst/>
        </p:spPr>
        <p:txBody>
          <a:bodyPr wrap="square" anchor="t" lIns="0" rIns="0" tIns="0" bIns="0">
            <a:spAutoFit/>
          </a:bodyPr>
          <a:lstStyle/>
          <a:p>
            <a:pPr algn="l"/>
            <a:r>
              <a:rPr sz="1000" b="0" spc="340" kern="1200">
                <a:solidFill>
                  <a:srgbClr val="6E6E73"/>
                </a:solidFill>
                <a:latin typeface="Helvetica Neue"/>
                <a:ea typeface="微软雅黑"/>
              </a:rPr>
              <a:t>01 — WATER</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4"/>
                              </p:spLst>
                            </p:tgtEl>
                          </p:cBhvr>
                        </p:animEffect>
                      </p:childTnLst>
                    </p:cTn>
                  </p:par>
                  <p:par>
                    <p:cTn id="4" presetID="10" presetClass="entr" presetSubtype="0" fill="hold" nodeType="afterEffect">
                      <p:stCondLst>
                        <p:cond delay="700"/>
                      </p:stCondLst>
                      <p:childTnLst>
                        <p:animEffect transition="in" filter="fade">
                          <p:cBhvr>
                            <p:tgtEl>
                              <p:spLst>
                                <p:spTgt spid="5"/>
                              </p:spLst>
                            </p:tgtEl>
                          </p:cBhvr>
                        </p:animEffect>
                      </p:childTnLst>
                    </p:cTn>
                  </p:par>
                  <p:par>
                    <p:cTn id="5" presetID="10" presetClass="entr" presetSubtype="0" fill="hold" nodeType="afterEffect">
                      <p:stCondLst>
                        <p:cond delay="1100"/>
                      </p:stCondLst>
                      <p:childTnLst>
                        <p:animEffect transition="in" filter="fade">
                          <p:cBhvr>
                            <p:tgtEl>
                              <p:spLst>
                                <p:spTgt spid="6"/>
                              </p:spLst>
                            </p:tgtEl>
                          </p:cBhvr>
                        </p:animEffect>
                      </p:childTnLst>
                    </p:cTn>
                  </p:par>
                  <p:par>
                    <p:cTn id="6" presetID="10" presetClass="entr" presetSubtype="0" fill="hold" nodeType="afterEffect">
                      <p:stCondLst>
                        <p:cond delay="1700"/>
                      </p:stCondLst>
                      <p:childTnLst>
                        <p:animEffect transition="in" filter="fade">
                          <p:cBhvr>
                            <p:tgtEl>
                              <p:spLst>
                                <p:spTgt spid="7"/>
                              </p:spLst>
                            </p:tgtEl>
                          </p:cBhvr>
                        </p:animEffect>
                      </p:childTnLst>
                    </p:cTn>
                  </p:par>
                </p:childTnLst>
              </p:cTn>
            </p:par>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bridge_full.jpg"/>
          <p:cNvPicPr>
            <a:picLocks noChangeAspect="1"/>
          </p:cNvPicPr>
          <p:nvPr/>
        </p:nvPicPr>
        <p:blipFill>
          <a:blip r:embed="rId2"/>
          <a:stretch>
            <a:fillRect/>
          </a:stretch>
        </p:blipFill>
        <p:spPr>
          <a:xfrm>
            <a:off x="7746999" y="0"/>
            <a:ext cx="7493000" cy="6858000"/>
          </a:xfrm>
          <a:prstGeom prst="rect">
            <a:avLst/>
          </a:prstGeom>
          <a:effectLst/>
        </p:spPr>
      </p:pic>
      <p:sp>
        <p:nvSpPr>
          <p:cNvPr id="3" name="Rectangle 2"/>
          <p:cNvSpPr/>
          <p:nvPr/>
        </p:nvSpPr>
        <p:spPr>
          <a:xfrm>
            <a:off x="0" y="5270500"/>
            <a:ext cx="12191695" cy="1587500"/>
          </a:xfrm>
          <a:prstGeom prst="rect">
            <a:avLst/>
          </a:prstGeom>
          <a:solidFill>
            <a:srgbClr val="1D1D1F">
              <a:alpha val="45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2667000"/>
            <a:ext cx="5715000" cy="508000"/>
          </a:xfrm>
          <a:prstGeom prst="rect">
            <a:avLst/>
          </a:prstGeom>
          <a:noFill/>
          <a:effectLst/>
        </p:spPr>
        <p:txBody>
          <a:bodyPr wrap="square" anchor="t" lIns="0" rIns="0" tIns="0" bIns="0">
            <a:spAutoFit/>
          </a:bodyPr>
          <a:lstStyle/>
          <a:p>
            <a:pPr algn="l"/>
            <a:r>
              <a:rPr sz="6000" b="1" spc="-80" kern="1200">
                <a:solidFill>
                  <a:srgbClr val="FFFFFF"/>
                </a:solidFill>
                <a:latin typeface="Helvetica Neue"/>
                <a:ea typeface="微软雅黑"/>
              </a:rPr>
              <a:t>BRIDGES</a:t>
            </a:r>
          </a:p>
        </p:txBody>
      </p:sp>
      <p:sp>
        <p:nvSpPr>
          <p:cNvPr id="5" name="TextBox 4"/>
          <p:cNvSpPr txBox="1"/>
          <p:nvPr/>
        </p:nvSpPr>
        <p:spPr>
          <a:xfrm>
            <a:off x="762000" y="3251200"/>
            <a:ext cx="5715000" cy="279400"/>
          </a:xfrm>
          <a:prstGeom prst="rect">
            <a:avLst/>
          </a:prstGeom>
          <a:noFill/>
          <a:effectLst/>
        </p:spPr>
        <p:txBody>
          <a:bodyPr wrap="square" anchor="t" lIns="0" rIns="0" tIns="0" bIns="0">
            <a:spAutoFit/>
          </a:bodyPr>
          <a:lstStyle/>
          <a:p>
            <a:pPr algn="l"/>
            <a:r>
              <a:rPr sz="2200" b="0" kern="1200">
                <a:solidFill>
                  <a:srgbClr val="FFFFFF"/>
                </a:solidFill>
                <a:latin typeface="Helvetica Neue"/>
                <a:ea typeface="微软雅黑"/>
              </a:rPr>
              <a:t>Bridges link two banks.</a:t>
            </a:r>
          </a:p>
        </p:txBody>
      </p:sp>
      <p:sp>
        <p:nvSpPr>
          <p:cNvPr id="6" name="TextBox 5"/>
          <p:cNvSpPr txBox="1"/>
          <p:nvPr/>
        </p:nvSpPr>
        <p:spPr>
          <a:xfrm>
            <a:off x="762000" y="3632200"/>
            <a:ext cx="5207000" cy="508000"/>
          </a:xfrm>
          <a:prstGeom prst="rect">
            <a:avLst/>
          </a:prstGeom>
          <a:noFill/>
          <a:effectLst/>
        </p:spPr>
        <p:txBody>
          <a:bodyPr wrap="square" anchor="t" lIns="0" rIns="0" tIns="0" bIns="0">
            <a:spAutoFit/>
          </a:bodyPr>
          <a:lstStyle/>
          <a:p>
            <a:pPr algn="l"/>
            <a:r>
              <a:rPr sz="1500" b="0" kern="1200">
                <a:solidFill>
                  <a:srgbClr val="A1A1A6"/>
                </a:solidFill>
                <a:latin typeface="Helvetica Neue"/>
                <a:ea typeface="微软雅黑"/>
              </a:rPr>
              <a:t>Stone arches. Low steps. A crossing, and a view.</a:t>
            </a:r>
          </a:p>
        </p:txBody>
      </p:sp>
      <p:sp>
        <p:nvSpPr>
          <p:cNvPr id="7" name="TextBox 6"/>
          <p:cNvSpPr txBox="1"/>
          <p:nvPr/>
        </p:nvSpPr>
        <p:spPr>
          <a:xfrm>
            <a:off x="762000" y="5651500"/>
            <a:ext cx="5080000" cy="254000"/>
          </a:xfrm>
          <a:prstGeom prst="rect">
            <a:avLst/>
          </a:prstGeom>
          <a:noFill/>
          <a:effectLst/>
        </p:spPr>
        <p:txBody>
          <a:bodyPr wrap="square" anchor="t" lIns="0" rIns="0" tIns="0" bIns="0">
            <a:spAutoFit/>
          </a:bodyPr>
          <a:lstStyle/>
          <a:p>
            <a:pPr algn="l"/>
            <a:r>
              <a:rPr sz="1500" b="0" kern="1200">
                <a:solidFill>
                  <a:srgbClr val="FFFFFF"/>
                </a:solidFill>
                <a:latin typeface="Helvetica Neue"/>
                <a:ea typeface="微软雅黑"/>
              </a:rPr>
              <a:t>72 ancient stone bridges in Xizha alone.</a:t>
            </a:r>
          </a:p>
        </p:txBody>
      </p:sp>
      <p:cxnSp>
        <p:nvCxnSpPr>
          <p:cNvPr id="8" name="Connector 7"/>
          <p:cNvCxnSpPr/>
          <p:nvPr/>
        </p:nvCxnSpPr>
        <p:spPr>
          <a:xfrm>
            <a:off x="109728000" y="782726400"/>
            <a:ext cx="694944000" cy="0"/>
          </a:xfrm>
          <a:prstGeom prst="line">
            <a:avLst/>
          </a:prstGeom>
          <a:ln w="6350">
            <a:solidFill>
              <a:srgbClr val="FFFFFF">
                <a:alpha val="280"/>
              </a:srgbClr>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62000" y="6223000"/>
            <a:ext cx="2540000" cy="165100"/>
          </a:xfrm>
          <a:prstGeom prst="rect">
            <a:avLst/>
          </a:prstGeom>
          <a:noFill/>
          <a:effectLst/>
        </p:spPr>
        <p:txBody>
          <a:bodyPr wrap="square" anchor="t" lIns="0" rIns="0" tIns="0" bIns="0">
            <a:spAutoFit/>
          </a:bodyPr>
          <a:lstStyle/>
          <a:p>
            <a:pPr algn="l"/>
            <a:r>
              <a:rPr sz="1000" b="0" spc="340" kern="1200">
                <a:solidFill>
                  <a:srgbClr val="6E6E73"/>
                </a:solidFill>
                <a:latin typeface="Helvetica Neue"/>
                <a:ea typeface="微软雅黑"/>
              </a:rPr>
              <a:t>02 — BRIDGES</a:t>
            </a:r>
          </a:p>
        </p:txBody>
      </p:sp>
    </p:spTree>
  </p:cSld>
  <p:clrMapOvr>
    <a:masterClrMapping/>
  </p:clrMapOvr>
  <p:transition xmlns:p14="http://schemas.microsoft.com/office/powerpoint/2010/main" p14:dur="1000">
    <p14:morph option="byObject"/>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4"/>
                              </p:spLst>
                            </p:tgtEl>
                          </p:cBhvr>
                        </p:animEffect>
                      </p:childTnLst>
                    </p:cTn>
                  </p:par>
                  <p:par>
                    <p:cTn id="4" presetID="10" presetClass="entr" presetSubtype="0" fill="hold" nodeType="afterEffect">
                      <p:stCondLst>
                        <p:cond delay="700"/>
                      </p:stCondLst>
                      <p:childTnLst>
                        <p:animEffect transition="in" filter="fade">
                          <p:cBhvr>
                            <p:tgtEl>
                              <p:spLst>
                                <p:spTgt spid="5"/>
                              </p:spLst>
                            </p:tgtEl>
                          </p:cBhvr>
                        </p:animEffect>
                      </p:childTnLst>
                    </p:cTn>
                  </p:par>
                  <p:par>
                    <p:cTn id="5" presetID="10" presetClass="entr" presetSubtype="0" fill="hold" nodeType="afterEffect">
                      <p:stCondLst>
                        <p:cond delay="1100"/>
                      </p:stCondLst>
                      <p:childTnLst>
                        <p:animEffect transition="in" filter="fade">
                          <p:cBhvr>
                            <p:tgtEl>
                              <p:spLst>
                                <p:spTgt spid="6"/>
                              </p:spLst>
                            </p:tgtEl>
                          </p:cBhvr>
                        </p:animEffect>
                      </p:childTnLst>
                    </p:cTn>
                  </p:par>
                  <p:par>
                    <p:cTn id="6" presetID="10" presetClass="entr" presetSubtype="0" fill="hold" nodeType="afterEffect">
                      <p:stCondLst>
                        <p:cond delay="1500"/>
                      </p:stCondLst>
                      <p:childTnLst>
                        <p:animEffect transition="in" filter="fade">
                          <p:cBhvr>
                            <p:tgtEl>
                              <p:spLst>
                                <p:spTgt spid="8"/>
                              </p:spLst>
                            </p:tgtEl>
                          </p:cBhvr>
                        </p:animEffect>
                      </p:childTnLst>
                    </p:cTn>
                  </p:par>
                  <p:par>
                    <p:cTn id="7" presetID="10" presetClass="entr" presetSubtype="0" fill="hold" nodeType="afterEffect">
                      <p:stCondLst>
                        <p:cond delay="1900"/>
                      </p:stCondLst>
                      <p:childTnLst>
                        <p:animEffect transition="in" filter="fade">
                          <p:cBhvr>
                            <p:tgtEl>
                              <p:spLst>
                                <p:spTgt spid="7"/>
                              </p:spLst>
                            </p:tgtEl>
                          </p:cBhvr>
                        </p:animEffect>
                      </p:childTnLst>
                    </p:cTn>
                  </p:par>
                  <p:par>
                    <p:cTn id="8" presetID="10" presetClass="entr" presetSubtype="0" fill="hold" nodeType="afterEffect">
                      <p:stCondLst>
                        <p:cond delay="2300"/>
                      </p:stCondLst>
                      <p:childTnLst>
                        <p:animEffect transition="in" filter="fade">
                          <p:cBhvr>
                            <p:tgtEl>
                              <p:spLst>
                                <p:spTgt spid="9"/>
                              </p:spLst>
                            </p:tgtEl>
                          </p:cBhvr>
                        </p:animEffect>
                      </p:childTnLst>
                    </p:cTn>
                  </p:par>
                </p:childTnLst>
              </p:cTn>
            </p:par>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oat_band.jpg"/>
          <p:cNvPicPr>
            <a:picLocks noChangeAspect="1"/>
          </p:cNvPicPr>
          <p:nvPr/>
        </p:nvPicPr>
        <p:blipFill>
          <a:blip r:embed="rId2"/>
          <a:stretch>
            <a:fillRect/>
          </a:stretch>
        </p:blipFill>
        <p:spPr>
          <a:xfrm>
            <a:off x="0" y="0"/>
            <a:ext cx="12192000" cy="4572000"/>
          </a:xfrm>
          <a:prstGeom prst="rect">
            <a:avLst/>
          </a:prstGeom>
          <a:effectLst/>
        </p:spPr>
      </p:pic>
      <p:sp>
        <p:nvSpPr>
          <p:cNvPr id="3" name="TextBox 2"/>
          <p:cNvSpPr txBox="1"/>
          <p:nvPr/>
        </p:nvSpPr>
        <p:spPr>
          <a:xfrm>
            <a:off x="762000" y="5016500"/>
            <a:ext cx="5715000" cy="508000"/>
          </a:xfrm>
          <a:prstGeom prst="rect">
            <a:avLst/>
          </a:prstGeom>
          <a:noFill/>
          <a:effectLst/>
        </p:spPr>
        <p:txBody>
          <a:bodyPr wrap="square" anchor="t" lIns="0" rIns="0" tIns="0" bIns="0">
            <a:spAutoFit/>
          </a:bodyPr>
          <a:lstStyle/>
          <a:p>
            <a:pPr algn="l"/>
            <a:r>
              <a:rPr sz="6000" b="1" spc="-80" kern="1200">
                <a:solidFill>
                  <a:srgbClr val="1D1D1F"/>
                </a:solidFill>
                <a:latin typeface="Helvetica Neue"/>
                <a:ea typeface="微软雅黑"/>
              </a:rPr>
              <a:t>BOATS</a:t>
            </a:r>
          </a:p>
        </p:txBody>
      </p:sp>
      <p:sp>
        <p:nvSpPr>
          <p:cNvPr id="4" name="TextBox 3"/>
          <p:cNvSpPr txBox="1"/>
          <p:nvPr/>
        </p:nvSpPr>
        <p:spPr>
          <a:xfrm>
            <a:off x="762000" y="5600700"/>
            <a:ext cx="6985000" cy="279400"/>
          </a:xfrm>
          <a:prstGeom prst="rect">
            <a:avLst/>
          </a:prstGeom>
          <a:noFill/>
          <a:effectLst/>
        </p:spPr>
        <p:txBody>
          <a:bodyPr wrap="square" anchor="t" lIns="0" rIns="0" tIns="0" bIns="0">
            <a:spAutoFit/>
          </a:bodyPr>
          <a:lstStyle/>
          <a:p>
            <a:pPr algn="l"/>
            <a:r>
              <a:rPr sz="2200" b="0" kern="1200">
                <a:solidFill>
                  <a:srgbClr val="1D1D1F"/>
                </a:solidFill>
                <a:latin typeface="Helvetica Neue"/>
                <a:ea typeface="微软雅黑"/>
              </a:rPr>
              <a:t>The boat moves forward.</a:t>
            </a:r>
          </a:p>
        </p:txBody>
      </p:sp>
      <p:sp>
        <p:nvSpPr>
          <p:cNvPr id="5" name="TextBox 4"/>
          <p:cNvSpPr txBox="1"/>
          <p:nvPr/>
        </p:nvSpPr>
        <p:spPr>
          <a:xfrm>
            <a:off x="762000" y="5969000"/>
            <a:ext cx="8255000" cy="381000"/>
          </a:xfrm>
          <a:prstGeom prst="rect">
            <a:avLst/>
          </a:prstGeom>
          <a:noFill/>
          <a:effectLst/>
        </p:spPr>
        <p:txBody>
          <a:bodyPr wrap="square" anchor="t" lIns="0" rIns="0" tIns="0" bIns="0">
            <a:spAutoFit/>
          </a:bodyPr>
          <a:lstStyle/>
          <a:p>
            <a:pPr algn="l"/>
            <a:r>
              <a:rPr sz="1400" b="0" kern="1200">
                <a:solidFill>
                  <a:srgbClr val="6E6E73"/>
                </a:solidFill>
                <a:latin typeface="Helvetica Neue"/>
                <a:ea typeface="微软雅黑"/>
              </a:rPr>
              <a:t>The black-canopied wupeng is a slow, patient way to travel — the water is the line the town is written on.</a:t>
            </a:r>
          </a:p>
        </p:txBody>
      </p:sp>
      <p:sp>
        <p:nvSpPr>
          <p:cNvPr id="6" name="TextBox 5"/>
          <p:cNvSpPr txBox="1"/>
          <p:nvPr/>
        </p:nvSpPr>
        <p:spPr>
          <a:xfrm>
            <a:off x="762000" y="6540500"/>
            <a:ext cx="2540000" cy="165100"/>
          </a:xfrm>
          <a:prstGeom prst="rect">
            <a:avLst/>
          </a:prstGeom>
          <a:noFill/>
          <a:effectLst/>
        </p:spPr>
        <p:txBody>
          <a:bodyPr wrap="square" anchor="t" lIns="0" rIns="0" tIns="0" bIns="0">
            <a:spAutoFit/>
          </a:bodyPr>
          <a:lstStyle/>
          <a:p>
            <a:pPr algn="l"/>
            <a:r>
              <a:rPr sz="1000" b="0" spc="340" kern="1200">
                <a:solidFill>
                  <a:srgbClr val="6E6E73"/>
                </a:solidFill>
                <a:latin typeface="Helvetica Neue"/>
                <a:ea typeface="微软雅黑"/>
              </a:rPr>
              <a:t>03 — BOATS</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22" presetClass="entr" presetSubtype="4" fill="hold" nodeType="afterEffect">
                      <p:stCondLst>
                        <p:cond delay="200"/>
                      </p:stCondLst>
                      <p:childTnLst>
                        <p:animEffect transition="in" filter="wipe(down)">
                          <p:cBhvr>
                            <p:tgtEl>
                              <p:spLst>
                                <p:spTgt spid="3"/>
                              </p:spLst>
                            </p:tgtEl>
                          </p:cBhvr>
                        </p:animEffect>
                      </p:childTnLst>
                    </p:cTn>
                  </p:par>
                  <p:par>
                    <p:cTn id="4" presetID="10" presetClass="entr" presetSubtype="0" fill="hold" nodeType="afterEffect">
                      <p:stCondLst>
                        <p:cond delay="800"/>
                      </p:stCondLst>
                      <p:childTnLst>
                        <p:animEffect transition="in" filter="fade">
                          <p:cBhvr>
                            <p:tgtEl>
                              <p:spLst>
                                <p:spTgt spid="4"/>
                              </p:spLst>
                            </p:tgtEl>
                          </p:cBhvr>
                        </p:animEffect>
                      </p:childTnLst>
                    </p:cTn>
                  </p:par>
                  <p:par>
                    <p:cTn id="5" presetID="10" presetClass="entr" presetSubtype="0" fill="hold" nodeType="afterEffect">
                      <p:stCondLst>
                        <p:cond delay="1200"/>
                      </p:stCondLst>
                      <p:childTnLst>
                        <p:animEffect transition="in" filter="fade">
                          <p:cBhvr>
                            <p:tgtEl>
                              <p:spLst>
                                <p:spTgt spid="5"/>
                              </p:spLst>
                            </p:tgtEl>
                          </p:cBhvr>
                        </p:animEffect>
                      </p:childTnLst>
                    </p:cTn>
                  </p:par>
                  <p:par>
                    <p:cTn id="6" presetID="10" presetClass="entr" presetSubtype="0" fill="hold" nodeType="afterEffect">
                      <p:stCondLst>
                        <p:cond delay="1800"/>
                      </p:stCondLst>
                      <p:childTnLst>
                        <p:animEffect transition="in" filter="fade">
                          <p:cBhvr>
                            <p:tgtEl>
                              <p:spLst>
                                <p:spTgt spid="6"/>
                              </p:spLst>
                            </p:tgtEl>
                          </p:cBhvr>
                        </p:animEffect>
                      </p:childTnLst>
                    </p:cTn>
                  </p:par>
                </p:childTnLst>
              </p:cTn>
            </p:par>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pic>
        <p:nvPicPr>
          <p:cNvPr id="2" name="Picture 1" descr="life_day.jpg"/>
          <p:cNvPicPr>
            <a:picLocks noChangeAspect="1"/>
          </p:cNvPicPr>
          <p:nvPr/>
        </p:nvPicPr>
        <p:blipFill>
          <a:blip r:embed="rId2"/>
          <a:stretch>
            <a:fillRect/>
          </a:stretch>
        </p:blipFill>
        <p:spPr>
          <a:xfrm>
            <a:off x="0" y="0"/>
            <a:ext cx="12192000" cy="3429000"/>
          </a:xfrm>
          <a:prstGeom prst="rect">
            <a:avLst/>
          </a:prstGeom>
          <a:effectLst/>
        </p:spPr>
      </p:pic>
      <p:pic>
        <p:nvPicPr>
          <p:cNvPr id="3" name="Picture 2" descr="life_night.jpg"/>
          <p:cNvPicPr>
            <a:picLocks noChangeAspect="1"/>
          </p:cNvPicPr>
          <p:nvPr/>
        </p:nvPicPr>
        <p:blipFill>
          <a:blip r:embed="rId3"/>
          <a:stretch>
            <a:fillRect/>
          </a:stretch>
        </p:blipFill>
        <p:spPr>
          <a:xfrm>
            <a:off x="0" y="3429000"/>
            <a:ext cx="12192000" cy="3429000"/>
          </a:xfrm>
          <a:prstGeom prst="rect">
            <a:avLst/>
          </a:prstGeom>
          <a:effectLst/>
        </p:spPr>
      </p:pic>
      <p:sp>
        <p:nvSpPr>
          <p:cNvPr id="4" name="Rectangle 3"/>
          <p:cNvSpPr/>
          <p:nvPr/>
        </p:nvSpPr>
        <p:spPr>
          <a:xfrm>
            <a:off x="0" y="0"/>
            <a:ext cx="12191695" cy="1524000"/>
          </a:xfrm>
          <a:prstGeom prst="rect">
            <a:avLst/>
          </a:prstGeom>
          <a:solidFill>
            <a:srgbClr val="1D1D1F">
              <a:alpha val="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609600"/>
            <a:ext cx="5715000" cy="444500"/>
          </a:xfrm>
          <a:prstGeom prst="rect">
            <a:avLst/>
          </a:prstGeom>
          <a:noFill/>
          <a:effectLst/>
        </p:spPr>
        <p:txBody>
          <a:bodyPr wrap="square" anchor="t" lIns="0" rIns="0" tIns="0" bIns="0">
            <a:spAutoFit/>
          </a:bodyPr>
          <a:lstStyle/>
          <a:p>
            <a:pPr algn="l"/>
            <a:r>
              <a:rPr sz="4800" b="1" spc="-70" kern="1200">
                <a:solidFill>
                  <a:srgbClr val="FFFFFF"/>
                </a:solidFill>
                <a:latin typeface="Helvetica Neue"/>
                <a:ea typeface="微软雅黑"/>
              </a:rPr>
              <a:t>LIFE &amp; NIGHT</a:t>
            </a:r>
          </a:p>
        </p:txBody>
      </p:sp>
      <p:sp>
        <p:nvSpPr>
          <p:cNvPr id="6" name="TextBox 5"/>
          <p:cNvSpPr txBox="1"/>
          <p:nvPr/>
        </p:nvSpPr>
        <p:spPr>
          <a:xfrm>
            <a:off x="762000" y="1181100"/>
            <a:ext cx="7620000" cy="279400"/>
          </a:xfrm>
          <a:prstGeom prst="rect">
            <a:avLst/>
          </a:prstGeom>
          <a:noFill/>
          <a:effectLst/>
        </p:spPr>
        <p:txBody>
          <a:bodyPr wrap="square" anchor="t" lIns="0" rIns="0" tIns="0" bIns="0">
            <a:spAutoFit/>
          </a:bodyPr>
          <a:lstStyle/>
          <a:p>
            <a:pPr algn="l"/>
            <a:r>
              <a:rPr sz="1900" b="0" kern="1200">
                <a:solidFill>
                  <a:srgbClr val="FFFFFF"/>
                </a:solidFill>
                <a:latin typeface="Helvetica Neue"/>
                <a:ea typeface="微软雅黑"/>
              </a:rPr>
              <a:t>Life happens by water.  At night, the lights come on.</a:t>
            </a:r>
          </a:p>
        </p:txBody>
      </p:sp>
      <p:cxnSp>
        <p:nvCxnSpPr>
          <p:cNvPr id="7" name="Connector 6"/>
          <p:cNvCxnSpPr/>
          <p:nvPr/>
        </p:nvCxnSpPr>
        <p:spPr>
          <a:xfrm>
            <a:off x="0" y="493776000"/>
            <a:ext cx="1755648000" cy="0"/>
          </a:xfrm>
          <a:prstGeom prst="line">
            <a:avLst/>
          </a:prstGeom>
          <a:ln w="9525">
            <a:solidFill>
              <a:srgbClr val="FFFFFF">
                <a:alpha val="350"/>
              </a:srgbClr>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62000" y="2984500"/>
            <a:ext cx="4445000" cy="215900"/>
          </a:xfrm>
          <a:prstGeom prst="rect">
            <a:avLst/>
          </a:prstGeom>
          <a:noFill/>
          <a:effectLst/>
        </p:spPr>
        <p:txBody>
          <a:bodyPr wrap="square" anchor="t" lIns="0" rIns="0" tIns="0" bIns="0">
            <a:spAutoFit/>
          </a:bodyPr>
          <a:lstStyle/>
          <a:p>
            <a:pPr algn="l"/>
            <a:r>
              <a:rPr sz="1000" b="0" spc="300" kern="1200">
                <a:solidFill>
                  <a:srgbClr val="FFFFFF"/>
                </a:solidFill>
                <a:latin typeface="Helvetica Neue"/>
                <a:ea typeface="微软雅黑"/>
              </a:rPr>
              <a:t>BY DAY — TRAVEL · TRANSPORTATION · TRADE</a:t>
            </a:r>
          </a:p>
        </p:txBody>
      </p:sp>
      <p:sp>
        <p:nvSpPr>
          <p:cNvPr id="9" name="TextBox 8"/>
          <p:cNvSpPr txBox="1"/>
          <p:nvPr/>
        </p:nvSpPr>
        <p:spPr>
          <a:xfrm>
            <a:off x="762000" y="3810000"/>
            <a:ext cx="5715000" cy="215900"/>
          </a:xfrm>
          <a:prstGeom prst="rect">
            <a:avLst/>
          </a:prstGeom>
          <a:noFill/>
          <a:effectLst/>
        </p:spPr>
        <p:txBody>
          <a:bodyPr wrap="square" anchor="t" lIns="0" rIns="0" tIns="0" bIns="0">
            <a:spAutoFit/>
          </a:bodyPr>
          <a:lstStyle/>
          <a:p>
            <a:pPr algn="l"/>
            <a:r>
              <a:rPr sz="1000" b="0" spc="300" kern="1200">
                <a:solidFill>
                  <a:srgbClr val="FFFFFF"/>
                </a:solidFill>
                <a:latin typeface="Helvetica Neue"/>
                <a:ea typeface="微软雅黑"/>
              </a:rPr>
              <a:t>BY NIGHT — LANTERNS POUR LIGHT ONTO THE WATER</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5"/>
                              </p:spLst>
                            </p:tgtEl>
                          </p:cBhvr>
                        </p:animEffect>
                      </p:childTnLst>
                    </p:cTn>
                  </p:par>
                  <p:par>
                    <p:cTn id="4" presetID="10" presetClass="entr" presetSubtype="0" fill="hold" nodeType="afterEffect">
                      <p:stCondLst>
                        <p:cond delay="600"/>
                      </p:stCondLst>
                      <p:childTnLst>
                        <p:animEffect transition="in" filter="fade">
                          <p:cBhvr>
                            <p:tgtEl>
                              <p:spLst>
                                <p:spTgt spid="6"/>
                              </p:spLst>
                            </p:tgtEl>
                          </p:cBhvr>
                        </p:animEffect>
                      </p:childTnLst>
                    </p:cTn>
                  </p:par>
                  <p:par>
                    <p:cTn id="5" presetID="10" presetClass="entr" presetSubtype="0" fill="hold" nodeType="afterEffect">
                      <p:stCondLst>
                        <p:cond delay="1300"/>
                      </p:stCondLst>
                      <p:childTnLst>
                        <p:animEffect transition="in" filter="fade">
                          <p:cBhvr>
                            <p:tgtEl>
                              <p:spLst>
                                <p:spTgt spid="8"/>
                              </p:spLst>
                            </p:tgtEl>
                          </p:cBhvr>
                        </p:animEffect>
                      </p:childTnLst>
                    </p:cTn>
                  </p:par>
                  <p:par>
                    <p:cTn id="6" presetID="22" presetClass="entr" presetSubtype="4" fill="hold" nodeType="afterEffect">
                      <p:stCondLst>
                        <p:cond delay="1700"/>
                      </p:stCondLst>
                      <p:childTnLst>
                        <p:animEffect transition="in" filter="wipe(down)">
                          <p:cBhvr>
                            <p:tgtEl>
                              <p:spLst>
                                <p:spTgt spid="7"/>
                              </p:spLst>
                            </p:tgtEl>
                          </p:cBhvr>
                        </p:animEffect>
                      </p:childTnLst>
                    </p:cTn>
                  </p:par>
                  <p:par>
                    <p:cTn id="7" presetID="10" presetClass="entr" presetSubtype="0" fill="hold" nodeType="afterEffect">
                      <p:stCondLst>
                        <p:cond delay="2400"/>
                      </p:stCondLst>
                      <p:childTnLst>
                        <p:animEffect transition="in" filter="fade">
                          <p:cBhvr>
                            <p:tgtEl>
                              <p:spLst>
                                <p:spTgt spid="9"/>
                              </p:spLst>
                            </p:tgtEl>
                          </p:cBhvr>
                        </p:animEffect>
                      </p:childTnLst>
                    </p:cTn>
                  </p:par>
                </p:childTnLst>
              </p:cTn>
            </p:par>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r1.jpg"/>
          <p:cNvPicPr>
            <a:picLocks noChangeAspect="1"/>
          </p:cNvPicPr>
          <p:nvPr/>
        </p:nvPicPr>
        <p:blipFill>
          <a:blip r:embed="rId2"/>
          <a:stretch>
            <a:fillRect/>
          </a:stretch>
        </p:blipFill>
        <p:spPr>
          <a:xfrm>
            <a:off x="0" y="0"/>
            <a:ext cx="4064000" cy="3048000"/>
          </a:xfrm>
          <a:prstGeom prst="rect">
            <a:avLst/>
          </a:prstGeom>
          <a:effectLst/>
        </p:spPr>
      </p:pic>
      <p:pic>
        <p:nvPicPr>
          <p:cNvPr id="3" name="Picture 2" descr="vr2.jpg"/>
          <p:cNvPicPr>
            <a:picLocks noChangeAspect="1"/>
          </p:cNvPicPr>
          <p:nvPr/>
        </p:nvPicPr>
        <p:blipFill>
          <a:blip r:embed="rId3"/>
          <a:stretch>
            <a:fillRect/>
          </a:stretch>
        </p:blipFill>
        <p:spPr>
          <a:xfrm>
            <a:off x="4064000" y="0"/>
            <a:ext cx="4064000" cy="3048000"/>
          </a:xfrm>
          <a:prstGeom prst="rect">
            <a:avLst/>
          </a:prstGeom>
          <a:effectLst/>
        </p:spPr>
      </p:pic>
      <p:pic>
        <p:nvPicPr>
          <p:cNvPr id="4" name="Picture 3" descr="vr3.jpg"/>
          <p:cNvPicPr>
            <a:picLocks noChangeAspect="1"/>
          </p:cNvPicPr>
          <p:nvPr/>
        </p:nvPicPr>
        <p:blipFill>
          <a:blip r:embed="rId4"/>
          <a:stretch>
            <a:fillRect/>
          </a:stretch>
        </p:blipFill>
        <p:spPr>
          <a:xfrm>
            <a:off x="8128000" y="0"/>
            <a:ext cx="4064000" cy="3048000"/>
          </a:xfrm>
          <a:prstGeom prst="rect">
            <a:avLst/>
          </a:prstGeom>
          <a:effectLst/>
        </p:spPr>
      </p:pic>
      <p:sp>
        <p:nvSpPr>
          <p:cNvPr id="5" name="TextBox 4"/>
          <p:cNvSpPr txBox="1"/>
          <p:nvPr/>
        </p:nvSpPr>
        <p:spPr>
          <a:xfrm>
            <a:off x="381000" y="3251200"/>
            <a:ext cx="3302000" cy="444500"/>
          </a:xfrm>
          <a:prstGeom prst="rect">
            <a:avLst/>
          </a:prstGeom>
          <a:noFill/>
          <a:effectLst/>
        </p:spPr>
        <p:txBody>
          <a:bodyPr wrap="square" anchor="t" lIns="0" rIns="0" tIns="0" bIns="0">
            <a:spAutoFit/>
          </a:bodyPr>
          <a:lstStyle/>
          <a:p>
            <a:pPr algn="l"/>
            <a:r>
              <a:rPr sz="1200" b="1" spc="300" kern="1200">
                <a:solidFill>
                  <a:srgbClr val="1D1D1F"/>
                </a:solidFill>
                <a:latin typeface="Helvetica Neue"/>
                <a:ea typeface="微软雅黑"/>
              </a:rPr>
              <a:t>01  THE CANAL</a:t>
            </a:r>
          </a:p>
          <a:p>
            <a:pPr algn="l"/>
            <a:r>
              <a:rPr sz="1100" b="0" kern="1200">
                <a:solidFill>
                  <a:srgbClr val="6E6E73"/>
                </a:solidFill>
                <a:latin typeface="Helvetica Neue"/>
                <a:ea typeface="微软雅黑"/>
              </a:rPr>
              <a:t>White walls and dark tiles reflect on the water.</a:t>
            </a:r>
          </a:p>
        </p:txBody>
      </p:sp>
      <p:sp>
        <p:nvSpPr>
          <p:cNvPr id="6" name="TextBox 5"/>
          <p:cNvSpPr txBox="1"/>
          <p:nvPr/>
        </p:nvSpPr>
        <p:spPr>
          <a:xfrm>
            <a:off x="4445000" y="3251200"/>
            <a:ext cx="3302000" cy="444500"/>
          </a:xfrm>
          <a:prstGeom prst="rect">
            <a:avLst/>
          </a:prstGeom>
          <a:noFill/>
          <a:effectLst/>
        </p:spPr>
        <p:txBody>
          <a:bodyPr wrap="square" anchor="t" lIns="0" rIns="0" tIns="0" bIns="0">
            <a:spAutoFit/>
          </a:bodyPr>
          <a:lstStyle/>
          <a:p>
            <a:pPr algn="l"/>
            <a:r>
              <a:rPr sz="1200" b="1" spc="300" kern="1200">
                <a:solidFill>
                  <a:srgbClr val="1D1D1F"/>
                </a:solidFill>
                <a:latin typeface="Helvetica Neue"/>
                <a:ea typeface="微软雅黑"/>
              </a:rPr>
              <a:t>02  STONE ARCH</a:t>
            </a:r>
          </a:p>
          <a:p>
            <a:pPr algn="l"/>
            <a:r>
              <a:rPr sz="1100" b="0" kern="1200">
                <a:solidFill>
                  <a:srgbClr val="6E6E73"/>
                </a:solidFill>
                <a:latin typeface="Helvetica Neue"/>
                <a:ea typeface="微软雅黑"/>
              </a:rPr>
              <a:t>The bridge connects both sides of the waterway.</a:t>
            </a:r>
          </a:p>
        </p:txBody>
      </p:sp>
      <p:sp>
        <p:nvSpPr>
          <p:cNvPr id="7" name="TextBox 6"/>
          <p:cNvSpPr txBox="1"/>
          <p:nvPr/>
        </p:nvSpPr>
        <p:spPr>
          <a:xfrm>
            <a:off x="8509000" y="3251200"/>
            <a:ext cx="3302000" cy="444500"/>
          </a:xfrm>
          <a:prstGeom prst="rect">
            <a:avLst/>
          </a:prstGeom>
          <a:noFill/>
          <a:effectLst/>
        </p:spPr>
        <p:txBody>
          <a:bodyPr wrap="square" anchor="t" lIns="0" rIns="0" tIns="0" bIns="0">
            <a:spAutoFit/>
          </a:bodyPr>
          <a:lstStyle/>
          <a:p>
            <a:pPr algn="l"/>
            <a:r>
              <a:rPr sz="1200" b="1" spc="300" kern="1200">
                <a:solidFill>
                  <a:srgbClr val="1D1D1F"/>
                </a:solidFill>
                <a:latin typeface="Helvetica Neue"/>
                <a:ea typeface="微软雅黑"/>
              </a:rPr>
              <a:t>03  ON THE WATER</a:t>
            </a:r>
          </a:p>
          <a:p>
            <a:pPr algn="l"/>
            <a:r>
              <a:rPr sz="1100" b="0" kern="1200">
                <a:solidFill>
                  <a:srgbClr val="6E6E73"/>
                </a:solidFill>
                <a:latin typeface="Helvetica Neue"/>
                <a:ea typeface="微软雅黑"/>
              </a:rPr>
              <a:t>A boat offers a different view of the town.</a:t>
            </a:r>
          </a:p>
        </p:txBody>
      </p:sp>
      <p:cxnSp>
        <p:nvCxnSpPr>
          <p:cNvPr id="8" name="Connector 7"/>
          <p:cNvCxnSpPr/>
          <p:nvPr/>
        </p:nvCxnSpPr>
        <p:spPr>
          <a:xfrm>
            <a:off x="109728000" y="565099200"/>
            <a:ext cx="1536192000" cy="0"/>
          </a:xfrm>
          <a:prstGeom prst="line">
            <a:avLst/>
          </a:prstGeom>
          <a:ln w="63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62000" y="4114800"/>
            <a:ext cx="7620000" cy="215900"/>
          </a:xfrm>
          <a:prstGeom prst="rect">
            <a:avLst/>
          </a:prstGeom>
          <a:noFill/>
          <a:effectLst/>
        </p:spPr>
        <p:txBody>
          <a:bodyPr wrap="square" anchor="t" lIns="0" rIns="0" tIns="0" bIns="0">
            <a:spAutoFit/>
          </a:bodyPr>
          <a:lstStyle/>
          <a:p>
            <a:pPr algn="l"/>
            <a:r>
              <a:rPr sz="1300" b="1" spc="340" kern="1200">
                <a:solidFill>
                  <a:srgbClr val="667F80"/>
                </a:solidFill>
                <a:latin typeface="Helvetica Neue"/>
                <a:ea typeface="微软雅黑"/>
              </a:rPr>
              <a:t>FROM RESEARCH TO EXPERIENCE</a:t>
            </a:r>
          </a:p>
        </p:txBody>
      </p:sp>
      <p:sp>
        <p:nvSpPr>
          <p:cNvPr id="10" name="TextBox 9"/>
          <p:cNvSpPr txBox="1"/>
          <p:nvPr/>
        </p:nvSpPr>
        <p:spPr>
          <a:xfrm>
            <a:off x="762000" y="4343400"/>
            <a:ext cx="8890000" cy="215900"/>
          </a:xfrm>
          <a:prstGeom prst="rect">
            <a:avLst/>
          </a:prstGeom>
          <a:noFill/>
          <a:effectLst/>
        </p:spPr>
        <p:txBody>
          <a:bodyPr wrap="square" anchor="t" lIns="0" rIns="0" tIns="0" bIns="0">
            <a:spAutoFit/>
          </a:bodyPr>
          <a:lstStyle/>
          <a:p>
            <a:pPr algn="l"/>
            <a:r>
              <a:rPr sz="1400" b="0" kern="1200">
                <a:solidFill>
                  <a:srgbClr val="1D1D1F"/>
                </a:solidFill>
                <a:latin typeface="Helvetica Neue"/>
                <a:ea typeface="微软雅黑"/>
              </a:rPr>
              <a:t>We turned our research into an interactive digital story.   Research  →  Design  →  Website</a:t>
            </a:r>
          </a:p>
        </p:txBody>
      </p:sp>
      <p:sp>
        <p:nvSpPr>
          <p:cNvPr id="11" name="Rectangle 10"/>
          <p:cNvSpPr/>
          <p:nvPr/>
        </p:nvSpPr>
        <p:spPr>
          <a:xfrm>
            <a:off x="2921000" y="4699000"/>
            <a:ext cx="6350000" cy="1905000"/>
          </a:xfrm>
          <a:prstGeom prst="rect">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21000" y="4699000"/>
            <a:ext cx="6350000" cy="279400"/>
          </a:xfrm>
          <a:prstGeom prst="rect">
            <a:avLst/>
          </a:prstGeom>
          <a:solidFill>
            <a:srgbClr val="F5F5F7"/>
          </a:solidFill>
          <a:ln w="635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60700" y="4787900"/>
            <a:ext cx="88900" cy="177800"/>
          </a:xfrm>
          <a:prstGeom prst="ellipse">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5500" y="4699000"/>
            <a:ext cx="5588000" cy="279400"/>
          </a:xfrm>
          <a:prstGeom prst="rect">
            <a:avLst/>
          </a:prstGeom>
          <a:noFill/>
          <a:effectLst/>
        </p:spPr>
        <p:txBody>
          <a:bodyPr wrap="square" anchor="ctr" lIns="0" rIns="0" tIns="0" bIns="0">
            <a:spAutoFit/>
          </a:bodyPr>
          <a:lstStyle/>
          <a:p>
            <a:pPr algn="l"/>
            <a:r>
              <a:rPr sz="1100" b="0" kern="1200">
                <a:solidFill>
                  <a:srgbClr val="6E6E73"/>
                </a:solidFill>
                <a:latin typeface="Helvetica Neue"/>
                <a:ea typeface="微软雅黑"/>
              </a:rPr>
              <a:t>zhuaisha.github.io / wuzhen-waterways</a:t>
            </a:r>
          </a:p>
        </p:txBody>
      </p:sp>
      <p:pic>
        <p:nvPicPr>
          <p:cNvPr id="15" name="Picture 14" descr="vr_hero.jpg"/>
          <p:cNvPicPr>
            <a:picLocks noChangeAspect="1"/>
          </p:cNvPicPr>
          <p:nvPr/>
        </p:nvPicPr>
        <p:blipFill>
          <a:blip r:embed="rId5"/>
          <a:stretch>
            <a:fillRect/>
          </a:stretch>
        </p:blipFill>
        <p:spPr>
          <a:xfrm>
            <a:off x="2984500" y="5080000"/>
            <a:ext cx="3683000" cy="1397000"/>
          </a:xfrm>
          <a:prstGeom prst="rect">
            <a:avLst/>
          </a:prstGeom>
          <a:effectLst/>
        </p:spPr>
      </p:pic>
      <p:sp>
        <p:nvSpPr>
          <p:cNvPr id="16" name="TextBox 15"/>
          <p:cNvSpPr txBox="1"/>
          <p:nvPr/>
        </p:nvSpPr>
        <p:spPr>
          <a:xfrm>
            <a:off x="6858000" y="5054600"/>
            <a:ext cx="2159000" cy="1460500"/>
          </a:xfrm>
          <a:prstGeom prst="rect">
            <a:avLst/>
          </a:prstGeom>
          <a:noFill/>
          <a:effectLst/>
        </p:spPr>
        <p:txBody>
          <a:bodyPr wrap="square" anchor="t" lIns="0" rIns="0" tIns="0" bIns="0">
            <a:spAutoFit/>
          </a:bodyPr>
          <a:lstStyle/>
          <a:p>
            <a:pPr algn="l">
              <a:lnSpc>
                <a:spcPct val="135000"/>
              </a:lnSpc>
            </a:pPr>
            <a:r>
              <a:rPr sz="1100" b="1" spc="200" kern="1200">
                <a:solidFill>
                  <a:srgbClr val="1D1D1F"/>
                </a:solidFill>
                <a:latin typeface="Helvetica Neue"/>
                <a:ea typeface="微软雅黑"/>
              </a:rPr>
              <a:t>01   HERO</a:t>
            </a:r>
          </a:p>
          <a:p>
            <a:pPr algn="l">
              <a:lnSpc>
                <a:spcPct val="135000"/>
              </a:lnSpc>
            </a:pPr>
            <a:r>
              <a:rPr sz="1100" b="0" spc="200" kern="1200">
                <a:solidFill>
                  <a:srgbClr val="6E6E73"/>
                </a:solidFill>
                <a:latin typeface="Helvetica Neue"/>
                <a:ea typeface="微软雅黑"/>
              </a:rPr>
              <a:t>02   STORY</a:t>
            </a:r>
          </a:p>
          <a:p>
            <a:pPr algn="l">
              <a:lnSpc>
                <a:spcPct val="135000"/>
              </a:lnSpc>
            </a:pPr>
            <a:r>
              <a:rPr sz="1100" b="0" spc="200" kern="1200">
                <a:solidFill>
                  <a:srgbClr val="6E6E73"/>
                </a:solidFill>
                <a:latin typeface="Helvetica Neue"/>
                <a:ea typeface="微软雅黑"/>
              </a:rPr>
              <a:t>03   GALLERY</a:t>
            </a:r>
          </a:p>
          <a:p>
            <a:pPr algn="l">
              <a:lnSpc>
                <a:spcPct val="135000"/>
              </a:lnSpc>
            </a:pPr>
            <a:r>
              <a:rPr sz="1100" b="0" spc="200" kern="1200">
                <a:solidFill>
                  <a:srgbClr val="6E6E73"/>
                </a:solidFill>
                <a:latin typeface="Helvetica Neue"/>
                <a:ea typeface="微软雅黑"/>
              </a:rPr>
              <a:t>04   ATLAS</a:t>
            </a:r>
          </a:p>
          <a:p>
            <a:pPr algn="l">
              <a:lnSpc>
                <a:spcPct val="135000"/>
              </a:lnSpc>
            </a:pPr>
            <a:r>
              <a:rPr sz="1100" b="0" spc="200" kern="1200">
                <a:solidFill>
                  <a:srgbClr val="6E6E73"/>
                </a:solidFill>
                <a:latin typeface="Helvetica Neue"/>
                <a:ea typeface="微软雅黑"/>
              </a:rPr>
              <a:t>05   TIMELINE</a:t>
            </a:r>
          </a:p>
          <a:p>
            <a:pPr algn="l">
              <a:lnSpc>
                <a:spcPct val="135000"/>
              </a:lnSpc>
            </a:pPr>
            <a:r>
              <a:rPr sz="1100" b="0" spc="200" kern="1200">
                <a:solidFill>
                  <a:srgbClr val="6E6E73"/>
                </a:solidFill>
                <a:latin typeface="Helvetica Neue"/>
                <a:ea typeface="微软雅黑"/>
              </a:rPr>
              <a:t>06   TEAM</a:t>
            </a:r>
          </a:p>
          <a:p>
            <a:pPr algn="l">
              <a:lnSpc>
                <a:spcPct val="135000"/>
              </a:lnSpc>
            </a:pPr>
            <a:r>
              <a:rPr sz="1100" b="0" spc="200" kern="1200">
                <a:solidFill>
                  <a:srgbClr val="6E6E73"/>
                </a:solidFill>
                <a:latin typeface="Helvetica Neue"/>
                <a:ea typeface="微软雅黑"/>
              </a:rPr>
              <a:t>07   SOURCES</a:t>
            </a:r>
          </a:p>
        </p:txBody>
      </p:sp>
      <p:sp>
        <p:nvSpPr>
          <p:cNvPr id="17" name="TextBox 16"/>
          <p:cNvSpPr txBox="1"/>
          <p:nvPr/>
        </p:nvSpPr>
        <p:spPr>
          <a:xfrm>
            <a:off x="6858000" y="6477000"/>
            <a:ext cx="2159000" cy="165100"/>
          </a:xfrm>
          <a:prstGeom prst="rect">
            <a:avLst/>
          </a:prstGeom>
          <a:noFill/>
          <a:effectLst/>
        </p:spPr>
        <p:txBody>
          <a:bodyPr wrap="square" anchor="t" lIns="0" rIns="0" tIns="0" bIns="0">
            <a:spAutoFit/>
          </a:bodyPr>
          <a:lstStyle/>
          <a:p>
            <a:pPr algn="l"/>
            <a:r>
              <a:rPr sz="900" b="0" spc="300" kern="1200">
                <a:solidFill>
                  <a:srgbClr val="A1A1A6"/>
                </a:solidFill>
                <a:latin typeface="Helvetica Neue"/>
                <a:ea typeface="微软雅黑"/>
              </a:rPr>
              <a:t>SCROLL TO EXPLORE  ↓</a:t>
            </a:r>
          </a:p>
        </p:txBody>
      </p:sp>
    </p:spTree>
  </p:cSld>
  <p:clrMapOvr>
    <a:masterClrMapping/>
  </p:clrMapOvr>
  <p:transition xmlns:p14="http://schemas.microsoft.com/office/powerpoint/2010/main" p14:dur="1000">
    <p14:morph option="byObject"/>
  </p:transition>
  <p:timing>
    <p:tnLst>
      <p:par>
        <p:cTn id="1" dur="indefinite" restart="never" nodeType="mainSeq">
          <p:childTnLst>
            <p:par>
              <p:cTn id="2" fill="hold">
                <p:stCondLst>
                  <p:cond delay="0"/>
                </p:stCondLst>
                <p:childTnLst>
                  <p:par>
                    <p:cTn id="3" presetID="23" presetClass="entr" presetSubtype="0" fill="hold" nodeType="afterEffect">
                      <p:stCondLst>
                        <p:cond delay="200"/>
                      </p:stCondLst>
                      <p:childTnLst>
                        <p:animEffect transition="in" filter="zoom">
                          <p:cBhvr>
                            <p:tgtEl>
                              <p:spLst>
                                <p:spTgt spid="2"/>
                              </p:spLst>
                            </p:tgtEl>
                          </p:cBhvr>
                        </p:animEffect>
                      </p:childTnLst>
                    </p:cTn>
                  </p:par>
                  <p:par>
                    <p:cTn id="4" presetID="23" presetClass="entr" presetSubtype="0" fill="hold" nodeType="afterEffect">
                      <p:stCondLst>
                        <p:cond delay="600"/>
                      </p:stCondLst>
                      <p:childTnLst>
                        <p:animEffect transition="in" filter="zoom">
                          <p:cBhvr>
                            <p:tgtEl>
                              <p:spLst>
                                <p:spTgt spid="3"/>
                              </p:spLst>
                            </p:tgtEl>
                          </p:cBhvr>
                        </p:animEffect>
                      </p:childTnLst>
                    </p:cTn>
                  </p:par>
                  <p:par>
                    <p:cTn id="5" presetID="23" presetClass="entr" presetSubtype="0" fill="hold" nodeType="afterEffect">
                      <p:stCondLst>
                        <p:cond delay="1000"/>
                      </p:stCondLst>
                      <p:childTnLst>
                        <p:animEffect transition="in" filter="zoom">
                          <p:cBhvr>
                            <p:tgtEl>
                              <p:spLst>
                                <p:spTgt spid="4"/>
                              </p:spLst>
                            </p:tgtEl>
                          </p:cBhvr>
                        </p:animEffect>
                      </p:childTnLst>
                    </p:cTn>
                  </p:par>
                  <p:par>
                    <p:cTn id="6" presetID="10" presetClass="entr" presetSubtype="0" fill="hold" nodeType="afterEffect">
                      <p:stCondLst>
                        <p:cond delay="1300"/>
                      </p:stCondLst>
                      <p:childTnLst>
                        <p:animEffect transition="in" filter="fade">
                          <p:cBhvr>
                            <p:tgtEl>
                              <p:spLst>
                                <p:spTgt spid="5"/>
                              </p:spLst>
                            </p:tgtEl>
                          </p:cBhvr>
                        </p:animEffect>
                      </p:childTnLst>
                    </p:cTn>
                  </p:par>
                  <p:par>
                    <p:cTn id="7" presetID="10" presetClass="entr" presetSubtype="0" fill="hold" nodeType="afterEffect">
                      <p:stCondLst>
                        <p:cond delay="1500"/>
                      </p:stCondLst>
                      <p:childTnLst>
                        <p:animEffect transition="in" filter="fade">
                          <p:cBhvr>
                            <p:tgtEl>
                              <p:spLst>
                                <p:spTgt spid="6"/>
                              </p:spLst>
                            </p:tgtEl>
                          </p:cBhvr>
                        </p:animEffect>
                      </p:childTnLst>
                    </p:cTn>
                  </p:par>
                  <p:par>
                    <p:cTn id="8" presetID="10" presetClass="entr" presetSubtype="0" fill="hold" nodeType="afterEffect">
                      <p:stCondLst>
                        <p:cond delay="1700"/>
                      </p:stCondLst>
                      <p:childTnLst>
                        <p:animEffect transition="in" filter="fade">
                          <p:cBhvr>
                            <p:tgtEl>
                              <p:spLst>
                                <p:spTgt spid="7"/>
                              </p:spLst>
                            </p:tgtEl>
                          </p:cBhvr>
                        </p:animEffect>
                      </p:childTnLst>
                    </p:cTn>
                  </p:par>
                  <p:par>
                    <p:cTn id="9" presetID="10" presetClass="entr" presetSubtype="0" fill="hold" nodeType="afterEffect">
                      <p:stCondLst>
                        <p:cond delay="2000"/>
                      </p:stCondLst>
                      <p:childTnLst>
                        <p:animEffect transition="in" filter="fade">
                          <p:cBhvr>
                            <p:tgtEl>
                              <p:spLst>
                                <p:spTgt spid="8"/>
                              </p:spLst>
                            </p:tgtEl>
                          </p:cBhvr>
                        </p:animEffect>
                      </p:childTnLst>
                    </p:cTn>
                  </p:par>
                  <p:par>
                    <p:cTn id="10" presetID="10" presetClass="entr" presetSubtype="0" fill="hold" nodeType="afterEffect">
                      <p:stCondLst>
                        <p:cond delay="2200"/>
                      </p:stCondLst>
                      <p:childTnLst>
                        <p:animEffect transition="in" filter="fade">
                          <p:cBhvr>
                            <p:tgtEl>
                              <p:spLst>
                                <p:spTgt spid="9"/>
                              </p:spLst>
                            </p:tgtEl>
                          </p:cBhvr>
                        </p:animEffect>
                      </p:childTnLst>
                    </p:cTn>
                  </p:par>
                  <p:par>
                    <p:cTn id="11" presetID="10" presetClass="entr" presetSubtype="0" fill="hold" nodeType="afterEffect">
                      <p:stCondLst>
                        <p:cond delay="2500"/>
                      </p:stCondLst>
                      <p:childTnLst>
                        <p:animEffect transition="in" filter="fade">
                          <p:cBhvr>
                            <p:tgtEl>
                              <p:spLst>
                                <p:spTgt spid="10"/>
                              </p:spLst>
                            </p:tgtEl>
                          </p:cBhvr>
                        </p:animEffect>
                      </p:childTnLst>
                    </p:cTn>
                  </p:par>
                  <p:par>
                    <p:cTn id="12" presetID="23" presetClass="entr" presetSubtype="0" fill="hold" nodeType="afterEffect">
                      <p:stCondLst>
                        <p:cond delay="2900"/>
                      </p:stCondLst>
                      <p:childTnLst>
                        <p:animEffect transition="in" filter="zoom">
                          <p:cBhvr>
                            <p:tgtEl>
                              <p:spLst>
                                <p:spTgt spid="11"/>
                              </p:spLst>
                            </p:tgtEl>
                          </p:cBhvr>
                        </p:animEffect>
                      </p:childTnLst>
                    </p:cTn>
                  </p:par>
                  <p:par>
                    <p:cTn id="13" presetID="10" presetClass="entr" presetSubtype="0" fill="hold" nodeType="afterEffect">
                      <p:stCondLst>
                        <p:cond delay="3100"/>
                      </p:stCondLst>
                      <p:childTnLst>
                        <p:animEffect transition="in" filter="fade">
                          <p:cBhvr>
                            <p:tgtEl>
                              <p:spLst>
                                <p:spTgt spid="12"/>
                              </p:spLst>
                            </p:tgtEl>
                          </p:cBhvr>
                        </p:animEffect>
                      </p:childTnLst>
                    </p:cTn>
                  </p:par>
                  <p:par>
                    <p:cTn id="14" presetID="10" presetClass="entr" presetSubtype="0" fill="hold" nodeType="afterEffect">
                      <p:stCondLst>
                        <p:cond delay="3100"/>
                      </p:stCondLst>
                      <p:childTnLst>
                        <p:animEffect transition="in" filter="fade">
                          <p:cBhvr>
                            <p:tgtEl>
                              <p:spLst>
                                <p:spTgt spid="13"/>
                              </p:spLst>
                            </p:tgtEl>
                          </p:cBhvr>
                        </p:animEffect>
                      </p:childTnLst>
                    </p:cTn>
                  </p:par>
                  <p:par>
                    <p:cTn id="15" presetID="10" presetClass="entr" presetSubtype="0" fill="hold" nodeType="afterEffect">
                      <p:stCondLst>
                        <p:cond delay="3200"/>
                      </p:stCondLst>
                      <p:childTnLst>
                        <p:animEffect transition="in" filter="fade">
                          <p:cBhvr>
                            <p:tgtEl>
                              <p:spLst>
                                <p:spTgt spid="14"/>
                              </p:spLst>
                            </p:tgtEl>
                          </p:cBhvr>
                        </p:animEffect>
                      </p:childTnLst>
                    </p:cTn>
                  </p:par>
                  <p:par>
                    <p:cTn id="16" presetID="10" presetClass="entr" presetSubtype="0" fill="hold" nodeType="afterEffect">
                      <p:stCondLst>
                        <p:cond delay="3300"/>
                      </p:stCondLst>
                      <p:childTnLst>
                        <p:animEffect transition="in" filter="fade">
                          <p:cBhvr>
                            <p:tgtEl>
                              <p:spLst>
                                <p:spTgt spid="15"/>
                              </p:spLst>
                            </p:tgtEl>
                          </p:cBhvr>
                        </p:animEffect>
                      </p:childTnLst>
                    </p:cTn>
                  </p:par>
                  <p:par>
                    <p:cTn id="17" presetID="10" presetClass="entr" presetSubtype="0" fill="hold" nodeType="afterEffect">
                      <p:stCondLst>
                        <p:cond delay="3400"/>
                      </p:stCondLst>
                      <p:childTnLst>
                        <p:animEffect transition="in" filter="fade">
                          <p:cBhvr>
                            <p:tgtEl>
                              <p:spLst>
                                <p:spTgt spid="16"/>
                              </p:spLst>
                            </p:tgtEl>
                          </p:cBhvr>
                        </p:animEffect>
                      </p:childTnLst>
                    </p:cTn>
                  </p:par>
                  <p:par>
                    <p:cTn id="18" presetID="10" presetClass="entr" presetSubtype="0" fill="hold" nodeType="afterEffect">
                      <p:stCondLst>
                        <p:cond delay="3700"/>
                      </p:stCondLst>
                      <p:childTnLst>
                        <p:animEffect transition="in" filter="fade">
                          <p:cBhvr>
                            <p:tgtEl>
                              <p:spLst>
                                <p:spTgt spid="17"/>
                              </p:spLst>
                            </p:tgtEl>
                          </p:cBhvr>
                        </p:animEffect>
                      </p:childTnLst>
                    </p:cTn>
                  </p:par>
                </p:childTnLst>
              </p:cTn>
            </p:par>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762000" y="825500"/>
            <a:ext cx="6985000" cy="342900"/>
          </a:xfrm>
          <a:prstGeom prst="rect">
            <a:avLst/>
          </a:prstGeom>
          <a:noFill/>
          <a:effectLst/>
        </p:spPr>
        <p:txBody>
          <a:bodyPr wrap="square" anchor="t" lIns="0" rIns="0" tIns="0" bIns="0">
            <a:spAutoFit/>
          </a:bodyPr>
          <a:lstStyle/>
          <a:p>
            <a:pPr algn="l"/>
            <a:r>
              <a:rPr sz="4200" b="1" spc="-60" kern="1200">
                <a:solidFill>
                  <a:srgbClr val="FFFFFF"/>
                </a:solidFill>
                <a:latin typeface="Helvetica Neue"/>
                <a:ea typeface="微软雅黑"/>
              </a:rPr>
              <a:t>WATERWAY ATLAS</a:t>
            </a:r>
          </a:p>
        </p:txBody>
      </p:sp>
      <p:sp>
        <p:nvSpPr>
          <p:cNvPr id="3" name="TextBox 2"/>
          <p:cNvSpPr txBox="1"/>
          <p:nvPr/>
        </p:nvSpPr>
        <p:spPr>
          <a:xfrm>
            <a:off x="762000" y="1308100"/>
            <a:ext cx="6350000" cy="215900"/>
          </a:xfrm>
          <a:prstGeom prst="rect">
            <a:avLst/>
          </a:prstGeom>
          <a:noFill/>
          <a:effectLst/>
        </p:spPr>
        <p:txBody>
          <a:bodyPr wrap="square" anchor="t" lIns="0" rIns="0" tIns="0" bIns="0">
            <a:spAutoFit/>
          </a:bodyPr>
          <a:lstStyle/>
          <a:p>
            <a:pPr algn="l"/>
            <a:r>
              <a:rPr sz="1700" b="0" kern="1200">
                <a:solidFill>
                  <a:srgbClr val="A1A1A6"/>
                </a:solidFill>
                <a:latin typeface="Helvetica Neue"/>
                <a:ea typeface="微软雅黑"/>
              </a:rPr>
              <a:t>Find your way by water.</a:t>
            </a:r>
          </a:p>
        </p:txBody>
      </p:sp>
      <p:cxnSp>
        <p:nvCxnSpPr>
          <p:cNvPr id="4" name="Connector 3"/>
          <p:cNvCxnSpPr/>
          <p:nvPr/>
        </p:nvCxnSpPr>
        <p:spPr>
          <a:xfrm flipV="1">
            <a:off x="36576000" y="512064000"/>
            <a:ext cx="132588000" cy="45720000"/>
          </a:xfrm>
          <a:prstGeom prst="line">
            <a:avLst/>
          </a:prstGeom>
          <a:ln w="25400">
            <a:solidFill>
              <a:srgbClr val="667F80">
                <a:alpha val="1000"/>
              </a:srgbClr>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69164000" y="420624000"/>
            <a:ext cx="434340000" cy="91440000"/>
          </a:xfrm>
          <a:prstGeom prst="line">
            <a:avLst/>
          </a:prstGeom>
          <a:ln w="25400">
            <a:solidFill>
              <a:srgbClr val="667F80">
                <a:alpha val="1000"/>
              </a:srgbClr>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03504000" y="420624000"/>
            <a:ext cx="493776000" cy="91440000"/>
          </a:xfrm>
          <a:prstGeom prst="line">
            <a:avLst/>
          </a:prstGeom>
          <a:ln w="25400">
            <a:solidFill>
              <a:srgbClr val="667F80">
                <a:alpha val="1000"/>
              </a:srgbClr>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97280000" y="420624000"/>
            <a:ext cx="621792000" cy="91440000"/>
          </a:xfrm>
          <a:prstGeom prst="line">
            <a:avLst/>
          </a:prstGeom>
          <a:ln w="25400">
            <a:solidFill>
              <a:srgbClr val="667F80">
                <a:alpha val="1000"/>
              </a:srgbClr>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5250" y="2463800"/>
            <a:ext cx="2159000" cy="711200"/>
          </a:xfrm>
          <a:prstGeom prst="rect">
            <a:avLst/>
          </a:prstGeom>
          <a:noFill/>
          <a:effectLst/>
        </p:spPr>
        <p:txBody>
          <a:bodyPr wrap="square" anchor="t" lIns="0" rIns="0" tIns="0" bIns="0">
            <a:spAutoFit/>
          </a:bodyPr>
          <a:lstStyle/>
          <a:p>
            <a:pPr algn="ctr"/>
            <a:r>
              <a:rPr sz="1100" b="1" spc="300" kern="1200">
                <a:solidFill>
                  <a:srgbClr val="667F80"/>
                </a:solidFill>
                <a:latin typeface="Helvetica Neue"/>
                <a:ea typeface="微软雅黑"/>
              </a:rPr>
              <a:t>01</a:t>
            </a:r>
          </a:p>
          <a:p>
            <a:pPr algn="ctr"/>
            <a:r>
              <a:rPr sz="1100" b="1" spc="60" kern="1200">
                <a:solidFill>
                  <a:srgbClr val="FFFFFF"/>
                </a:solidFill>
                <a:latin typeface="Helvetica Neue"/>
                <a:ea typeface="微软雅黑"/>
              </a:rPr>
              <a:t>NORTH WATER GATE</a:t>
            </a:r>
          </a:p>
          <a:p>
            <a:pPr algn="ctr"/>
            <a:r>
              <a:rPr sz="1000" b="0" kern="1200">
                <a:solidFill>
                  <a:srgbClr val="A1A1A6"/>
                </a:solidFill>
                <a:latin typeface="Helvetica Neue"/>
                <a:ea typeface="微软雅黑"/>
              </a:rPr>
              <a:t>北栅水门 · Arrival</a:t>
            </a:r>
          </a:p>
        </p:txBody>
      </p:sp>
      <p:sp>
        <p:nvSpPr>
          <p:cNvPr id="9" name="Oval 8"/>
          <p:cNvSpPr/>
          <p:nvPr/>
        </p:nvSpPr>
        <p:spPr>
          <a:xfrm>
            <a:off x="1092200" y="3473450"/>
            <a:ext cx="165100" cy="165100"/>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3524250"/>
            <a:ext cx="63500" cy="63500"/>
          </a:xfrm>
          <a:prstGeom prst="ellipse">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11500" y="1828800"/>
            <a:ext cx="2159000" cy="711200"/>
          </a:xfrm>
          <a:prstGeom prst="rect">
            <a:avLst/>
          </a:prstGeom>
          <a:noFill/>
          <a:effectLst/>
        </p:spPr>
        <p:txBody>
          <a:bodyPr wrap="square" anchor="t" lIns="0" rIns="0" tIns="0" bIns="0">
            <a:spAutoFit/>
          </a:bodyPr>
          <a:lstStyle/>
          <a:p>
            <a:pPr algn="ctr"/>
            <a:r>
              <a:rPr sz="1100" b="1" spc="300" kern="1200">
                <a:solidFill>
                  <a:srgbClr val="667F80"/>
                </a:solidFill>
                <a:latin typeface="Helvetica Neue"/>
                <a:ea typeface="微软雅黑"/>
              </a:rPr>
              <a:t>02</a:t>
            </a:r>
          </a:p>
          <a:p>
            <a:pPr algn="ctr"/>
            <a:r>
              <a:rPr sz="1100" b="1" spc="60" kern="1200">
                <a:solidFill>
                  <a:srgbClr val="FFFFFF"/>
                </a:solidFill>
                <a:latin typeface="Helvetica Neue"/>
                <a:ea typeface="微软雅黑"/>
              </a:rPr>
              <a:t>XIZHA BRIDGE</a:t>
            </a:r>
          </a:p>
          <a:p>
            <a:pPr algn="ctr"/>
            <a:r>
              <a:rPr sz="1000" b="0" kern="1200">
                <a:solidFill>
                  <a:srgbClr val="A1A1A6"/>
                </a:solidFill>
                <a:latin typeface="Helvetica Neue"/>
                <a:ea typeface="微软雅黑"/>
              </a:rPr>
              <a:t>西栅古桥 · Crossing</a:t>
            </a:r>
          </a:p>
        </p:txBody>
      </p:sp>
      <p:sp>
        <p:nvSpPr>
          <p:cNvPr id="12" name="Oval 11"/>
          <p:cNvSpPr/>
          <p:nvPr/>
        </p:nvSpPr>
        <p:spPr>
          <a:xfrm>
            <a:off x="4108450" y="2838450"/>
            <a:ext cx="165100" cy="165100"/>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9249" y="2889250"/>
            <a:ext cx="63500" cy="63500"/>
          </a:xfrm>
          <a:prstGeom prst="ellipse">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0500" y="2463800"/>
            <a:ext cx="2159000" cy="711200"/>
          </a:xfrm>
          <a:prstGeom prst="rect">
            <a:avLst/>
          </a:prstGeom>
          <a:noFill/>
          <a:effectLst/>
        </p:spPr>
        <p:txBody>
          <a:bodyPr wrap="square" anchor="t" lIns="0" rIns="0" tIns="0" bIns="0">
            <a:spAutoFit/>
          </a:bodyPr>
          <a:lstStyle/>
          <a:p>
            <a:pPr algn="ctr"/>
            <a:r>
              <a:rPr sz="1100" b="1" spc="300" kern="1200">
                <a:solidFill>
                  <a:srgbClr val="667F80"/>
                </a:solidFill>
                <a:latin typeface="Helvetica Neue"/>
                <a:ea typeface="微软雅黑"/>
              </a:rPr>
              <a:t>03</a:t>
            </a:r>
          </a:p>
          <a:p>
            <a:pPr algn="ctr"/>
            <a:r>
              <a:rPr sz="1100" b="1" spc="60" kern="1200">
                <a:solidFill>
                  <a:srgbClr val="FFFFFF"/>
                </a:solidFill>
                <a:latin typeface="Helvetica Neue"/>
                <a:ea typeface="微软雅黑"/>
              </a:rPr>
              <a:t>LANTERN WHARF</a:t>
            </a:r>
          </a:p>
          <a:p>
            <a:pPr algn="ctr"/>
            <a:r>
              <a:rPr sz="1000" b="0" kern="1200">
                <a:solidFill>
                  <a:srgbClr val="A1A1A6"/>
                </a:solidFill>
                <a:latin typeface="Helvetica Neue"/>
                <a:ea typeface="微软雅黑"/>
              </a:rPr>
              <a:t>灯影码头 · After dusk</a:t>
            </a:r>
          </a:p>
        </p:txBody>
      </p:sp>
      <p:sp>
        <p:nvSpPr>
          <p:cNvPr id="15" name="Oval 14"/>
          <p:cNvSpPr/>
          <p:nvPr/>
        </p:nvSpPr>
        <p:spPr>
          <a:xfrm>
            <a:off x="7537450" y="3473450"/>
            <a:ext cx="165100" cy="165100"/>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588250" y="3524250"/>
            <a:ext cx="63500" cy="63500"/>
          </a:xfrm>
          <a:prstGeom prst="ellipse">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9500" y="1828800"/>
            <a:ext cx="2159000" cy="711200"/>
          </a:xfrm>
          <a:prstGeom prst="rect">
            <a:avLst/>
          </a:prstGeom>
          <a:noFill/>
          <a:effectLst/>
        </p:spPr>
        <p:txBody>
          <a:bodyPr wrap="square" anchor="t" lIns="0" rIns="0" tIns="0" bIns="0">
            <a:spAutoFit/>
          </a:bodyPr>
          <a:lstStyle/>
          <a:p>
            <a:pPr algn="ctr"/>
            <a:r>
              <a:rPr sz="1100" b="1" spc="300" kern="1200">
                <a:solidFill>
                  <a:srgbClr val="667F80"/>
                </a:solidFill>
                <a:latin typeface="Helvetica Neue"/>
                <a:ea typeface="微软雅黑"/>
              </a:rPr>
              <a:t>04</a:t>
            </a:r>
          </a:p>
          <a:p>
            <a:pPr algn="ctr"/>
            <a:r>
              <a:rPr sz="1100" b="1" spc="60" kern="1200">
                <a:solidFill>
                  <a:srgbClr val="FFFFFF"/>
                </a:solidFill>
                <a:latin typeface="Helvetica Neue"/>
                <a:ea typeface="微软雅黑"/>
              </a:rPr>
              <a:t>MORNING MARKET</a:t>
            </a:r>
          </a:p>
          <a:p>
            <a:pPr algn="ctr"/>
            <a:r>
              <a:rPr sz="1000" b="0" kern="1200">
                <a:solidFill>
                  <a:srgbClr val="A1A1A6"/>
                </a:solidFill>
                <a:latin typeface="Helvetica Neue"/>
                <a:ea typeface="微软雅黑"/>
              </a:rPr>
              <a:t>清晨市集 · Daily life</a:t>
            </a:r>
          </a:p>
        </p:txBody>
      </p:sp>
      <p:sp>
        <p:nvSpPr>
          <p:cNvPr id="18" name="Oval 17"/>
          <p:cNvSpPr/>
          <p:nvPr/>
        </p:nvSpPr>
        <p:spPr>
          <a:xfrm>
            <a:off x="10966450" y="2838450"/>
            <a:ext cx="165100" cy="165100"/>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17250" y="2889250"/>
            <a:ext cx="63500" cy="63500"/>
          </a:xfrm>
          <a:prstGeom prst="ellipse">
            <a:avLst/>
          </a:prstGeom>
          <a:solidFill>
            <a:srgbClr val="66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6477000"/>
            <a:ext cx="9525000" cy="165100"/>
          </a:xfrm>
          <a:prstGeom prst="rect">
            <a:avLst/>
          </a:prstGeom>
          <a:noFill/>
          <a:effectLst/>
        </p:spPr>
        <p:txBody>
          <a:bodyPr wrap="square" anchor="t" lIns="0" rIns="0" tIns="0" bIns="0">
            <a:spAutoFit/>
          </a:bodyPr>
          <a:lstStyle/>
          <a:p>
            <a:pPr algn="l"/>
            <a:r>
              <a:rPr sz="1000" b="0" spc="300" kern="1200">
                <a:solidFill>
                  <a:srgbClr val="6E6E73"/>
                </a:solidFill>
                <a:latin typeface="Helvetica Neue"/>
                <a:ea typeface="微软雅黑"/>
              </a:rPr>
              <a:t>AN ABSTRACT WATERWAY — NOT A MAP   ·   120.49° E / 30.75° N</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10" presetClass="entr" presetSubtype="0" fill="hold" nodeType="afterEffect">
                      <p:stCondLst>
                        <p:cond delay="500"/>
                      </p:stCondLst>
                      <p:childTnLst>
                        <p:animEffect transition="in" filter="fade">
                          <p:cBhvr>
                            <p:tgtEl>
                              <p:spLst>
                                <p:spTgt spid="3"/>
                              </p:spLst>
                            </p:tgtEl>
                          </p:cBhvr>
                        </p:animEffect>
                      </p:childTnLst>
                    </p:cTn>
                  </p:par>
                  <p:par>
                    <p:cTn id="5" presetID="22" presetClass="entr" presetSubtype="4" fill="hold" nodeType="afterEffect">
                      <p:stCondLst>
                        <p:cond delay="900"/>
                      </p:stCondLst>
                      <p:childTnLst>
                        <p:animEffect transition="in" filter="wipe(down)">
                          <p:cBhvr>
                            <p:tgtEl>
                              <p:spLst>
                                <p:spTgt spid="4"/>
                              </p:spLst>
                            </p:tgtEl>
                          </p:cBhvr>
                        </p:animEffect>
                      </p:childTnLst>
                    </p:cTn>
                  </p:par>
                  <p:par>
                    <p:cTn id="6" presetID="22" presetClass="entr" presetSubtype="4" fill="hold" nodeType="afterEffect">
                      <p:stCondLst>
                        <p:cond delay="900"/>
                      </p:stCondLst>
                      <p:childTnLst>
                        <p:animEffect transition="in" filter="wipe(down)">
                          <p:cBhvr>
                            <p:tgtEl>
                              <p:spLst>
                                <p:spTgt spid="5"/>
                              </p:spLst>
                            </p:tgtEl>
                          </p:cBhvr>
                        </p:animEffect>
                      </p:childTnLst>
                    </p:cTn>
                  </p:par>
                  <p:par>
                    <p:cTn id="7" presetID="22" presetClass="entr" presetSubtype="4" fill="hold" nodeType="afterEffect">
                      <p:stCondLst>
                        <p:cond delay="900"/>
                      </p:stCondLst>
                      <p:childTnLst>
                        <p:animEffect transition="in" filter="wipe(down)">
                          <p:cBhvr>
                            <p:tgtEl>
                              <p:spLst>
                                <p:spTgt spid="6"/>
                              </p:spLst>
                            </p:tgtEl>
                          </p:cBhvr>
                        </p:animEffect>
                      </p:childTnLst>
                    </p:cTn>
                  </p:par>
                  <p:par>
                    <p:cTn id="8" presetID="22" presetClass="entr" presetSubtype="4" fill="hold" nodeType="afterEffect">
                      <p:stCondLst>
                        <p:cond delay="900"/>
                      </p:stCondLst>
                      <p:childTnLst>
                        <p:animEffect transition="in" filter="wipe(down)">
                          <p:cBhvr>
                            <p:tgtEl>
                              <p:spLst>
                                <p:spTgt spid="7"/>
                              </p:spLst>
                            </p:tgtEl>
                          </p:cBhvr>
                        </p:animEffect>
                      </p:childTnLst>
                    </p:cTn>
                  </p:par>
                  <p:par>
                    <p:cTn id="9" presetID="23" presetClass="entr" presetSubtype="0" fill="hold" nodeType="afterEffect">
                      <p:stCondLst>
                        <p:cond delay="1300"/>
                      </p:stCondLst>
                      <p:childTnLst>
                        <p:animEffect transition="in" filter="zoom">
                          <p:cBhvr>
                            <p:tgtEl>
                              <p:spLst>
                                <p:spTgt spid="9"/>
                              </p:spLst>
                            </p:tgtEl>
                          </p:cBhvr>
                        </p:animEffect>
                      </p:childTnLst>
                    </p:cTn>
                  </p:par>
                  <p:par>
                    <p:cTn id="10" presetID="23" presetClass="entr" presetSubtype="0" fill="hold" nodeType="afterEffect">
                      <p:stCondLst>
                        <p:cond delay="1450"/>
                      </p:stCondLst>
                      <p:childTnLst>
                        <p:animEffect transition="in" filter="zoom">
                          <p:cBhvr>
                            <p:tgtEl>
                              <p:spLst>
                                <p:spTgt spid="10"/>
                              </p:spLst>
                            </p:tgtEl>
                          </p:cBhvr>
                        </p:animEffect>
                      </p:childTnLst>
                    </p:cTn>
                  </p:par>
                  <p:par>
                    <p:cTn id="11" presetID="10" presetClass="entr" presetSubtype="0" fill="hold" nodeType="afterEffect">
                      <p:stCondLst>
                        <p:cond delay="1550"/>
                      </p:stCondLst>
                      <p:childTnLst>
                        <p:animEffect transition="in" filter="fade">
                          <p:cBhvr>
                            <p:tgtEl>
                              <p:spLst>
                                <p:spTgt spid="8"/>
                              </p:spLst>
                            </p:tgtEl>
                          </p:cBhvr>
                        </p:animEffect>
                      </p:childTnLst>
                    </p:cTn>
                  </p:par>
                  <p:par>
                    <p:cTn id="12" presetID="23" presetClass="entr" presetSubtype="0" fill="hold" nodeType="afterEffect">
                      <p:stCondLst>
                        <p:cond delay="1750"/>
                      </p:stCondLst>
                      <p:childTnLst>
                        <p:animEffect transition="in" filter="zoom">
                          <p:cBhvr>
                            <p:tgtEl>
                              <p:spLst>
                                <p:spTgt spid="12"/>
                              </p:spLst>
                            </p:tgtEl>
                          </p:cBhvr>
                        </p:animEffect>
                      </p:childTnLst>
                    </p:cTn>
                  </p:par>
                  <p:par>
                    <p:cTn id="13" presetID="23" presetClass="entr" presetSubtype="0" fill="hold" nodeType="afterEffect">
                      <p:stCondLst>
                        <p:cond delay="1900"/>
                      </p:stCondLst>
                      <p:childTnLst>
                        <p:animEffect transition="in" filter="zoom">
                          <p:cBhvr>
                            <p:tgtEl>
                              <p:spLst>
                                <p:spTgt spid="13"/>
                              </p:spLst>
                            </p:tgtEl>
                          </p:cBhvr>
                        </p:animEffect>
                      </p:childTnLst>
                    </p:cTn>
                  </p:par>
                  <p:par>
                    <p:cTn id="14" presetID="10" presetClass="entr" presetSubtype="0" fill="hold" nodeType="afterEffect">
                      <p:stCondLst>
                        <p:cond delay="2000"/>
                      </p:stCondLst>
                      <p:childTnLst>
                        <p:animEffect transition="in" filter="fade">
                          <p:cBhvr>
                            <p:tgtEl>
                              <p:spLst>
                                <p:spTgt spid="11"/>
                              </p:spLst>
                            </p:tgtEl>
                          </p:cBhvr>
                        </p:animEffect>
                      </p:childTnLst>
                    </p:cTn>
                  </p:par>
                  <p:par>
                    <p:cTn id="15" presetID="23" presetClass="entr" presetSubtype="0" fill="hold" nodeType="afterEffect">
                      <p:stCondLst>
                        <p:cond delay="2200"/>
                      </p:stCondLst>
                      <p:childTnLst>
                        <p:animEffect transition="in" filter="zoom">
                          <p:cBhvr>
                            <p:tgtEl>
                              <p:spLst>
                                <p:spTgt spid="15"/>
                              </p:spLst>
                            </p:tgtEl>
                          </p:cBhvr>
                        </p:animEffect>
                      </p:childTnLst>
                    </p:cTn>
                  </p:par>
                  <p:par>
                    <p:cTn id="16" presetID="23" presetClass="entr" presetSubtype="0" fill="hold" nodeType="afterEffect">
                      <p:stCondLst>
                        <p:cond delay="2350"/>
                      </p:stCondLst>
                      <p:childTnLst>
                        <p:animEffect transition="in" filter="zoom">
                          <p:cBhvr>
                            <p:tgtEl>
                              <p:spLst>
                                <p:spTgt spid="16"/>
                              </p:spLst>
                            </p:tgtEl>
                          </p:cBhvr>
                        </p:animEffect>
                      </p:childTnLst>
                    </p:cTn>
                  </p:par>
                  <p:par>
                    <p:cTn id="17" presetID="10" presetClass="entr" presetSubtype="0" fill="hold" nodeType="afterEffect">
                      <p:stCondLst>
                        <p:cond delay="2450"/>
                      </p:stCondLst>
                      <p:childTnLst>
                        <p:animEffect transition="in" filter="fade">
                          <p:cBhvr>
                            <p:tgtEl>
                              <p:spLst>
                                <p:spTgt spid="14"/>
                              </p:spLst>
                            </p:tgtEl>
                          </p:cBhvr>
                        </p:animEffect>
                      </p:childTnLst>
                    </p:cTn>
                  </p:par>
                  <p:par>
                    <p:cTn id="18" presetID="23" presetClass="entr" presetSubtype="0" fill="hold" nodeType="afterEffect">
                      <p:stCondLst>
                        <p:cond delay="2650"/>
                      </p:stCondLst>
                      <p:childTnLst>
                        <p:animEffect transition="in" filter="zoom">
                          <p:cBhvr>
                            <p:tgtEl>
                              <p:spLst>
                                <p:spTgt spid="18"/>
                              </p:spLst>
                            </p:tgtEl>
                          </p:cBhvr>
                        </p:animEffect>
                      </p:childTnLst>
                    </p:cTn>
                  </p:par>
                  <p:par>
                    <p:cTn id="19" presetID="23" presetClass="entr" presetSubtype="0" fill="hold" nodeType="afterEffect">
                      <p:stCondLst>
                        <p:cond delay="2800"/>
                      </p:stCondLst>
                      <p:childTnLst>
                        <p:animEffect transition="in" filter="zoom">
                          <p:cBhvr>
                            <p:tgtEl>
                              <p:spLst>
                                <p:spTgt spid="19"/>
                              </p:spLst>
                            </p:tgtEl>
                          </p:cBhvr>
                        </p:animEffect>
                      </p:childTnLst>
                    </p:cTn>
                  </p:par>
                  <p:par>
                    <p:cTn id="20" presetID="10" presetClass="entr" presetSubtype="0" fill="hold" nodeType="afterEffect">
                      <p:stCondLst>
                        <p:cond delay="2900"/>
                      </p:stCondLst>
                      <p:childTnLst>
                        <p:animEffect transition="in" filter="fade">
                          <p:cBhvr>
                            <p:tgtEl>
                              <p:spLst>
                                <p:spTgt spid="17"/>
                              </p:spLst>
                            </p:tgtEl>
                          </p:cBhvr>
                        </p:animEffect>
                      </p:childTnLst>
                    </p:cTn>
                  </p:par>
                  <p:par>
                    <p:cTn id="21" presetID="10" presetClass="entr" presetSubtype="0" fill="hold" nodeType="afterEffect">
                      <p:stCondLst>
                        <p:cond delay="3400"/>
                      </p:stCondLst>
                      <p:childTnLst>
                        <p:animEffect transition="in" filter="fade">
                          <p:cBhvr>
                            <p:tgtEl>
                              <p:spLst>
                                <p:spTgt spid="20"/>
                              </p:spLst>
                            </p:tgtEl>
                          </p:cBhvr>
                        </p:animEffect>
                      </p:childTnLst>
                    </p:cTn>
                  </p:par>
                </p:childTnLst>
              </p:cTn>
            </p:par>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762000"/>
            <a:ext cx="6350000" cy="342900"/>
          </a:xfrm>
          <a:prstGeom prst="rect">
            <a:avLst/>
          </a:prstGeom>
          <a:noFill/>
          <a:effectLst/>
        </p:spPr>
        <p:txBody>
          <a:bodyPr wrap="square" anchor="t" lIns="0" rIns="0" tIns="0" bIns="0">
            <a:spAutoFit/>
          </a:bodyPr>
          <a:lstStyle/>
          <a:p>
            <a:pPr algn="l"/>
            <a:r>
              <a:rPr sz="4200" b="1" spc="-60" kern="1200">
                <a:solidFill>
                  <a:srgbClr val="1D1D1F"/>
                </a:solidFill>
                <a:latin typeface="Helvetica Neue"/>
                <a:ea typeface="微软雅黑"/>
              </a:rPr>
              <a:t>WHY WATER?</a:t>
            </a:r>
          </a:p>
        </p:txBody>
      </p:sp>
      <p:sp>
        <p:nvSpPr>
          <p:cNvPr id="3" name="TextBox 2"/>
          <p:cNvSpPr txBox="1"/>
          <p:nvPr/>
        </p:nvSpPr>
        <p:spPr>
          <a:xfrm>
            <a:off x="762000" y="1244600"/>
            <a:ext cx="6350000" cy="215900"/>
          </a:xfrm>
          <a:prstGeom prst="rect">
            <a:avLst/>
          </a:prstGeom>
          <a:noFill/>
          <a:effectLst/>
        </p:spPr>
        <p:txBody>
          <a:bodyPr wrap="square" anchor="t" lIns="0" rIns="0" tIns="0" bIns="0">
            <a:spAutoFit/>
          </a:bodyPr>
          <a:lstStyle/>
          <a:p>
            <a:pPr algn="l"/>
            <a:r>
              <a:rPr sz="1700" b="0" kern="1200">
                <a:solidFill>
                  <a:srgbClr val="6E6E73"/>
                </a:solidFill>
                <a:latin typeface="Helvetica Neue"/>
                <a:ea typeface="微软雅黑"/>
              </a:rPr>
              <a:t>Water connects everything.</a:t>
            </a:r>
          </a:p>
        </p:txBody>
      </p:sp>
      <p:sp>
        <p:nvSpPr>
          <p:cNvPr id="4" name="TextBox 3"/>
          <p:cNvSpPr txBox="1"/>
          <p:nvPr/>
        </p:nvSpPr>
        <p:spPr>
          <a:xfrm>
            <a:off x="762000" y="2413000"/>
            <a:ext cx="10668000" cy="355600"/>
          </a:xfrm>
          <a:prstGeom prst="rect">
            <a:avLst/>
          </a:prstGeom>
          <a:noFill/>
          <a:effectLst/>
        </p:spPr>
        <p:txBody>
          <a:bodyPr wrap="square" anchor="t" lIns="0" rIns="0" tIns="0" bIns="0">
            <a:spAutoFit/>
          </a:bodyPr>
          <a:lstStyle/>
          <a:p>
            <a:pPr algn="ctr"/>
            <a:r>
              <a:rPr sz="3000" b="1" spc="600" kern="1200">
                <a:solidFill>
                  <a:srgbClr val="1D1D1F"/>
                </a:solidFill>
                <a:latin typeface="Helvetica Neue"/>
                <a:ea typeface="微软雅黑"/>
              </a:rPr>
              <a:t>WATER</a:t>
            </a:r>
          </a:p>
        </p:txBody>
      </p:sp>
      <p:sp>
        <p:nvSpPr>
          <p:cNvPr id="5" name="TextBox 4"/>
          <p:cNvSpPr txBox="1"/>
          <p:nvPr/>
        </p:nvSpPr>
        <p:spPr>
          <a:xfrm>
            <a:off x="762000" y="2908300"/>
            <a:ext cx="10668000" cy="215900"/>
          </a:xfrm>
          <a:prstGeom prst="rect">
            <a:avLst/>
          </a:prstGeom>
          <a:noFill/>
          <a:effectLst/>
        </p:spPr>
        <p:txBody>
          <a:bodyPr wrap="square" anchor="t" lIns="0" rIns="0" tIns="0" bIns="0">
            <a:spAutoFit/>
          </a:bodyPr>
          <a:lstStyle/>
          <a:p>
            <a:pPr algn="ctr"/>
            <a:r>
              <a:rPr sz="1200" b="0" spc="480" kern="1200">
                <a:solidFill>
                  <a:srgbClr val="6E6E73"/>
                </a:solidFill>
                <a:latin typeface="Helvetica Neue"/>
                <a:ea typeface="微软雅黑"/>
              </a:rPr>
              <a:t>CONNECTS</a:t>
            </a:r>
          </a:p>
        </p:txBody>
      </p:sp>
      <p:sp>
        <p:nvSpPr>
          <p:cNvPr id="6" name="Rectangle 5"/>
          <p:cNvSpPr/>
          <p:nvPr/>
        </p:nvSpPr>
        <p:spPr>
          <a:xfrm>
            <a:off x="1016000" y="3429000"/>
            <a:ext cx="2032000" cy="46989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3429000"/>
            <a:ext cx="2032000" cy="469899"/>
          </a:xfrm>
          <a:prstGeom prst="rect">
            <a:avLst/>
          </a:prstGeom>
          <a:noFill/>
          <a:effectLst/>
        </p:spPr>
        <p:txBody>
          <a:bodyPr wrap="square" anchor="ctr" lIns="0" rIns="0" tIns="0" bIns="0">
            <a:spAutoFit/>
          </a:bodyPr>
          <a:lstStyle/>
          <a:p>
            <a:pPr algn="ctr"/>
            <a:r>
              <a:rPr sz="1300" b="1" spc="300" kern="1200">
                <a:solidFill>
                  <a:srgbClr val="1D1D1F"/>
                </a:solidFill>
                <a:latin typeface="Helvetica Neue"/>
                <a:ea typeface="微软雅黑"/>
              </a:rPr>
              <a:t>HOUSES</a:t>
            </a:r>
          </a:p>
        </p:txBody>
      </p:sp>
      <p:cxnSp>
        <p:nvCxnSpPr>
          <p:cNvPr id="8" name="Connector 7"/>
          <p:cNvCxnSpPr/>
          <p:nvPr/>
        </p:nvCxnSpPr>
        <p:spPr>
          <a:xfrm>
            <a:off x="438912000" y="527608800"/>
            <a:ext cx="18288000" cy="0"/>
          </a:xfrm>
          <a:prstGeom prst="line">
            <a:avLst/>
          </a:prstGeom>
          <a:ln w="63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75000" y="3429000"/>
            <a:ext cx="2032000" cy="46989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75000" y="3429000"/>
            <a:ext cx="2032000" cy="469899"/>
          </a:xfrm>
          <a:prstGeom prst="rect">
            <a:avLst/>
          </a:prstGeom>
          <a:noFill/>
          <a:effectLst/>
        </p:spPr>
        <p:txBody>
          <a:bodyPr wrap="square" anchor="ctr" lIns="0" rIns="0" tIns="0" bIns="0">
            <a:spAutoFit/>
          </a:bodyPr>
          <a:lstStyle/>
          <a:p>
            <a:pPr algn="ctr"/>
            <a:r>
              <a:rPr sz="1300" b="1" spc="300" kern="1200">
                <a:solidFill>
                  <a:srgbClr val="1D1D1F"/>
                </a:solidFill>
                <a:latin typeface="Helvetica Neue"/>
                <a:ea typeface="微软雅黑"/>
              </a:rPr>
              <a:t>BRIDGES</a:t>
            </a:r>
          </a:p>
        </p:txBody>
      </p:sp>
      <p:cxnSp>
        <p:nvCxnSpPr>
          <p:cNvPr id="11" name="Connector 10"/>
          <p:cNvCxnSpPr/>
          <p:nvPr/>
        </p:nvCxnSpPr>
        <p:spPr>
          <a:xfrm>
            <a:off x="749808000" y="527608800"/>
            <a:ext cx="18288000" cy="0"/>
          </a:xfrm>
          <a:prstGeom prst="line">
            <a:avLst/>
          </a:prstGeom>
          <a:ln w="63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334000" y="3429000"/>
            <a:ext cx="2032000" cy="46989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4000" y="3429000"/>
            <a:ext cx="2032000" cy="469899"/>
          </a:xfrm>
          <a:prstGeom prst="rect">
            <a:avLst/>
          </a:prstGeom>
          <a:noFill/>
          <a:effectLst/>
        </p:spPr>
        <p:txBody>
          <a:bodyPr wrap="square" anchor="ctr" lIns="0" rIns="0" tIns="0" bIns="0">
            <a:spAutoFit/>
          </a:bodyPr>
          <a:lstStyle/>
          <a:p>
            <a:pPr algn="ctr"/>
            <a:r>
              <a:rPr sz="1300" b="1" spc="300" kern="1200">
                <a:solidFill>
                  <a:srgbClr val="1D1D1F"/>
                </a:solidFill>
                <a:latin typeface="Helvetica Neue"/>
                <a:ea typeface="微软雅黑"/>
              </a:rPr>
              <a:t>STREETS</a:t>
            </a:r>
          </a:p>
        </p:txBody>
      </p:sp>
      <p:cxnSp>
        <p:nvCxnSpPr>
          <p:cNvPr id="14" name="Connector 13"/>
          <p:cNvCxnSpPr/>
          <p:nvPr/>
        </p:nvCxnSpPr>
        <p:spPr>
          <a:xfrm>
            <a:off x="1060704000" y="527608800"/>
            <a:ext cx="18288000" cy="0"/>
          </a:xfrm>
          <a:prstGeom prst="line">
            <a:avLst/>
          </a:prstGeom>
          <a:ln w="63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3000" y="3429000"/>
            <a:ext cx="2032000" cy="46989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3000" y="3429000"/>
            <a:ext cx="2032000" cy="469899"/>
          </a:xfrm>
          <a:prstGeom prst="rect">
            <a:avLst/>
          </a:prstGeom>
          <a:noFill/>
          <a:effectLst/>
        </p:spPr>
        <p:txBody>
          <a:bodyPr wrap="square" anchor="ctr" lIns="0" rIns="0" tIns="0" bIns="0">
            <a:spAutoFit/>
          </a:bodyPr>
          <a:lstStyle/>
          <a:p>
            <a:pPr algn="ctr"/>
            <a:r>
              <a:rPr sz="1300" b="1" spc="300" kern="1200">
                <a:solidFill>
                  <a:srgbClr val="1D1D1F"/>
                </a:solidFill>
                <a:latin typeface="Helvetica Neue"/>
                <a:ea typeface="微软雅黑"/>
              </a:rPr>
              <a:t>PEOPLE</a:t>
            </a:r>
          </a:p>
        </p:txBody>
      </p:sp>
      <p:cxnSp>
        <p:nvCxnSpPr>
          <p:cNvPr id="17" name="Connector 16"/>
          <p:cNvCxnSpPr/>
          <p:nvPr/>
        </p:nvCxnSpPr>
        <p:spPr>
          <a:xfrm>
            <a:off x="1371600000" y="527608800"/>
            <a:ext cx="18288000" cy="0"/>
          </a:xfrm>
          <a:prstGeom prst="line">
            <a:avLst/>
          </a:prstGeom>
          <a:ln w="6350">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652000" y="3429000"/>
            <a:ext cx="2032000" cy="469899"/>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52000" y="3429000"/>
            <a:ext cx="2032000" cy="469899"/>
          </a:xfrm>
          <a:prstGeom prst="rect">
            <a:avLst/>
          </a:prstGeom>
          <a:noFill/>
          <a:effectLst/>
        </p:spPr>
        <p:txBody>
          <a:bodyPr wrap="square" anchor="ctr" lIns="0" rIns="0" tIns="0" bIns="0">
            <a:spAutoFit/>
          </a:bodyPr>
          <a:lstStyle/>
          <a:p>
            <a:pPr algn="ctr"/>
            <a:r>
              <a:rPr sz="1300" b="1" spc="300" kern="1200">
                <a:solidFill>
                  <a:srgbClr val="1D1D1F"/>
                </a:solidFill>
                <a:latin typeface="Helvetica Neue"/>
                <a:ea typeface="微软雅黑"/>
              </a:rPr>
              <a:t>BOATS</a:t>
            </a:r>
          </a:p>
        </p:txBody>
      </p:sp>
      <p:sp>
        <p:nvSpPr>
          <p:cNvPr id="20" name="TextBox 19"/>
          <p:cNvSpPr txBox="1"/>
          <p:nvPr/>
        </p:nvSpPr>
        <p:spPr>
          <a:xfrm>
            <a:off x="762000" y="4318000"/>
            <a:ext cx="10668000" cy="292100"/>
          </a:xfrm>
          <a:prstGeom prst="rect">
            <a:avLst/>
          </a:prstGeom>
          <a:noFill/>
          <a:effectLst/>
        </p:spPr>
        <p:txBody>
          <a:bodyPr wrap="square" anchor="t" lIns="0" rIns="0" tIns="0" bIns="0">
            <a:spAutoFit/>
          </a:bodyPr>
          <a:lstStyle/>
          <a:p>
            <a:pPr algn="ctr"/>
            <a:r>
              <a:rPr sz="1700" b="1" spc="560" kern="1200">
                <a:solidFill>
                  <a:srgbClr val="1D1D1F"/>
                </a:solidFill>
                <a:latin typeface="Helvetica Neue"/>
                <a:ea typeface="微软雅黑"/>
              </a:rPr>
              <a:t>TRADITIONAL LIFE</a:t>
            </a:r>
          </a:p>
        </p:txBody>
      </p:sp>
      <p:cxnSp>
        <p:nvCxnSpPr>
          <p:cNvPr id="21" name="Connector 20"/>
          <p:cNvCxnSpPr/>
          <p:nvPr/>
        </p:nvCxnSpPr>
        <p:spPr>
          <a:xfrm>
            <a:off x="877824000" y="449884800"/>
            <a:ext cx="0" cy="43891200"/>
          </a:xfrm>
          <a:prstGeom prst="line">
            <a:avLst/>
          </a:prstGeom>
          <a:ln w="9525">
            <a:solidFill>
              <a:srgbClr val="D2D2D7"/>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7824000" y="561441600"/>
            <a:ext cx="0" cy="60350400"/>
          </a:xfrm>
          <a:prstGeom prst="line">
            <a:avLst/>
          </a:prstGeom>
          <a:ln w="9525">
            <a:solidFill>
              <a:srgbClr val="D2D2D7"/>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xmlns:p14="http://schemas.microsoft.com/office/powerpoint/2010/main" p14:dur="1000">
    <p14:morph option="byObject"/>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10" presetClass="entr" presetSubtype="0" fill="hold" nodeType="afterEffect">
                      <p:stCondLst>
                        <p:cond delay="500"/>
                      </p:stCondLst>
                      <p:childTnLst>
                        <p:animEffect transition="in" filter="fade">
                          <p:cBhvr>
                            <p:tgtEl>
                              <p:spLst>
                                <p:spTgt spid="3"/>
                              </p:spLst>
                            </p:tgtEl>
                          </p:cBhvr>
                        </p:animEffect>
                      </p:childTnLst>
                    </p:cTn>
                  </p:par>
                  <p:par>
                    <p:cTn id="5" presetID="10" presetClass="entr" presetSubtype="0" fill="hold" nodeType="afterEffect">
                      <p:stCondLst>
                        <p:cond delay="900"/>
                      </p:stCondLst>
                      <p:childTnLst>
                        <p:animEffect transition="in" filter="fade">
                          <p:cBhvr>
                            <p:tgtEl>
                              <p:spLst>
                                <p:spTgt spid="4"/>
                              </p:spLst>
                            </p:tgtEl>
                          </p:cBhvr>
                        </p:animEffect>
                      </p:childTnLst>
                    </p:cTn>
                  </p:par>
                  <p:par>
                    <p:cTn id="6" presetID="10" presetClass="entr" presetSubtype="0" fill="hold" nodeType="afterEffect">
                      <p:stCondLst>
                        <p:cond delay="1250"/>
                      </p:stCondLst>
                      <p:childTnLst>
                        <p:animEffect transition="in" filter="fade">
                          <p:cBhvr>
                            <p:tgtEl>
                              <p:spLst>
                                <p:spTgt spid="5"/>
                              </p:spLst>
                            </p:tgtEl>
                          </p:cBhvr>
                        </p:animEffect>
                      </p:childTnLst>
                    </p:cTn>
                  </p:par>
                  <p:par>
                    <p:cTn id="7" presetID="10" presetClass="entr" presetSubtype="0" fill="hold" nodeType="afterEffect">
                      <p:stCondLst>
                        <p:cond delay="1500"/>
                      </p:stCondLst>
                      <p:childTnLst>
                        <p:animEffect transition="in" filter="fade">
                          <p:cBhvr>
                            <p:tgtEl>
                              <p:spLst>
                                <p:spTgt spid="21"/>
                              </p:spLst>
                            </p:tgtEl>
                          </p:cBhvr>
                        </p:animEffect>
                      </p:childTnLst>
                    </p:cTn>
                  </p:par>
                  <p:par>
                    <p:cTn id="8" presetID="23" presetClass="entr" presetSubtype="0" fill="hold" nodeType="afterEffect">
                      <p:stCondLst>
                        <p:cond delay="1700"/>
                      </p:stCondLst>
                      <p:childTnLst>
                        <p:animEffect transition="in" filter="zoom">
                          <p:cBhvr>
                            <p:tgtEl>
                              <p:spLst>
                                <p:spTgt spid="6"/>
                              </p:spLst>
                            </p:tgtEl>
                          </p:cBhvr>
                        </p:animEffect>
                      </p:childTnLst>
                    </p:cTn>
                  </p:par>
                  <p:par>
                    <p:cTn id="9" presetID="10" presetClass="entr" presetSubtype="0" fill="hold" nodeType="afterEffect">
                      <p:stCondLst>
                        <p:cond delay="1820"/>
                      </p:stCondLst>
                      <p:childTnLst>
                        <p:animEffect transition="in" filter="fade">
                          <p:cBhvr>
                            <p:tgtEl>
                              <p:spLst>
                                <p:spTgt spid="7"/>
                              </p:spLst>
                            </p:tgtEl>
                          </p:cBhvr>
                        </p:animEffect>
                      </p:childTnLst>
                    </p:cTn>
                  </p:par>
                  <p:par>
                    <p:cTn id="10" presetID="23" presetClass="entr" presetSubtype="0" fill="hold" nodeType="afterEffect">
                      <p:stCondLst>
                        <p:cond delay="2000"/>
                      </p:stCondLst>
                      <p:childTnLst>
                        <p:animEffect transition="in" filter="zoom">
                          <p:cBhvr>
                            <p:tgtEl>
                              <p:spLst>
                                <p:spTgt spid="9"/>
                              </p:spLst>
                            </p:tgtEl>
                          </p:cBhvr>
                        </p:animEffect>
                      </p:childTnLst>
                    </p:cTn>
                  </p:par>
                  <p:par>
                    <p:cTn id="11" presetID="10" presetClass="entr" presetSubtype="0" fill="hold" nodeType="afterEffect">
                      <p:stCondLst>
                        <p:cond delay="2120"/>
                      </p:stCondLst>
                      <p:childTnLst>
                        <p:animEffect transition="in" filter="fade">
                          <p:cBhvr>
                            <p:tgtEl>
                              <p:spLst>
                                <p:spTgt spid="10"/>
                              </p:spLst>
                            </p:tgtEl>
                          </p:cBhvr>
                        </p:animEffect>
                      </p:childTnLst>
                    </p:cTn>
                  </p:par>
                  <p:par>
                    <p:cTn id="12" presetID="23" presetClass="entr" presetSubtype="0" fill="hold" nodeType="afterEffect">
                      <p:stCondLst>
                        <p:cond delay="2300"/>
                      </p:stCondLst>
                      <p:childTnLst>
                        <p:animEffect transition="in" filter="zoom">
                          <p:cBhvr>
                            <p:tgtEl>
                              <p:spLst>
                                <p:spTgt spid="12"/>
                              </p:spLst>
                            </p:tgtEl>
                          </p:cBhvr>
                        </p:animEffect>
                      </p:childTnLst>
                    </p:cTn>
                  </p:par>
                  <p:par>
                    <p:cTn id="13" presetID="10" presetClass="entr" presetSubtype="0" fill="hold" nodeType="afterEffect">
                      <p:stCondLst>
                        <p:cond delay="2420"/>
                      </p:stCondLst>
                      <p:childTnLst>
                        <p:animEffect transition="in" filter="fade">
                          <p:cBhvr>
                            <p:tgtEl>
                              <p:spLst>
                                <p:spTgt spid="13"/>
                              </p:spLst>
                            </p:tgtEl>
                          </p:cBhvr>
                        </p:animEffect>
                      </p:childTnLst>
                    </p:cTn>
                  </p:par>
                  <p:par>
                    <p:cTn id="14" presetID="23" presetClass="entr" presetSubtype="0" fill="hold" nodeType="afterEffect">
                      <p:stCondLst>
                        <p:cond delay="2600"/>
                      </p:stCondLst>
                      <p:childTnLst>
                        <p:animEffect transition="in" filter="zoom">
                          <p:cBhvr>
                            <p:tgtEl>
                              <p:spLst>
                                <p:spTgt spid="15"/>
                              </p:spLst>
                            </p:tgtEl>
                          </p:cBhvr>
                        </p:animEffect>
                      </p:childTnLst>
                    </p:cTn>
                  </p:par>
                  <p:par>
                    <p:cTn id="15" presetID="10" presetClass="entr" presetSubtype="0" fill="hold" nodeType="afterEffect">
                      <p:stCondLst>
                        <p:cond delay="2720"/>
                      </p:stCondLst>
                      <p:childTnLst>
                        <p:animEffect transition="in" filter="fade">
                          <p:cBhvr>
                            <p:tgtEl>
                              <p:spLst>
                                <p:spTgt spid="16"/>
                              </p:spLst>
                            </p:tgtEl>
                          </p:cBhvr>
                        </p:animEffect>
                      </p:childTnLst>
                    </p:cTn>
                  </p:par>
                  <p:par>
                    <p:cTn id="16" presetID="23" presetClass="entr" presetSubtype="0" fill="hold" nodeType="afterEffect">
                      <p:stCondLst>
                        <p:cond delay="2900"/>
                      </p:stCondLst>
                      <p:childTnLst>
                        <p:animEffect transition="in" filter="zoom">
                          <p:cBhvr>
                            <p:tgtEl>
                              <p:spLst>
                                <p:spTgt spid="18"/>
                              </p:spLst>
                            </p:tgtEl>
                          </p:cBhvr>
                        </p:animEffect>
                      </p:childTnLst>
                    </p:cTn>
                  </p:par>
                  <p:par>
                    <p:cTn id="17" presetID="10" presetClass="entr" presetSubtype="0" fill="hold" nodeType="afterEffect">
                      <p:stCondLst>
                        <p:cond delay="3020"/>
                      </p:stCondLst>
                      <p:childTnLst>
                        <p:animEffect transition="in" filter="fade">
                          <p:cBhvr>
                            <p:tgtEl>
                              <p:spLst>
                                <p:spTgt spid="19"/>
                              </p:spLst>
                            </p:tgtEl>
                          </p:cBhvr>
                        </p:animEffect>
                      </p:childTnLst>
                    </p:cTn>
                  </p:par>
                  <p:par>
                    <p:cTn id="18" presetID="10" presetClass="entr" presetSubtype="0" fill="hold" nodeType="afterEffect">
                      <p:stCondLst>
                        <p:cond delay="3400"/>
                      </p:stCondLst>
                      <p:childTnLst>
                        <p:animEffect transition="in" filter="fade">
                          <p:cBhvr>
                            <p:tgtEl>
                              <p:spLst>
                                <p:spTgt spid="22"/>
                              </p:spLst>
                            </p:tgtEl>
                          </p:cBhvr>
                        </p:animEffect>
                      </p:childTnLst>
                    </p:cTn>
                  </p:par>
                  <p:par>
                    <p:cTn id="19" presetID="10" presetClass="entr" presetSubtype="0" fill="hold" nodeType="afterEffect">
                      <p:stCondLst>
                        <p:cond delay="3600"/>
                      </p:stCondLst>
                      <p:childTnLst>
                        <p:animEffect transition="in" filter="fade">
                          <p:cBhvr>
                            <p:tgtEl>
                              <p:spLst>
                                <p:spTgt spid="20"/>
                              </p:spLst>
                            </p:tgtEl>
                          </p:cBhvr>
                        </p:animEffect>
                      </p:childTnLst>
                    </p:cTn>
                  </p:par>
                </p:childTnLst>
              </p:cTn>
            </p:par>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762000" y="762000"/>
            <a:ext cx="6350000" cy="342900"/>
          </a:xfrm>
          <a:prstGeom prst="rect">
            <a:avLst/>
          </a:prstGeom>
          <a:noFill/>
          <a:effectLst/>
        </p:spPr>
        <p:txBody>
          <a:bodyPr wrap="square" anchor="t" lIns="0" rIns="0" tIns="0" bIns="0">
            <a:spAutoFit/>
          </a:bodyPr>
          <a:lstStyle/>
          <a:p>
            <a:pPr algn="l"/>
            <a:r>
              <a:rPr sz="4000" b="1" spc="-60" kern="1200">
                <a:solidFill>
                  <a:srgbClr val="1D1D1F"/>
                </a:solidFill>
                <a:latin typeface="Helvetica Neue"/>
                <a:ea typeface="微软雅黑"/>
              </a:rPr>
              <a:t>3 FACTS ABOUT WUZHEN</a:t>
            </a:r>
          </a:p>
        </p:txBody>
      </p:sp>
      <p:sp>
        <p:nvSpPr>
          <p:cNvPr id="3" name="TextBox 2"/>
          <p:cNvSpPr txBox="1"/>
          <p:nvPr/>
        </p:nvSpPr>
        <p:spPr>
          <a:xfrm>
            <a:off x="762000" y="2095499"/>
            <a:ext cx="4826000" cy="2349500"/>
          </a:xfrm>
          <a:prstGeom prst="rect">
            <a:avLst/>
          </a:prstGeom>
          <a:noFill/>
          <a:effectLst/>
        </p:spPr>
        <p:txBody>
          <a:bodyPr wrap="square" anchor="t" lIns="0" rIns="0" tIns="0" bIns="0">
            <a:spAutoFit/>
          </a:bodyPr>
          <a:lstStyle/>
          <a:p>
            <a:pPr algn="l"/>
            <a:r>
              <a:rPr sz="18000" b="1" spc="-2200" kern="1200">
                <a:solidFill>
                  <a:srgbClr val="1D1D1F"/>
                </a:solidFill>
                <a:latin typeface="Helvetica Neue"/>
                <a:ea typeface="微软雅黑"/>
              </a:rPr>
              <a:t>72</a:t>
            </a:r>
          </a:p>
        </p:txBody>
      </p:sp>
      <p:sp>
        <p:nvSpPr>
          <p:cNvPr id="4" name="TextBox 3"/>
          <p:cNvSpPr txBox="1"/>
          <p:nvPr/>
        </p:nvSpPr>
        <p:spPr>
          <a:xfrm>
            <a:off x="762000" y="4699000"/>
            <a:ext cx="4572000" cy="635000"/>
          </a:xfrm>
          <a:prstGeom prst="rect">
            <a:avLst/>
          </a:prstGeom>
          <a:noFill/>
          <a:effectLst/>
        </p:spPr>
        <p:txBody>
          <a:bodyPr wrap="square" anchor="t" lIns="0" rIns="0" tIns="0" bIns="0">
            <a:spAutoFit/>
          </a:bodyPr>
          <a:lstStyle/>
          <a:p>
            <a:pPr algn="l"/>
            <a:r>
              <a:rPr sz="1700" b="1" kern="1200">
                <a:solidFill>
                  <a:srgbClr val="1D1D1F"/>
                </a:solidFill>
                <a:latin typeface="Helvetica Neue"/>
                <a:ea typeface="微软雅黑"/>
              </a:rPr>
              <a:t>Ancient stone bridges</a:t>
            </a:r>
          </a:p>
          <a:p>
            <a:pPr algn="l"/>
            <a:r>
              <a:rPr sz="1300" b="0" kern="1200">
                <a:solidFill>
                  <a:srgbClr val="6E6E73"/>
                </a:solidFill>
                <a:latin typeface="Helvetica Neue"/>
                <a:ea typeface="微软雅黑"/>
              </a:rPr>
              <a:t>Xizha has nearly 10,000 metres of waterways and 72 ancient stone bridges.</a:t>
            </a:r>
          </a:p>
        </p:txBody>
      </p:sp>
      <p:cxnSp>
        <p:nvCxnSpPr>
          <p:cNvPr id="5" name="Connector 4"/>
          <p:cNvCxnSpPr/>
          <p:nvPr/>
        </p:nvCxnSpPr>
        <p:spPr>
          <a:xfrm>
            <a:off x="841248000" y="292608000"/>
            <a:ext cx="0" cy="475488000"/>
          </a:xfrm>
          <a:prstGeom prst="line">
            <a:avLst/>
          </a:prstGeom>
          <a:ln w="9525">
            <a:solidFill>
              <a:srgbClr val="D2D2D7"/>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50000" y="2286000"/>
            <a:ext cx="5207000" cy="952500"/>
          </a:xfrm>
          <a:prstGeom prst="rect">
            <a:avLst/>
          </a:prstGeom>
          <a:noFill/>
          <a:effectLst/>
        </p:spPr>
        <p:txBody>
          <a:bodyPr wrap="square" anchor="t" lIns="0" rIns="0" tIns="0" bIns="0">
            <a:spAutoFit/>
          </a:bodyPr>
          <a:lstStyle/>
          <a:p>
            <a:pPr algn="l"/>
            <a:r>
              <a:rPr sz="1200" b="1" spc="300" kern="1200">
                <a:solidFill>
                  <a:srgbClr val="667F80"/>
                </a:solidFill>
                <a:latin typeface="Helvetica Neue"/>
                <a:ea typeface="微软雅黑"/>
              </a:rPr>
              <a:t>01  CROSS-SHAPED WATER</a:t>
            </a:r>
          </a:p>
          <a:p>
            <a:pPr algn="l"/>
            <a:r>
              <a:rPr sz="1500" b="0" kern="1200">
                <a:solidFill>
                  <a:srgbClr val="1D1D1F"/>
                </a:solidFill>
                <a:latin typeface="Helvetica Neue"/>
                <a:ea typeface="微软雅黑"/>
              </a:rPr>
              <a:t>Water divides the town into zones — and connects them.</a:t>
            </a:r>
          </a:p>
        </p:txBody>
      </p:sp>
      <p:sp>
        <p:nvSpPr>
          <p:cNvPr id="7" name="TextBox 6"/>
          <p:cNvSpPr txBox="1"/>
          <p:nvPr/>
        </p:nvSpPr>
        <p:spPr>
          <a:xfrm>
            <a:off x="6350000" y="3429000"/>
            <a:ext cx="5207000" cy="952500"/>
          </a:xfrm>
          <a:prstGeom prst="rect">
            <a:avLst/>
          </a:prstGeom>
          <a:noFill/>
          <a:effectLst/>
        </p:spPr>
        <p:txBody>
          <a:bodyPr wrap="square" anchor="t" lIns="0" rIns="0" tIns="0" bIns="0">
            <a:spAutoFit/>
          </a:bodyPr>
          <a:lstStyle/>
          <a:p>
            <a:pPr algn="l"/>
            <a:r>
              <a:rPr sz="1200" b="1" spc="300" kern="1200">
                <a:solidFill>
                  <a:srgbClr val="667F80"/>
                </a:solidFill>
                <a:latin typeface="Helvetica Neue"/>
                <a:ea typeface="微软雅黑"/>
              </a:rPr>
              <a:t>02  NEARLY 10,000 METRES OF WATERWAYS</a:t>
            </a:r>
          </a:p>
          <a:p>
            <a:pPr algn="l"/>
            <a:r>
              <a:rPr sz="1500" b="0" kern="1200">
                <a:solidFill>
                  <a:srgbClr val="1D1D1F"/>
                </a:solidFill>
                <a:latin typeface="Helvetica Neue"/>
                <a:ea typeface="微软雅黑"/>
              </a:rPr>
              <a:t>The canals are the town's oldest road network.</a:t>
            </a:r>
          </a:p>
        </p:txBody>
      </p:sp>
      <p:sp>
        <p:nvSpPr>
          <p:cNvPr id="8" name="TextBox 7"/>
          <p:cNvSpPr txBox="1"/>
          <p:nvPr/>
        </p:nvSpPr>
        <p:spPr>
          <a:xfrm>
            <a:off x="6350000" y="4572000"/>
            <a:ext cx="5207000" cy="952500"/>
          </a:xfrm>
          <a:prstGeom prst="rect">
            <a:avLst/>
          </a:prstGeom>
          <a:noFill/>
          <a:effectLst/>
        </p:spPr>
        <p:txBody>
          <a:bodyPr wrap="square" anchor="t" lIns="0" rIns="0" tIns="0" bIns="0">
            <a:spAutoFit/>
          </a:bodyPr>
          <a:lstStyle/>
          <a:p>
            <a:pPr algn="l"/>
            <a:r>
              <a:rPr sz="1200" b="1" spc="300" kern="1200">
                <a:solidFill>
                  <a:srgbClr val="667F80"/>
                </a:solidFill>
                <a:latin typeface="Helvetica Neue"/>
                <a:ea typeface="微软雅黑"/>
              </a:rPr>
              <a:t>03  WATER &amp; EVERYDAY LIFE</a:t>
            </a:r>
          </a:p>
          <a:p>
            <a:pPr algn="l"/>
            <a:r>
              <a:rPr sz="1500" b="0" kern="1200">
                <a:solidFill>
                  <a:srgbClr val="1D1D1F"/>
                </a:solidFill>
                <a:latin typeface="Helvetica Neue"/>
                <a:ea typeface="微软雅黑"/>
              </a:rPr>
              <a:t>Local people used boats for travel, transportation and trade.</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23" presetClass="entr" presetSubtype="0" fill="hold" nodeType="afterEffect">
                      <p:stCondLst>
                        <p:cond delay="700"/>
                      </p:stCondLst>
                      <p:childTnLst>
                        <p:animEffect transition="in" filter="zoom">
                          <p:cBhvr>
                            <p:tgtEl>
                              <p:spLst>
                                <p:spTgt spid="3"/>
                              </p:spLst>
                            </p:tgtEl>
                          </p:cBhvr>
                        </p:animEffect>
                      </p:childTnLst>
                    </p:cTn>
                  </p:par>
                  <p:par>
                    <p:cTn id="5" presetID="10" presetClass="entr" presetSubtype="0" fill="hold" nodeType="afterEffect">
                      <p:stCondLst>
                        <p:cond delay="1500"/>
                      </p:stCondLst>
                      <p:childTnLst>
                        <p:animEffect transition="in" filter="fade">
                          <p:cBhvr>
                            <p:tgtEl>
                              <p:spLst>
                                <p:spTgt spid="4"/>
                              </p:spLst>
                            </p:tgtEl>
                          </p:cBhvr>
                        </p:animEffect>
                      </p:childTnLst>
                    </p:cTn>
                  </p:par>
                  <p:par>
                    <p:cTn id="6" presetID="10" presetClass="entr" presetSubtype="0" fill="hold" nodeType="afterEffect">
                      <p:stCondLst>
                        <p:cond delay="1900"/>
                      </p:stCondLst>
                      <p:childTnLst>
                        <p:animEffect transition="in" filter="fade">
                          <p:cBhvr>
                            <p:tgtEl>
                              <p:spLst>
                                <p:spTgt spid="6"/>
                              </p:spLst>
                            </p:tgtEl>
                          </p:cBhvr>
                        </p:animEffect>
                      </p:childTnLst>
                    </p:cTn>
                  </p:par>
                  <p:par>
                    <p:cTn id="7" presetID="10" presetClass="entr" presetSubtype="0" fill="hold" nodeType="afterEffect">
                      <p:stCondLst>
                        <p:cond delay="2200"/>
                      </p:stCondLst>
                      <p:childTnLst>
                        <p:animEffect transition="in" filter="fade">
                          <p:cBhvr>
                            <p:tgtEl>
                              <p:spLst>
                                <p:spTgt spid="7"/>
                              </p:spLst>
                            </p:tgtEl>
                          </p:cBhvr>
                        </p:animEffect>
                      </p:childTnLst>
                    </p:cTn>
                  </p:par>
                  <p:par>
                    <p:cTn id="8" presetID="10" presetClass="entr" presetSubtype="0" fill="hold" nodeType="afterEffect">
                      <p:stCondLst>
                        <p:cond delay="2500"/>
                      </p:stCondLst>
                      <p:childTnLst>
                        <p:animEffect transition="in" filter="fade">
                          <p:cBhvr>
                            <p:tgtEl>
                              <p:spLst>
                                <p:spTgt spid="8"/>
                              </p:spLst>
                            </p:tgtEl>
                          </p:cBhvr>
                        </p:animEffect>
                      </p:childTnLst>
                    </p:cTn>
                  </p:par>
                </p:childTnLst>
              </p:cTn>
            </p:par>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825500"/>
            <a:ext cx="6350000" cy="342900"/>
          </a:xfrm>
          <a:prstGeom prst="rect">
            <a:avLst/>
          </a:prstGeom>
          <a:noFill/>
          <a:effectLst/>
        </p:spPr>
        <p:txBody>
          <a:bodyPr wrap="square" anchor="t" lIns="0" rIns="0" tIns="0" bIns="0">
            <a:spAutoFit/>
          </a:bodyPr>
          <a:lstStyle/>
          <a:p>
            <a:pPr algn="l"/>
            <a:r>
              <a:rPr sz="4200" b="1" spc="-60" kern="1200">
                <a:solidFill>
                  <a:srgbClr val="1D1D1F"/>
                </a:solidFill>
                <a:latin typeface="Helvetica Neue"/>
                <a:ea typeface="微软雅黑"/>
              </a:rPr>
              <a:t>PAST → PRESENT</a:t>
            </a:r>
          </a:p>
        </p:txBody>
      </p:sp>
      <p:sp>
        <p:nvSpPr>
          <p:cNvPr id="3" name="TextBox 2"/>
          <p:cNvSpPr txBox="1"/>
          <p:nvPr/>
        </p:nvSpPr>
        <p:spPr>
          <a:xfrm>
            <a:off x="762000" y="1308100"/>
            <a:ext cx="6350000" cy="215900"/>
          </a:xfrm>
          <a:prstGeom prst="rect">
            <a:avLst/>
          </a:prstGeom>
          <a:noFill/>
          <a:effectLst/>
        </p:spPr>
        <p:txBody>
          <a:bodyPr wrap="square" anchor="t" lIns="0" rIns="0" tIns="0" bIns="0">
            <a:spAutoFit/>
          </a:bodyPr>
          <a:lstStyle/>
          <a:p>
            <a:pPr algn="l"/>
            <a:r>
              <a:rPr sz="1600" b="0" kern="1200">
                <a:solidFill>
                  <a:srgbClr val="6E6E73"/>
                </a:solidFill>
                <a:latin typeface="Helvetica Neue"/>
                <a:ea typeface="微软雅黑"/>
              </a:rPr>
              <a:t>From everyday life to cultural experience.</a:t>
            </a:r>
          </a:p>
        </p:txBody>
      </p:sp>
      <p:sp>
        <p:nvSpPr>
          <p:cNvPr id="4" name="TextBox 3"/>
          <p:cNvSpPr txBox="1"/>
          <p:nvPr/>
        </p:nvSpPr>
        <p:spPr>
          <a:xfrm>
            <a:off x="762000" y="2540000"/>
            <a:ext cx="3302000" cy="254000"/>
          </a:xfrm>
          <a:prstGeom prst="rect">
            <a:avLst/>
          </a:prstGeom>
          <a:noFill/>
          <a:effectLst/>
        </p:spPr>
        <p:txBody>
          <a:bodyPr wrap="square" anchor="t" lIns="0" rIns="0" tIns="0" bIns="0">
            <a:spAutoFit/>
          </a:bodyPr>
          <a:lstStyle/>
          <a:p>
            <a:pPr algn="l"/>
            <a:r>
              <a:rPr sz="2400" b="1" spc="600" kern="1200">
                <a:solidFill>
                  <a:srgbClr val="1D1D1F"/>
                </a:solidFill>
                <a:latin typeface="Helvetica Neue"/>
                <a:ea typeface="微软雅黑"/>
              </a:rPr>
              <a:t>PAST</a:t>
            </a:r>
          </a:p>
        </p:txBody>
      </p:sp>
      <p:sp>
        <p:nvSpPr>
          <p:cNvPr id="5" name="TextBox 4"/>
          <p:cNvSpPr txBox="1"/>
          <p:nvPr/>
        </p:nvSpPr>
        <p:spPr>
          <a:xfrm>
            <a:off x="762000" y="2895600"/>
            <a:ext cx="3302000" cy="1143000"/>
          </a:xfrm>
          <a:prstGeom prst="rect">
            <a:avLst/>
          </a:prstGeom>
          <a:noFill/>
          <a:effectLst/>
        </p:spPr>
        <p:txBody>
          <a:bodyPr wrap="square" anchor="t" lIns="0" rIns="0" tIns="0" bIns="0">
            <a:spAutoFit/>
          </a:bodyPr>
          <a:lstStyle/>
          <a:p>
            <a:pPr algn="l">
              <a:lnSpc>
                <a:spcPct val="150000"/>
              </a:lnSpc>
            </a:pPr>
            <a:r>
              <a:rPr sz="1500" b="0" kern="1200">
                <a:solidFill>
                  <a:srgbClr val="6E6E73"/>
                </a:solidFill>
                <a:latin typeface="Helvetica Neue"/>
                <a:ea typeface="微软雅黑"/>
              </a:rPr>
              <a:t>Boats</a:t>
            </a:r>
          </a:p>
          <a:p>
            <a:pPr algn="l">
              <a:lnSpc>
                <a:spcPct val="150000"/>
              </a:lnSpc>
            </a:pPr>
            <a:r>
              <a:rPr sz="1500" b="0" kern="1200">
                <a:solidFill>
                  <a:srgbClr val="6E6E73"/>
                </a:solidFill>
                <a:latin typeface="Helvetica Neue"/>
                <a:ea typeface="微软雅黑"/>
              </a:rPr>
              <a:t>Transportation</a:t>
            </a:r>
          </a:p>
          <a:p>
            <a:pPr algn="l">
              <a:lnSpc>
                <a:spcPct val="150000"/>
              </a:lnSpc>
            </a:pPr>
            <a:r>
              <a:rPr sz="1500" b="0" kern="1200">
                <a:solidFill>
                  <a:srgbClr val="6E6E73"/>
                </a:solidFill>
                <a:latin typeface="Helvetica Neue"/>
                <a:ea typeface="微软雅黑"/>
              </a:rPr>
              <a:t>Trade</a:t>
            </a:r>
          </a:p>
          <a:p>
            <a:pPr algn="l">
              <a:lnSpc>
                <a:spcPct val="150000"/>
              </a:lnSpc>
            </a:pPr>
            <a:r>
              <a:rPr sz="1500" b="0" kern="1200">
                <a:solidFill>
                  <a:srgbClr val="6E6E73"/>
                </a:solidFill>
                <a:latin typeface="Helvetica Neue"/>
                <a:ea typeface="微软雅黑"/>
              </a:rPr>
              <a:t>Daily life</a:t>
            </a:r>
          </a:p>
        </p:txBody>
      </p:sp>
      <p:sp>
        <p:nvSpPr>
          <p:cNvPr id="6" name="TextBox 5"/>
          <p:cNvSpPr txBox="1"/>
          <p:nvPr/>
        </p:nvSpPr>
        <p:spPr>
          <a:xfrm>
            <a:off x="4127500" y="2540000"/>
            <a:ext cx="3937000" cy="254000"/>
          </a:xfrm>
          <a:prstGeom prst="rect">
            <a:avLst/>
          </a:prstGeom>
          <a:noFill/>
          <a:effectLst/>
        </p:spPr>
        <p:txBody>
          <a:bodyPr wrap="square" anchor="t" lIns="0" rIns="0" tIns="0" bIns="0">
            <a:spAutoFit/>
          </a:bodyPr>
          <a:lstStyle/>
          <a:p>
            <a:pPr algn="ctr"/>
            <a:r>
              <a:rPr sz="2000" b="1" spc="900" kern="1200">
                <a:solidFill>
                  <a:srgbClr val="667F80"/>
                </a:solidFill>
                <a:latin typeface="Helvetica Neue"/>
                <a:ea typeface="微软雅黑"/>
              </a:rPr>
              <a:t>WATER</a:t>
            </a:r>
          </a:p>
        </p:txBody>
      </p:sp>
      <p:cxnSp>
        <p:nvCxnSpPr>
          <p:cNvPr id="7" name="Connector 6"/>
          <p:cNvCxnSpPr/>
          <p:nvPr/>
        </p:nvCxnSpPr>
        <p:spPr>
          <a:xfrm>
            <a:off x="182880000" y="640080000"/>
            <a:ext cx="1389888000" cy="0"/>
          </a:xfrm>
          <a:prstGeom prst="line">
            <a:avLst/>
          </a:prstGeom>
          <a:ln w="19050">
            <a:solidFill>
              <a:srgbClr val="667F80">
                <a:alpha val="500"/>
              </a:srgbClr>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28000" y="2540000"/>
            <a:ext cx="3302000" cy="254000"/>
          </a:xfrm>
          <a:prstGeom prst="rect">
            <a:avLst/>
          </a:prstGeom>
          <a:noFill/>
          <a:effectLst/>
        </p:spPr>
        <p:txBody>
          <a:bodyPr wrap="square" anchor="t" lIns="0" rIns="0" tIns="0" bIns="0">
            <a:spAutoFit/>
          </a:bodyPr>
          <a:lstStyle/>
          <a:p>
            <a:pPr algn="r"/>
            <a:r>
              <a:rPr sz="2400" b="1" spc="600" kern="1200">
                <a:solidFill>
                  <a:srgbClr val="1D1D1F"/>
                </a:solidFill>
                <a:latin typeface="Helvetica Neue"/>
                <a:ea typeface="微软雅黑"/>
              </a:rPr>
              <a:t>PRESENT</a:t>
            </a:r>
          </a:p>
        </p:txBody>
      </p:sp>
      <p:sp>
        <p:nvSpPr>
          <p:cNvPr id="9" name="TextBox 8"/>
          <p:cNvSpPr txBox="1"/>
          <p:nvPr/>
        </p:nvSpPr>
        <p:spPr>
          <a:xfrm>
            <a:off x="8128000" y="2895600"/>
            <a:ext cx="3302000" cy="1143000"/>
          </a:xfrm>
          <a:prstGeom prst="rect">
            <a:avLst/>
          </a:prstGeom>
          <a:noFill/>
          <a:effectLst/>
        </p:spPr>
        <p:txBody>
          <a:bodyPr wrap="square" anchor="t" lIns="0" rIns="0" tIns="0" bIns="0">
            <a:spAutoFit/>
          </a:bodyPr>
          <a:lstStyle/>
          <a:p>
            <a:pPr algn="r">
              <a:lnSpc>
                <a:spcPct val="150000"/>
              </a:lnSpc>
            </a:pPr>
            <a:r>
              <a:rPr sz="1500" b="0" kern="1200">
                <a:solidFill>
                  <a:srgbClr val="6E6E73"/>
                </a:solidFill>
                <a:latin typeface="Helvetica Neue"/>
                <a:ea typeface="微软雅黑"/>
              </a:rPr>
              <a:t>Tourism</a:t>
            </a:r>
          </a:p>
          <a:p>
            <a:pPr algn="r">
              <a:lnSpc>
                <a:spcPct val="150000"/>
              </a:lnSpc>
            </a:pPr>
            <a:r>
              <a:rPr sz="1500" b="0" kern="1200">
                <a:solidFill>
                  <a:srgbClr val="6E6E73"/>
                </a:solidFill>
                <a:latin typeface="Helvetica Neue"/>
                <a:ea typeface="微软雅黑"/>
              </a:rPr>
              <a:t>Sightseeing</a:t>
            </a:r>
          </a:p>
          <a:p>
            <a:pPr algn="r">
              <a:lnSpc>
                <a:spcPct val="150000"/>
              </a:lnSpc>
            </a:pPr>
            <a:r>
              <a:rPr sz="1500" b="0" kern="1200">
                <a:solidFill>
                  <a:srgbClr val="6E6E73"/>
                </a:solidFill>
                <a:latin typeface="Helvetica Neue"/>
                <a:ea typeface="微软雅黑"/>
              </a:rPr>
              <a:t>Cultural experience</a:t>
            </a:r>
          </a:p>
        </p:txBody>
      </p:sp>
      <p:sp>
        <p:nvSpPr>
          <p:cNvPr id="10" name="TextBox 9"/>
          <p:cNvSpPr txBox="1"/>
          <p:nvPr/>
        </p:nvSpPr>
        <p:spPr>
          <a:xfrm>
            <a:off x="762000" y="5016500"/>
            <a:ext cx="10668000" cy="381000"/>
          </a:xfrm>
          <a:prstGeom prst="rect">
            <a:avLst/>
          </a:prstGeom>
          <a:noFill/>
          <a:effectLst/>
        </p:spPr>
        <p:txBody>
          <a:bodyPr wrap="square" anchor="t" lIns="0" rIns="0" tIns="0" bIns="0">
            <a:spAutoFit/>
          </a:bodyPr>
          <a:lstStyle/>
          <a:p>
            <a:pPr algn="ctr"/>
            <a:r>
              <a:rPr sz="1500" b="0" kern="1200">
                <a:solidFill>
                  <a:srgbClr val="A1A1A6"/>
                </a:solidFill>
                <a:latin typeface="Helvetica Neue"/>
                <a:ea typeface="微软雅黑"/>
              </a:rPr>
              <a:t>The water connects two eras.</a:t>
            </a:r>
          </a:p>
        </p:txBody>
      </p:sp>
    </p:spTree>
  </p:cSld>
  <p:clrMapOvr>
    <a:masterClrMapping/>
  </p:clrMapOvr>
  <p:transition xmlns:p14="http://schemas.microsoft.com/office/powerpoint/2010/main" spd="med">
    <p:fade/>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10" presetClass="entr" presetSubtype="0" fill="hold" nodeType="afterEffect">
                      <p:stCondLst>
                        <p:cond delay="500"/>
                      </p:stCondLst>
                      <p:childTnLst>
                        <p:animEffect transition="in" filter="fade">
                          <p:cBhvr>
                            <p:tgtEl>
                              <p:spLst>
                                <p:spTgt spid="3"/>
                              </p:spLst>
                            </p:tgtEl>
                          </p:cBhvr>
                        </p:animEffect>
                      </p:childTnLst>
                    </p:cTn>
                  </p:par>
                  <p:par>
                    <p:cTn id="5" presetID="10" presetClass="entr" presetSubtype="0" fill="hold" nodeType="afterEffect">
                      <p:stCondLst>
                        <p:cond delay="800"/>
                      </p:stCondLst>
                      <p:childTnLst>
                        <p:animEffect transition="in" filter="fade">
                          <p:cBhvr>
                            <p:tgtEl>
                              <p:spLst>
                                <p:spTgt spid="4"/>
                              </p:spLst>
                            </p:tgtEl>
                          </p:cBhvr>
                        </p:animEffect>
                      </p:childTnLst>
                    </p:cTn>
                  </p:par>
                  <p:par>
                    <p:cTn id="6" presetID="10" presetClass="entr" presetSubtype="0" fill="hold" nodeType="afterEffect">
                      <p:stCondLst>
                        <p:cond delay="1000"/>
                      </p:stCondLst>
                      <p:childTnLst>
                        <p:animEffect transition="in" filter="fade">
                          <p:cBhvr>
                            <p:tgtEl>
                              <p:spLst>
                                <p:spTgt spid="5"/>
                              </p:spLst>
                            </p:tgtEl>
                          </p:cBhvr>
                        </p:animEffect>
                      </p:childTnLst>
                    </p:cTn>
                  </p:par>
                  <p:par>
                    <p:cTn id="7" presetID="22" presetClass="entr" presetSubtype="4" fill="hold" nodeType="afterEffect">
                      <p:stCondLst>
                        <p:cond delay="1500"/>
                      </p:stCondLst>
                      <p:childTnLst>
                        <p:animEffect transition="in" filter="wipe(down)">
                          <p:cBhvr>
                            <p:tgtEl>
                              <p:spLst>
                                <p:spTgt spid="7"/>
                              </p:spLst>
                            </p:tgtEl>
                          </p:cBhvr>
                        </p:animEffect>
                      </p:childTnLst>
                    </p:cTn>
                  </p:par>
                  <p:par>
                    <p:cTn id="8" presetID="10" presetClass="entr" presetSubtype="0" fill="hold" nodeType="afterEffect">
                      <p:stCondLst>
                        <p:cond delay="2000"/>
                      </p:stCondLst>
                      <p:childTnLst>
                        <p:animEffect transition="in" filter="fade">
                          <p:cBhvr>
                            <p:tgtEl>
                              <p:spLst>
                                <p:spTgt spid="6"/>
                              </p:spLst>
                            </p:tgtEl>
                          </p:cBhvr>
                        </p:animEffect>
                      </p:childTnLst>
                    </p:cTn>
                  </p:par>
                  <p:par>
                    <p:cTn id="9" presetID="10" presetClass="entr" presetSubtype="0" fill="hold" nodeType="afterEffect">
                      <p:stCondLst>
                        <p:cond delay="2400"/>
                      </p:stCondLst>
                      <p:childTnLst>
                        <p:animEffect transition="in" filter="fade">
                          <p:cBhvr>
                            <p:tgtEl>
                              <p:spLst>
                                <p:spTgt spid="8"/>
                              </p:spLst>
                            </p:tgtEl>
                          </p:cBhvr>
                        </p:animEffect>
                      </p:childTnLst>
                    </p:cTn>
                  </p:par>
                  <p:par>
                    <p:cTn id="10" presetID="10" presetClass="entr" presetSubtype="0" fill="hold" nodeType="afterEffect">
                      <p:stCondLst>
                        <p:cond delay="2600"/>
                      </p:stCondLst>
                      <p:childTnLst>
                        <p:animEffect transition="in" filter="fade">
                          <p:cBhvr>
                            <p:tgtEl>
                              <p:spLst>
                                <p:spTgt spid="9"/>
                              </p:spLst>
                            </p:tgtEl>
                          </p:cBhvr>
                        </p:animEffect>
                      </p:childTnLst>
                    </p:cTn>
                  </p:par>
                  <p:par>
                    <p:cTn id="11" presetID="10" presetClass="entr" presetSubtype="0" fill="hold" nodeType="afterEffect">
                      <p:stCondLst>
                        <p:cond delay="3200"/>
                      </p:stCondLst>
                      <p:childTnLst>
                        <p:animEffect transition="in" filter="fade">
                          <p:cBhvr>
                            <p:tgtEl>
                              <p:spLst>
                                <p:spTgt spid="10"/>
                              </p:spLst>
                            </p:tgtEl>
                          </p:cBhvr>
                        </p:animEffect>
                      </p:childTnLst>
                    </p:cTn>
                  </p:par>
                </p:childTnLst>
              </p:cTn>
            </p:par>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762000" y="533400"/>
            <a:ext cx="6350000" cy="342900"/>
          </a:xfrm>
          <a:prstGeom prst="rect">
            <a:avLst/>
          </a:prstGeom>
          <a:noFill/>
          <a:effectLst/>
        </p:spPr>
        <p:txBody>
          <a:bodyPr wrap="square" anchor="t" lIns="0" rIns="0" tIns="0" bIns="0">
            <a:spAutoFit/>
          </a:bodyPr>
          <a:lstStyle/>
          <a:p>
            <a:pPr algn="l"/>
            <a:r>
              <a:rPr sz="4200" b="1" spc="-60" kern="1200">
                <a:solidFill>
                  <a:srgbClr val="1D1D1F"/>
                </a:solidFill>
                <a:latin typeface="Helvetica Neue"/>
                <a:ea typeface="微软雅黑"/>
              </a:rPr>
              <a:t>OUR TEAM</a:t>
            </a:r>
          </a:p>
        </p:txBody>
      </p:sp>
      <p:sp>
        <p:nvSpPr>
          <p:cNvPr id="3" name="TextBox 2"/>
          <p:cNvSpPr txBox="1"/>
          <p:nvPr/>
        </p:nvSpPr>
        <p:spPr>
          <a:xfrm>
            <a:off x="762000" y="1003300"/>
            <a:ext cx="6350000" cy="215900"/>
          </a:xfrm>
          <a:prstGeom prst="rect">
            <a:avLst/>
          </a:prstGeom>
          <a:noFill/>
          <a:effectLst/>
        </p:spPr>
        <p:txBody>
          <a:bodyPr wrap="square" anchor="t" lIns="0" rIns="0" tIns="0" bIns="0">
            <a:spAutoFit/>
          </a:bodyPr>
          <a:lstStyle/>
          <a:p>
            <a:pPr algn="l"/>
            <a:r>
              <a:rPr sz="1600" b="0" kern="1200">
                <a:solidFill>
                  <a:srgbClr val="6E6E73"/>
                </a:solidFill>
                <a:latin typeface="Helvetica Neue"/>
                <a:ea typeface="微软雅黑"/>
              </a:rPr>
              <a:t>Six people. One project.</a:t>
            </a:r>
          </a:p>
        </p:txBody>
      </p:sp>
      <p:pic>
        <p:nvPicPr>
          <p:cNvPr id="4" name="Picture 3" descr="team_group.jpg"/>
          <p:cNvPicPr>
            <a:picLocks noChangeAspect="1"/>
          </p:cNvPicPr>
          <p:nvPr/>
        </p:nvPicPr>
        <p:blipFill>
          <a:blip r:embed="rId2"/>
          <a:stretch>
            <a:fillRect/>
          </a:stretch>
        </p:blipFill>
        <p:spPr>
          <a:xfrm>
            <a:off x="761999" y="0"/>
            <a:ext cx="10668000" cy="4953000"/>
          </a:xfrm>
          <a:prstGeom prst="rect">
            <a:avLst/>
          </a:prstGeom>
          <a:effectLst/>
        </p:spPr>
      </p:pic>
      <p:sp>
        <p:nvSpPr>
          <p:cNvPr id="5" name="Rectangle 4"/>
          <p:cNvSpPr/>
          <p:nvPr/>
        </p:nvSpPr>
        <p:spPr>
          <a:xfrm>
            <a:off x="0" y="4953000"/>
            <a:ext cx="12191695" cy="190500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am-m2-av-200x200-jpg.jpg"/>
          <p:cNvPicPr>
            <a:picLocks noChangeAspect="1"/>
          </p:cNvPicPr>
          <p:nvPr/>
        </p:nvPicPr>
        <p:blipFill>
          <a:blip r:embed="rId3"/>
          <a:stretch>
            <a:fillRect/>
          </a:stretch>
        </p:blipFill>
        <p:spPr>
          <a:xfrm>
            <a:off x="952500" y="5156200"/>
            <a:ext cx="635000" cy="635000"/>
          </a:xfrm>
          <a:prstGeom prst="rect">
            <a:avLst/>
          </a:prstGeom>
          <a:effectLst/>
        </p:spPr>
      </p:pic>
      <p:sp>
        <p:nvSpPr>
          <p:cNvPr id="7" name="TextBox 6"/>
          <p:cNvSpPr txBox="1"/>
          <p:nvPr/>
        </p:nvSpPr>
        <p:spPr>
          <a:xfrm>
            <a:off x="603250"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蒋盛熠</a:t>
            </a:r>
          </a:p>
          <a:p>
            <a:pPr algn="ctr"/>
            <a:r>
              <a:rPr sz="1000" b="0" spc="160" kern="1200">
                <a:solidFill>
                  <a:srgbClr val="A1A1A6"/>
                </a:solidFill>
                <a:latin typeface="Helvetica Neue"/>
                <a:ea typeface="微软雅黑"/>
              </a:rPr>
              <a:t>Project lead</a:t>
            </a:r>
          </a:p>
        </p:txBody>
      </p:sp>
      <p:pic>
        <p:nvPicPr>
          <p:cNvPr id="8" name="Picture 7" descr="team-m1-av-200x200-jpg.jpg"/>
          <p:cNvPicPr>
            <a:picLocks noChangeAspect="1"/>
          </p:cNvPicPr>
          <p:nvPr/>
        </p:nvPicPr>
        <p:blipFill>
          <a:blip r:embed="rId4"/>
          <a:stretch>
            <a:fillRect/>
          </a:stretch>
        </p:blipFill>
        <p:spPr>
          <a:xfrm>
            <a:off x="2654300" y="5156200"/>
            <a:ext cx="635000" cy="635000"/>
          </a:xfrm>
          <a:prstGeom prst="rect">
            <a:avLst/>
          </a:prstGeom>
          <a:effectLst/>
        </p:spPr>
      </p:pic>
      <p:sp>
        <p:nvSpPr>
          <p:cNvPr id="9" name="TextBox 8"/>
          <p:cNvSpPr txBox="1"/>
          <p:nvPr/>
        </p:nvSpPr>
        <p:spPr>
          <a:xfrm>
            <a:off x="2305050"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汪瀚宇</a:t>
            </a:r>
          </a:p>
          <a:p>
            <a:pPr algn="ctr"/>
            <a:r>
              <a:rPr sz="1000" b="0" spc="160" kern="1200">
                <a:solidFill>
                  <a:srgbClr val="A1A1A6"/>
                </a:solidFill>
                <a:latin typeface="Helvetica Neue"/>
                <a:ea typeface="微软雅黑"/>
              </a:rPr>
              <a:t>Research &amp; mapping</a:t>
            </a:r>
          </a:p>
        </p:txBody>
      </p:sp>
      <p:pic>
        <p:nvPicPr>
          <p:cNvPr id="10" name="Picture 9" descr="team-m3-av-200x200-jpg.jpg"/>
          <p:cNvPicPr>
            <a:picLocks noChangeAspect="1"/>
          </p:cNvPicPr>
          <p:nvPr/>
        </p:nvPicPr>
        <p:blipFill>
          <a:blip r:embed="rId5"/>
          <a:stretch>
            <a:fillRect/>
          </a:stretch>
        </p:blipFill>
        <p:spPr>
          <a:xfrm>
            <a:off x="4356100" y="5156200"/>
            <a:ext cx="635000" cy="635000"/>
          </a:xfrm>
          <a:prstGeom prst="rect">
            <a:avLst/>
          </a:prstGeom>
          <a:effectLst/>
        </p:spPr>
      </p:pic>
      <p:sp>
        <p:nvSpPr>
          <p:cNvPr id="11" name="TextBox 10"/>
          <p:cNvSpPr txBox="1"/>
          <p:nvPr/>
        </p:nvSpPr>
        <p:spPr>
          <a:xfrm>
            <a:off x="4006850"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鲁昂</a:t>
            </a:r>
          </a:p>
          <a:p>
            <a:pPr algn="ctr"/>
            <a:r>
              <a:rPr sz="1000" b="0" spc="160" kern="1200">
                <a:solidFill>
                  <a:srgbClr val="A1A1A6"/>
                </a:solidFill>
                <a:latin typeface="Helvetica Neue"/>
                <a:ea typeface="微软雅黑"/>
              </a:rPr>
              <a:t>Design &amp; web</a:t>
            </a:r>
          </a:p>
        </p:txBody>
      </p:sp>
      <p:pic>
        <p:nvPicPr>
          <p:cNvPr id="12" name="Picture 11" descr="team-m4-av-200x200-jpg.jpg"/>
          <p:cNvPicPr>
            <a:picLocks noChangeAspect="1"/>
          </p:cNvPicPr>
          <p:nvPr/>
        </p:nvPicPr>
        <p:blipFill>
          <a:blip r:embed="rId6"/>
          <a:stretch>
            <a:fillRect/>
          </a:stretch>
        </p:blipFill>
        <p:spPr>
          <a:xfrm>
            <a:off x="6057900" y="5156200"/>
            <a:ext cx="635000" cy="635000"/>
          </a:xfrm>
          <a:prstGeom prst="rect">
            <a:avLst/>
          </a:prstGeom>
          <a:effectLst/>
        </p:spPr>
      </p:pic>
      <p:sp>
        <p:nvSpPr>
          <p:cNvPr id="13" name="TextBox 12"/>
          <p:cNvSpPr txBox="1"/>
          <p:nvPr/>
        </p:nvSpPr>
        <p:spPr>
          <a:xfrm>
            <a:off x="5708650"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朱钟乐</a:t>
            </a:r>
          </a:p>
          <a:p>
            <a:pPr algn="ctr"/>
            <a:r>
              <a:rPr sz="1000" b="0" spc="160" kern="1200">
                <a:solidFill>
                  <a:srgbClr val="A1A1A6"/>
                </a:solidFill>
                <a:latin typeface="Helvetica Neue"/>
                <a:ea typeface="微软雅黑"/>
              </a:rPr>
              <a:t>Photography</a:t>
            </a:r>
          </a:p>
        </p:txBody>
      </p:sp>
      <p:pic>
        <p:nvPicPr>
          <p:cNvPr id="14" name="Picture 13" descr="team-m5-av-200x200-jpg.jpg"/>
          <p:cNvPicPr>
            <a:picLocks noChangeAspect="1"/>
          </p:cNvPicPr>
          <p:nvPr/>
        </p:nvPicPr>
        <p:blipFill>
          <a:blip r:embed="rId7"/>
          <a:stretch>
            <a:fillRect/>
          </a:stretch>
        </p:blipFill>
        <p:spPr>
          <a:xfrm>
            <a:off x="7759700" y="5156200"/>
            <a:ext cx="635000" cy="635000"/>
          </a:xfrm>
          <a:prstGeom prst="rect">
            <a:avLst/>
          </a:prstGeom>
          <a:effectLst/>
        </p:spPr>
      </p:pic>
      <p:sp>
        <p:nvSpPr>
          <p:cNvPr id="15" name="TextBox 14"/>
          <p:cNvSpPr txBox="1"/>
          <p:nvPr/>
        </p:nvSpPr>
        <p:spPr>
          <a:xfrm>
            <a:off x="7410449"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沈毅程</a:t>
            </a:r>
          </a:p>
          <a:p>
            <a:pPr algn="ctr"/>
            <a:r>
              <a:rPr sz="1000" b="0" spc="160" kern="1200">
                <a:solidFill>
                  <a:srgbClr val="A1A1A6"/>
                </a:solidFill>
                <a:latin typeface="Helvetica Neue"/>
                <a:ea typeface="微软雅黑"/>
              </a:rPr>
              <a:t>Copy &amp; research</a:t>
            </a:r>
          </a:p>
        </p:txBody>
      </p:sp>
      <p:pic>
        <p:nvPicPr>
          <p:cNvPr id="16" name="Picture 15" descr="team-m6-av-200x200-jpg.jpg"/>
          <p:cNvPicPr>
            <a:picLocks noChangeAspect="1"/>
          </p:cNvPicPr>
          <p:nvPr/>
        </p:nvPicPr>
        <p:blipFill>
          <a:blip r:embed="rId8"/>
          <a:stretch>
            <a:fillRect/>
          </a:stretch>
        </p:blipFill>
        <p:spPr>
          <a:xfrm>
            <a:off x="9461500" y="5156200"/>
            <a:ext cx="635000" cy="635000"/>
          </a:xfrm>
          <a:prstGeom prst="rect">
            <a:avLst/>
          </a:prstGeom>
          <a:effectLst/>
        </p:spPr>
      </p:pic>
      <p:sp>
        <p:nvSpPr>
          <p:cNvPr id="17" name="TextBox 16"/>
          <p:cNvSpPr txBox="1"/>
          <p:nvPr/>
        </p:nvSpPr>
        <p:spPr>
          <a:xfrm>
            <a:off x="9112250" y="5867400"/>
            <a:ext cx="1333500" cy="381000"/>
          </a:xfrm>
          <a:prstGeom prst="rect">
            <a:avLst/>
          </a:prstGeom>
          <a:noFill/>
          <a:effectLst/>
        </p:spPr>
        <p:txBody>
          <a:bodyPr wrap="square" anchor="t" lIns="0" rIns="0" tIns="0" bIns="0">
            <a:spAutoFit/>
          </a:bodyPr>
          <a:lstStyle/>
          <a:p>
            <a:pPr algn="ctr"/>
            <a:r>
              <a:rPr sz="1400" b="1" kern="1200">
                <a:solidFill>
                  <a:srgbClr val="FFFFFF"/>
                </a:solidFill>
                <a:latin typeface="Helvetica Neue"/>
                <a:ea typeface="微软雅黑"/>
              </a:rPr>
              <a:t>沈煜程</a:t>
            </a:r>
          </a:p>
          <a:p>
            <a:pPr algn="ctr"/>
            <a:r>
              <a:rPr sz="1000" b="0" spc="160" kern="1200">
                <a:solidFill>
                  <a:srgbClr val="A1A1A6"/>
                </a:solidFill>
                <a:latin typeface="Helvetica Neue"/>
                <a:ea typeface="微软雅黑"/>
              </a:rPr>
              <a:t>Production &amp; review</a:t>
            </a:r>
          </a:p>
        </p:txBody>
      </p:sp>
      <p:sp>
        <p:nvSpPr>
          <p:cNvPr id="18" name="TextBox 17"/>
          <p:cNvSpPr txBox="1"/>
          <p:nvPr/>
        </p:nvSpPr>
        <p:spPr>
          <a:xfrm>
            <a:off x="0" y="6362700"/>
            <a:ext cx="12192000" cy="190500"/>
          </a:xfrm>
          <a:prstGeom prst="rect">
            <a:avLst/>
          </a:prstGeom>
          <a:noFill/>
          <a:effectLst/>
        </p:spPr>
        <p:txBody>
          <a:bodyPr wrap="square" anchor="t" lIns="0" rIns="0" tIns="0" bIns="0">
            <a:spAutoFit/>
          </a:bodyPr>
          <a:lstStyle/>
          <a:p>
            <a:pPr algn="ctr"/>
            <a:r>
              <a:rPr sz="1100" b="0" spc="560" kern="1200">
                <a:solidFill>
                  <a:srgbClr val="A1A1A6"/>
                </a:solidFill>
                <a:latin typeface="Helvetica Neue"/>
                <a:ea typeface="微软雅黑"/>
              </a:rPr>
              <a:t>ONE PROJECT</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10" presetClass="entr" presetSubtype="0" fill="hold" nodeType="afterEffect">
                      <p:stCondLst>
                        <p:cond delay="200"/>
                      </p:stCondLst>
                      <p:childTnLst>
                        <p:animEffect transition="in" filter="fade">
                          <p:cBhvr>
                            <p:tgtEl>
                              <p:spLst>
                                <p:spTgt spid="2"/>
                              </p:spLst>
                            </p:tgtEl>
                          </p:cBhvr>
                        </p:animEffect>
                      </p:childTnLst>
                    </p:cTn>
                  </p:par>
                  <p:par>
                    <p:cTn id="4" presetID="10" presetClass="entr" presetSubtype="0" fill="hold" nodeType="afterEffect">
                      <p:stCondLst>
                        <p:cond delay="500"/>
                      </p:stCondLst>
                      <p:childTnLst>
                        <p:animEffect transition="in" filter="fade">
                          <p:cBhvr>
                            <p:tgtEl>
                              <p:spLst>
                                <p:spTgt spid="3"/>
                              </p:spLst>
                            </p:tgtEl>
                          </p:cBhvr>
                        </p:animEffect>
                      </p:childTnLst>
                    </p:cTn>
                  </p:par>
                  <p:par>
                    <p:cTn id="5" presetID="23" presetClass="entr" presetSubtype="0" fill="hold" nodeType="afterEffect">
                      <p:stCondLst>
                        <p:cond delay="800"/>
                      </p:stCondLst>
                      <p:childTnLst>
                        <p:animEffect transition="in" filter="zoom">
                          <p:cBhvr>
                            <p:tgtEl>
                              <p:spLst>
                                <p:spTgt spid="4"/>
                              </p:spLst>
                            </p:tgtEl>
                          </p:cBhvr>
                        </p:animEffect>
                      </p:childTnLst>
                    </p:cTn>
                  </p:par>
                  <p:par>
                    <p:cTn id="6" presetID="22" presetClass="entr" presetSubtype="4" fill="hold" nodeType="afterEffect">
                      <p:stCondLst>
                        <p:cond delay="1200"/>
                      </p:stCondLst>
                      <p:childTnLst>
                        <p:animEffect transition="in" filter="wipe(down)">
                          <p:cBhvr>
                            <p:tgtEl>
                              <p:spLst>
                                <p:spTgt spid="5"/>
                              </p:spLst>
                            </p:tgtEl>
                          </p:cBhvr>
                        </p:animEffect>
                      </p:childTnLst>
                    </p:cTn>
                  </p:par>
                  <p:par>
                    <p:cTn id="7" presetID="23" presetClass="entr" presetSubtype="0" fill="hold" nodeType="afterEffect">
                      <p:stCondLst>
                        <p:cond delay="1500"/>
                      </p:stCondLst>
                      <p:childTnLst>
                        <p:animEffect transition="in" filter="zoom">
                          <p:cBhvr>
                            <p:tgtEl>
                              <p:spLst>
                                <p:spTgt spid="6"/>
                              </p:spLst>
                            </p:tgtEl>
                          </p:cBhvr>
                        </p:animEffect>
                      </p:childTnLst>
                    </p:cTn>
                  </p:par>
                  <p:par>
                    <p:cTn id="8" presetID="10" presetClass="entr" presetSubtype="0" fill="hold" nodeType="afterEffect">
                      <p:stCondLst>
                        <p:cond delay="1620"/>
                      </p:stCondLst>
                      <p:childTnLst>
                        <p:animEffect transition="in" filter="fade">
                          <p:cBhvr>
                            <p:tgtEl>
                              <p:spLst>
                                <p:spTgt spid="7"/>
                              </p:spLst>
                            </p:tgtEl>
                          </p:cBhvr>
                        </p:animEffect>
                      </p:childTnLst>
                    </p:cTn>
                  </p:par>
                  <p:par>
                    <p:cTn id="9" presetID="23" presetClass="entr" presetSubtype="0" fill="hold" nodeType="afterEffect">
                      <p:stCondLst>
                        <p:cond delay="1780"/>
                      </p:stCondLst>
                      <p:childTnLst>
                        <p:animEffect transition="in" filter="zoom">
                          <p:cBhvr>
                            <p:tgtEl>
                              <p:spLst>
                                <p:spTgt spid="8"/>
                              </p:spLst>
                            </p:tgtEl>
                          </p:cBhvr>
                        </p:animEffect>
                      </p:childTnLst>
                    </p:cTn>
                  </p:par>
                  <p:par>
                    <p:cTn id="10" presetID="10" presetClass="entr" presetSubtype="0" fill="hold" nodeType="afterEffect">
                      <p:stCondLst>
                        <p:cond delay="1900"/>
                      </p:stCondLst>
                      <p:childTnLst>
                        <p:animEffect transition="in" filter="fade">
                          <p:cBhvr>
                            <p:tgtEl>
                              <p:spLst>
                                <p:spTgt spid="9"/>
                              </p:spLst>
                            </p:tgtEl>
                          </p:cBhvr>
                        </p:animEffect>
                      </p:childTnLst>
                    </p:cTn>
                  </p:par>
                  <p:par>
                    <p:cTn id="11" presetID="23" presetClass="entr" presetSubtype="0" fill="hold" nodeType="afterEffect">
                      <p:stCondLst>
                        <p:cond delay="2060"/>
                      </p:stCondLst>
                      <p:childTnLst>
                        <p:animEffect transition="in" filter="zoom">
                          <p:cBhvr>
                            <p:tgtEl>
                              <p:spLst>
                                <p:spTgt spid="10"/>
                              </p:spLst>
                            </p:tgtEl>
                          </p:cBhvr>
                        </p:animEffect>
                      </p:childTnLst>
                    </p:cTn>
                  </p:par>
                  <p:par>
                    <p:cTn id="12" presetID="10" presetClass="entr" presetSubtype="0" fill="hold" nodeType="afterEffect">
                      <p:stCondLst>
                        <p:cond delay="2180"/>
                      </p:stCondLst>
                      <p:childTnLst>
                        <p:animEffect transition="in" filter="fade">
                          <p:cBhvr>
                            <p:tgtEl>
                              <p:spLst>
                                <p:spTgt spid="11"/>
                              </p:spLst>
                            </p:tgtEl>
                          </p:cBhvr>
                        </p:animEffect>
                      </p:childTnLst>
                    </p:cTn>
                  </p:par>
                  <p:par>
                    <p:cTn id="13" presetID="23" presetClass="entr" presetSubtype="0" fill="hold" nodeType="afterEffect">
                      <p:stCondLst>
                        <p:cond delay="2340"/>
                      </p:stCondLst>
                      <p:childTnLst>
                        <p:animEffect transition="in" filter="zoom">
                          <p:cBhvr>
                            <p:tgtEl>
                              <p:spLst>
                                <p:spTgt spid="12"/>
                              </p:spLst>
                            </p:tgtEl>
                          </p:cBhvr>
                        </p:animEffect>
                      </p:childTnLst>
                    </p:cTn>
                  </p:par>
                  <p:par>
                    <p:cTn id="14" presetID="10" presetClass="entr" presetSubtype="0" fill="hold" nodeType="afterEffect">
                      <p:stCondLst>
                        <p:cond delay="2460"/>
                      </p:stCondLst>
                      <p:childTnLst>
                        <p:animEffect transition="in" filter="fade">
                          <p:cBhvr>
                            <p:tgtEl>
                              <p:spLst>
                                <p:spTgt spid="13"/>
                              </p:spLst>
                            </p:tgtEl>
                          </p:cBhvr>
                        </p:animEffect>
                      </p:childTnLst>
                    </p:cTn>
                  </p:par>
                  <p:par>
                    <p:cTn id="15" presetID="23" presetClass="entr" presetSubtype="0" fill="hold" nodeType="afterEffect">
                      <p:stCondLst>
                        <p:cond delay="2620"/>
                      </p:stCondLst>
                      <p:childTnLst>
                        <p:animEffect transition="in" filter="zoom">
                          <p:cBhvr>
                            <p:tgtEl>
                              <p:spLst>
                                <p:spTgt spid="14"/>
                              </p:spLst>
                            </p:tgtEl>
                          </p:cBhvr>
                        </p:animEffect>
                      </p:childTnLst>
                    </p:cTn>
                  </p:par>
                  <p:par>
                    <p:cTn id="16" presetID="10" presetClass="entr" presetSubtype="0" fill="hold" nodeType="afterEffect">
                      <p:stCondLst>
                        <p:cond delay="2740"/>
                      </p:stCondLst>
                      <p:childTnLst>
                        <p:animEffect transition="in" filter="fade">
                          <p:cBhvr>
                            <p:tgtEl>
                              <p:spLst>
                                <p:spTgt spid="15"/>
                              </p:spLst>
                            </p:tgtEl>
                          </p:cBhvr>
                        </p:animEffect>
                      </p:childTnLst>
                    </p:cTn>
                  </p:par>
                  <p:par>
                    <p:cTn id="17" presetID="23" presetClass="entr" presetSubtype="0" fill="hold" nodeType="afterEffect">
                      <p:stCondLst>
                        <p:cond delay="2900"/>
                      </p:stCondLst>
                      <p:childTnLst>
                        <p:animEffect transition="in" filter="zoom">
                          <p:cBhvr>
                            <p:tgtEl>
                              <p:spLst>
                                <p:spTgt spid="16"/>
                              </p:spLst>
                            </p:tgtEl>
                          </p:cBhvr>
                        </p:animEffect>
                      </p:childTnLst>
                    </p:cTn>
                  </p:par>
                  <p:par>
                    <p:cTn id="18" presetID="10" presetClass="entr" presetSubtype="0" fill="hold" nodeType="afterEffect">
                      <p:stCondLst>
                        <p:cond delay="3020"/>
                      </p:stCondLst>
                      <p:childTnLst>
                        <p:animEffect transition="in" filter="fade">
                          <p:cBhvr>
                            <p:tgtEl>
                              <p:spLst>
                                <p:spTgt spid="17"/>
                              </p:spLst>
                            </p:tgtEl>
                          </p:cBhvr>
                        </p:animEffect>
                      </p:childTnLst>
                    </p:cTn>
                  </p:par>
                  <p:par>
                    <p:cTn id="19" presetID="10" presetClass="entr" presetSubtype="0" fill="hold" nodeType="afterEffect">
                      <p:stCondLst>
                        <p:cond delay="3500"/>
                      </p:stCondLst>
                      <p:childTnLst>
                        <p:animEffect transition="in" filter="fade">
                          <p:cBhvr>
                            <p:tgtEl>
                              <p:spLst>
                                <p:spTgt spid="18"/>
                              </p:spLst>
                            </p:tgtEl>
                          </p:cBhvr>
                        </p:animEffect>
                      </p:childTnLst>
                    </p:cTn>
                  </p:par>
                </p:childTnLst>
              </p:cTn>
            </p:par>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D1D1F"/>
        </a:solidFill>
        <a:effectLst/>
      </p:bgPr>
    </p:bg>
    <p:spTree>
      <p:nvGrpSpPr>
        <p:cNvPr id="1" name=""/>
        <p:cNvGrpSpPr/>
        <p:nvPr/>
      </p:nvGrpSpPr>
      <p:grpSpPr/>
      <p:sp>
        <p:nvSpPr>
          <p:cNvPr id="2" name="TextBox 1"/>
          <p:cNvSpPr txBox="1"/>
          <p:nvPr/>
        </p:nvSpPr>
        <p:spPr>
          <a:xfrm>
            <a:off x="762000" y="1714500"/>
            <a:ext cx="10668000" cy="1079500"/>
          </a:xfrm>
          <a:prstGeom prst="rect">
            <a:avLst/>
          </a:prstGeom>
          <a:noFill/>
          <a:effectLst/>
        </p:spPr>
        <p:txBody>
          <a:bodyPr wrap="square" anchor="t" lIns="0" rIns="0" tIns="0" bIns="0">
            <a:spAutoFit/>
          </a:bodyPr>
          <a:lstStyle/>
          <a:p>
            <a:pPr algn="ctr"/>
            <a:r>
              <a:rPr sz="9600" b="1" spc="-1200" kern="1200">
                <a:solidFill>
                  <a:srgbClr val="FFFFFF"/>
                </a:solidFill>
                <a:latin typeface="Helvetica Neue"/>
                <a:ea typeface="微软雅黑"/>
              </a:rPr>
              <a:t>WUZHEN</a:t>
            </a:r>
          </a:p>
        </p:txBody>
      </p:sp>
      <p:sp>
        <p:nvSpPr>
          <p:cNvPr id="3" name="TextBox 2"/>
          <p:cNvSpPr txBox="1"/>
          <p:nvPr/>
        </p:nvSpPr>
        <p:spPr>
          <a:xfrm>
            <a:off x="762000" y="2921000"/>
            <a:ext cx="10668000" cy="317500"/>
          </a:xfrm>
          <a:prstGeom prst="rect">
            <a:avLst/>
          </a:prstGeom>
          <a:noFill/>
          <a:effectLst/>
        </p:spPr>
        <p:txBody>
          <a:bodyPr wrap="square" anchor="t" lIns="0" rIns="0" tIns="0" bIns="0">
            <a:spAutoFit/>
          </a:bodyPr>
          <a:lstStyle/>
          <a:p>
            <a:pPr algn="ctr"/>
            <a:r>
              <a:rPr sz="2300" b="0" spc="200" kern="1200">
                <a:solidFill>
                  <a:srgbClr val="FFFFFF"/>
                </a:solidFill>
                <a:latin typeface="Helvetica Neue"/>
                <a:ea typeface="微软雅黑"/>
              </a:rPr>
              <a:t>Water connects everything.</a:t>
            </a:r>
          </a:p>
        </p:txBody>
      </p:sp>
      <p:sp>
        <p:nvSpPr>
          <p:cNvPr id="4" name="TextBox 3"/>
          <p:cNvSpPr txBox="1"/>
          <p:nvPr/>
        </p:nvSpPr>
        <p:spPr>
          <a:xfrm>
            <a:off x="762000" y="3492500"/>
            <a:ext cx="10668000" cy="571500"/>
          </a:xfrm>
          <a:prstGeom prst="rect">
            <a:avLst/>
          </a:prstGeom>
          <a:noFill/>
          <a:effectLst/>
        </p:spPr>
        <p:txBody>
          <a:bodyPr wrap="square" anchor="t" lIns="0" rIns="0" tIns="0" bIns="0">
            <a:spAutoFit/>
          </a:bodyPr>
          <a:lstStyle/>
          <a:p>
            <a:pPr algn="ctr"/>
            <a:r>
              <a:rPr sz="1400" b="0" kern="1200">
                <a:solidFill>
                  <a:srgbClr val="A1A1A6"/>
                </a:solidFill>
                <a:latin typeface="Helvetica Neue"/>
                <a:ea typeface="微软雅黑"/>
              </a:rPr>
              <a:t>Water connects the town, supports traditional life,</a:t>
            </a:r>
          </a:p>
          <a:p>
            <a:pPr algn="ctr"/>
            <a:r>
              <a:rPr sz="1400" b="0" kern="1200">
                <a:solidFill>
                  <a:srgbClr val="A1A1A6"/>
                </a:solidFill>
                <a:latin typeface="Helvetica Neue"/>
                <a:ea typeface="微软雅黑"/>
              </a:rPr>
              <a:t>and gives Wuzhen its unique character.</a:t>
            </a:r>
          </a:p>
        </p:txBody>
      </p:sp>
      <p:sp>
        <p:nvSpPr>
          <p:cNvPr id="5" name="TextBox 4"/>
          <p:cNvSpPr txBox="1"/>
          <p:nvPr/>
        </p:nvSpPr>
        <p:spPr>
          <a:xfrm>
            <a:off x="762000" y="5461000"/>
            <a:ext cx="10668000" cy="215900"/>
          </a:xfrm>
          <a:prstGeom prst="rect">
            <a:avLst/>
          </a:prstGeom>
          <a:noFill/>
          <a:effectLst/>
        </p:spPr>
        <p:txBody>
          <a:bodyPr wrap="square" anchor="t" lIns="0" rIns="0" tIns="0" bIns="0">
            <a:spAutoFit/>
          </a:bodyPr>
          <a:lstStyle/>
          <a:p>
            <a:pPr algn="ctr"/>
            <a:r>
              <a:rPr sz="1100" b="0" spc="400" kern="1200">
                <a:solidFill>
                  <a:srgbClr val="6E6E73"/>
                </a:solidFill>
                <a:latin typeface="Helvetica Neue"/>
                <a:ea typeface="微软雅黑"/>
              </a:rPr>
              <a:t>WATERWAYS &amp; BRIDGES  ·  GROUP 90706  ·  PBL 2026</a:t>
            </a:r>
          </a:p>
        </p:txBody>
      </p:sp>
      <p:sp>
        <p:nvSpPr>
          <p:cNvPr id="6" name="TextBox 5"/>
          <p:cNvSpPr txBox="1"/>
          <p:nvPr/>
        </p:nvSpPr>
        <p:spPr>
          <a:xfrm>
            <a:off x="762000" y="6191250"/>
            <a:ext cx="10668000" cy="406400"/>
          </a:xfrm>
          <a:prstGeom prst="rect">
            <a:avLst/>
          </a:prstGeom>
          <a:noFill/>
          <a:effectLst/>
        </p:spPr>
        <p:txBody>
          <a:bodyPr wrap="square" anchor="t" lIns="0" rIns="0" tIns="0" bIns="0">
            <a:spAutoFit/>
          </a:bodyPr>
          <a:lstStyle/>
          <a:p>
            <a:pPr algn="ctr"/>
            <a:r>
              <a:rPr sz="850" b="0" kern="1200">
                <a:solidFill>
                  <a:srgbClr val="6E6E73"/>
                </a:solidFill>
                <a:latin typeface="Helvetica Neue"/>
                <a:ea typeface="微软雅黑"/>
              </a:rPr>
              <a:t>Image sources: Wikimedia Commons — 韩笃一 · Immanuel Giel · Jakub Hałun · Gerbil · Nico le terrible · Sastognuti · N509FZ · ChinaUli2010  (CC BY-SA 3.0/4.0 · CC BY 3.0 · CC0)</a:t>
            </a:r>
          </a:p>
          <a:p>
            <a:pPr algn="ctr"/>
            <a:r>
              <a:rPr sz="850" b="0" kern="1200">
                <a:solidFill>
                  <a:srgbClr val="6E6E73"/>
                </a:solidFill>
                <a:latin typeface="Helvetica Neue"/>
                <a:ea typeface="微软雅黑"/>
              </a:rPr>
              <a:t>Full credits live on the project website, in Sources.</a:t>
            </a:r>
          </a:p>
        </p:txBody>
      </p:sp>
    </p:spTree>
  </p:cSld>
  <p:clrMapOvr>
    <a:masterClrMapping/>
  </p:clrMapOvr>
  <p:transition xmlns:p14="http://schemas.microsoft.com/office/powerpoint/2010/main" spd="slow">
    <p:fade thruBlk="1"/>
  </p:transition>
  <p:timing>
    <p:tnLst>
      <p:par>
        <p:cTn id="1" dur="indefinite" restart="never" nodeType="mainSeq">
          <p:childTnLst>
            <p:par>
              <p:cTn id="2" fill="hold">
                <p:stCondLst>
                  <p:cond delay="0"/>
                </p:stCondLst>
                <p:childTnLst>
                  <p:par>
                    <p:cTn id="3" presetID="10" presetClass="entr" presetSubtype="0" fill="hold" nodeType="afterEffect">
                      <p:stCondLst>
                        <p:cond delay="0"/>
                      </p:stCondLst>
                      <p:childTnLst>
                        <p:animEffect transition="in" filter="fade">
                          <p:cBhvr>
                            <p:tgtEl>
                              <p:spLst>
                                <p:spTgt spid="2"/>
                              </p:spLst>
                            </p:tgtEl>
                          </p:cBhvr>
                        </p:animEffect>
                      </p:childTnLst>
                    </p:cTn>
                  </p:par>
                  <p:par>
                    <p:cTn id="4" presetID="10" presetClass="entr" presetSubtype="0" fill="hold" nodeType="afterEffect">
                      <p:stCondLst>
                        <p:cond delay="600"/>
                      </p:stCondLst>
                      <p:childTnLst>
                        <p:animEffect transition="in" filter="fade">
                          <p:cBhvr>
                            <p:tgtEl>
                              <p:spLst>
                                <p:spTgt spid="3"/>
                              </p:spLst>
                            </p:tgtEl>
                          </p:cBhvr>
                        </p:animEffect>
                      </p:childTnLst>
                    </p:cTn>
                  </p:par>
                  <p:par>
                    <p:cTn id="5" presetID="10" presetClass="entr" presetSubtype="0" fill="hold" nodeType="afterEffect">
                      <p:stCondLst>
                        <p:cond delay="1300"/>
                      </p:stCondLst>
                      <p:childTnLst>
                        <p:animEffect transition="in" filter="fade">
                          <p:cBhvr>
                            <p:tgtEl>
                              <p:spLst>
                                <p:spTgt spid="4"/>
                              </p:spLst>
                            </p:tgtEl>
                          </p:cBhvr>
                        </p:animEffect>
                      </p:childTnLst>
                    </p:cTn>
                  </p:par>
                  <p:par>
                    <p:cTn id="6" presetID="10" presetClass="entr" presetSubtype="0" fill="hold" nodeType="afterEffect">
                      <p:stCondLst>
                        <p:cond delay="1900"/>
                      </p:stCondLst>
                      <p:childTnLst>
                        <p:animEffect transition="in" filter="fade">
                          <p:cBhvr>
                            <p:tgtEl>
                              <p:spLst>
                                <p:spTgt spid="5"/>
                              </p:spLst>
                            </p:tgtEl>
                          </p:cBhvr>
                        </p:animEffect>
                      </p:childTnLst>
                    </p:cTn>
                  </p:par>
                  <p:par>
                    <p:cTn id="7" presetID="10" presetClass="entr" presetSubtype="0" fill="hold" nodeType="afterEffect">
                      <p:stCondLst>
                        <p:cond delay="2400"/>
                      </p:stCondLst>
                      <p:childTnLst>
                        <p:animEffect transition="in" filter="fade">
                          <p:cBhvr>
                            <p:tgtEl>
                              <p:spLst>
                                <p:spTgt spid="6"/>
                              </p:spLst>
                            </p:tgtEl>
                          </p:cBhvr>
                        </p:animEffect>
                      </p:childTnLst>
                    </p:cTn>
                  </p:par>
                  <p:par>
                    <p:cTn id="8" presetID="10" presetClass="exit" presetSubtype="0" fill="hold" nodeType="afterEffect">
                      <p:stCondLst>
                        <p:cond delay="3300"/>
                      </p:stCondLst>
                      <p:childTnLst>
                        <p:animEffect transition="in" filter="fade">
                          <p:cBhvr>
                            <p:tgtEl>
                              <p:spLst>
                                <p:spTgt spid="6"/>
                              </p:spLst>
                            </p:tgtEl>
                          </p:cBhvr>
                        </p:animEffect>
                      </p:childTnLst>
                    </p:cTn>
                  </p:par>
                </p:childTnLst>
              </p:cTn>
            </p:par>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